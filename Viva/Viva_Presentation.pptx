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57" r:id="rId3"/>
    <p:sldId id="258" r:id="rId4"/>
    <p:sldId id="259" r:id="rId5"/>
    <p:sldId id="260" r:id="rId6"/>
    <p:sldId id="261" r:id="rId7"/>
    <p:sldId id="286" r:id="rId8"/>
    <p:sldId id="262" r:id="rId9"/>
    <p:sldId id="263" r:id="rId10"/>
    <p:sldId id="289" r:id="rId11"/>
    <p:sldId id="264" r:id="rId12"/>
    <p:sldId id="288" r:id="rId13"/>
    <p:sldId id="293" r:id="rId14"/>
    <p:sldId id="265" r:id="rId15"/>
    <p:sldId id="266" r:id="rId16"/>
    <p:sldId id="267" r:id="rId17"/>
    <p:sldId id="268" r:id="rId18"/>
    <p:sldId id="269" r:id="rId19"/>
    <p:sldId id="291" r:id="rId20"/>
    <p:sldId id="270" r:id="rId21"/>
    <p:sldId id="271" r:id="rId22"/>
    <p:sldId id="287" r:id="rId23"/>
    <p:sldId id="280" r:id="rId24"/>
    <p:sldId id="272" r:id="rId25"/>
    <p:sldId id="273" r:id="rId26"/>
    <p:sldId id="274" r:id="rId27"/>
    <p:sldId id="275" r:id="rId28"/>
    <p:sldId id="282" r:id="rId29"/>
    <p:sldId id="276" r:id="rId30"/>
    <p:sldId id="277" r:id="rId31"/>
    <p:sldId id="283" r:id="rId32"/>
    <p:sldId id="284" r:id="rId33"/>
    <p:sldId id="278" r:id="rId34"/>
    <p:sldId id="279" r:id="rId35"/>
    <p:sldId id="285" r:id="rId3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F2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218" autoAdjust="0"/>
    <p:restoredTop sz="94610"/>
  </p:normalViewPr>
  <p:slideViewPr>
    <p:cSldViewPr snapToGrid="0" snapToObjects="1">
      <p:cViewPr varScale="1">
        <p:scale>
          <a:sx n="144" d="100"/>
          <a:sy n="144" d="100"/>
        </p:scale>
        <p:origin x="714"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59841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16F4C-2BC1-52F0-0C8A-2B8D6BEBEA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692C6A-0DF2-B611-4177-6881F293AC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3600AD-7363-E1F5-7BC8-5669A9B295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4400AA-433A-BF12-24BD-C948E6C28107}"/>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9727532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7D02F-8D64-8BAD-A6CE-CC23171C12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670EE9-0FBC-C707-D00B-3DEA73B12A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F66C7C-5FEE-8AAE-0571-0A07A1E506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56AAC12-91E6-57DC-2EDA-096B4B390592}"/>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9977545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7F944-4E28-0CBE-0B90-41F46DF4D0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B80219-994F-8F53-129A-BB56CA8B78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E48B51-28C1-08F1-BC74-0C27C6B322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FA9674-55D2-BD5E-AC1C-A9C54E690DE3}"/>
              </a:ext>
            </a:extLst>
          </p:cNvPr>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21506790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28D0D-9828-510D-EE56-93045A4E41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E83525-BDF3-20D3-E180-FFB80FF31C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83507A-0A8B-A7BB-756A-7037557507B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8C23F0-7C6E-69C5-EF5F-E53341D46A20}"/>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27980481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1C2D4-E668-58E7-FCC4-32EC100543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85384E-9569-4455-41DA-D6C7231E9E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3EA3BD-4C21-BD94-1867-1248C3DEE9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9031939-20C6-EE12-27FF-ECDAA8D4FCE0}"/>
              </a:ext>
            </a:extLst>
          </p:cNvPr>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37407627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1.xml"/><Relationship Id="rId5" Type="http://schemas.openxmlformats.org/officeDocument/2006/relationships/image" Target="../media/image8.jpg"/><Relationship Id="rId4" Type="http://schemas.openxmlformats.org/officeDocument/2006/relationships/image" Target="../media/image7.jpg"/></Relationships>
</file>

<file path=ppt/slides/_rels/slide1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eg"/><Relationship Id="rId1" Type="http://schemas.openxmlformats.org/officeDocument/2006/relationships/slideLayout" Target="../slideLayouts/slideLayout1.xml"/><Relationship Id="rId4" Type="http://schemas.openxmlformats.org/officeDocument/2006/relationships/image" Target="../media/image8.jp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5C"/>
        </a:solidFill>
        <a:effectLst/>
      </p:bgPr>
    </p:bg>
    <p:spTree>
      <p:nvGrpSpPr>
        <p:cNvPr id="1" name=""/>
        <p:cNvGrpSpPr/>
        <p:nvPr/>
      </p:nvGrpSpPr>
      <p:grpSpPr>
        <a:xfrm>
          <a:off x="0" y="0"/>
          <a:ext cx="0" cy="0"/>
          <a:chOff x="0" y="0"/>
          <a:chExt cx="0" cy="0"/>
        </a:xfrm>
      </p:grpSpPr>
      <p:sp>
        <p:nvSpPr>
          <p:cNvPr id="2" name="Shape 0"/>
          <p:cNvSpPr/>
          <p:nvPr/>
        </p:nvSpPr>
        <p:spPr>
          <a:xfrm>
            <a:off x="5669280" y="0"/>
            <a:ext cx="3474720" cy="5143500"/>
          </a:xfrm>
          <a:prstGeom prst="rect">
            <a:avLst/>
          </a:prstGeom>
          <a:solidFill>
            <a:srgbClr val="F7F4EE"/>
          </a:solidFill>
          <a:ln w="12700">
            <a:solidFill>
              <a:srgbClr val="F7F4EE"/>
            </a:solidFill>
            <a:prstDash val="solid"/>
          </a:ln>
        </p:spPr>
        <p:txBody>
          <a:bodyPr/>
          <a:lstStyle/>
          <a:p>
            <a:endParaRPr lang="en-MT"/>
          </a:p>
        </p:txBody>
      </p:sp>
      <p:sp>
        <p:nvSpPr>
          <p:cNvPr id="3" name="Shape 1"/>
          <p:cNvSpPr/>
          <p:nvPr/>
        </p:nvSpPr>
        <p:spPr>
          <a:xfrm>
            <a:off x="5669280" y="0"/>
            <a:ext cx="54864" cy="5143500"/>
          </a:xfrm>
          <a:prstGeom prst="rect">
            <a:avLst/>
          </a:prstGeom>
          <a:solidFill>
            <a:srgbClr val="C9A84C"/>
          </a:solidFill>
          <a:ln w="12700">
            <a:solidFill>
              <a:srgbClr val="C9A84C"/>
            </a:solidFill>
            <a:prstDash val="solid"/>
          </a:ln>
        </p:spPr>
        <p:txBody>
          <a:bodyPr/>
          <a:lstStyle/>
          <a:p>
            <a:endParaRPr lang="en-MT"/>
          </a:p>
        </p:txBody>
      </p:sp>
      <p:sp>
        <p:nvSpPr>
          <p:cNvPr id="4" name="Text 2"/>
          <p:cNvSpPr/>
          <p:nvPr/>
        </p:nvSpPr>
        <p:spPr>
          <a:xfrm>
            <a:off x="502920" y="1005840"/>
            <a:ext cx="4937760" cy="1463040"/>
          </a:xfrm>
          <a:prstGeom prst="rect">
            <a:avLst/>
          </a:prstGeom>
          <a:noFill/>
          <a:ln/>
        </p:spPr>
        <p:txBody>
          <a:bodyPr wrap="square" rtlCol="0" anchor="ctr"/>
          <a:lstStyle/>
          <a:p>
            <a:pPr marL="0" indent="0">
              <a:buNone/>
            </a:pPr>
            <a:r>
              <a:rPr lang="en-US" sz="3000" dirty="0">
                <a:solidFill>
                  <a:srgbClr val="FFFFFF"/>
                </a:solidFill>
                <a:latin typeface="Georgia" pitchFamily="34" charset="0"/>
                <a:ea typeface="Georgia" pitchFamily="34" charset="-122"/>
                <a:cs typeface="Georgia" pitchFamily="34" charset="-120"/>
              </a:rPr>
              <a:t>Evaluating the Quality of</a:t>
            </a:r>
            <a:endParaRPr lang="en-US" sz="3000" dirty="0"/>
          </a:p>
          <a:p>
            <a:pPr marL="0" indent="0">
              <a:buNone/>
            </a:pPr>
            <a:r>
              <a:rPr lang="en-US" sz="3000" b="1" dirty="0">
                <a:solidFill>
                  <a:srgbClr val="C9A84C"/>
                </a:solidFill>
                <a:latin typeface="Georgia" pitchFamily="34" charset="0"/>
                <a:ea typeface="Georgia" pitchFamily="34" charset="-122"/>
                <a:cs typeface="Georgia" pitchFamily="34" charset="-120"/>
              </a:rPr>
              <a:t>Re-LAION-2B</a:t>
            </a:r>
            <a:endParaRPr lang="en-US" sz="3000" dirty="0"/>
          </a:p>
        </p:txBody>
      </p:sp>
      <p:sp>
        <p:nvSpPr>
          <p:cNvPr id="5" name="Text 3"/>
          <p:cNvSpPr/>
          <p:nvPr/>
        </p:nvSpPr>
        <p:spPr>
          <a:xfrm>
            <a:off x="502920" y="2514600"/>
            <a:ext cx="4937760" cy="457200"/>
          </a:xfrm>
          <a:prstGeom prst="rect">
            <a:avLst/>
          </a:prstGeom>
          <a:noFill/>
          <a:ln/>
        </p:spPr>
        <p:txBody>
          <a:bodyPr wrap="square" rtlCol="0" anchor="ctr"/>
          <a:lstStyle/>
          <a:p>
            <a:pPr marL="0" indent="0">
              <a:buNone/>
            </a:pPr>
            <a:r>
              <a:rPr lang="en-US" sz="1300" i="1" dirty="0">
                <a:solidFill>
                  <a:srgbClr val="B8D4E0"/>
                </a:solidFill>
                <a:latin typeface="Calibri" pitchFamily="34" charset="0"/>
                <a:ea typeface="Calibri" pitchFamily="34" charset="-122"/>
                <a:cs typeface="Calibri" pitchFamily="34" charset="-120"/>
              </a:rPr>
              <a:t>Insights into Large-Scale Image Dataset Assessment</a:t>
            </a:r>
            <a:endParaRPr lang="en-US" sz="1300" dirty="0"/>
          </a:p>
        </p:txBody>
      </p:sp>
      <p:sp>
        <p:nvSpPr>
          <p:cNvPr id="6" name="Shape 4"/>
          <p:cNvSpPr/>
          <p:nvPr/>
        </p:nvSpPr>
        <p:spPr>
          <a:xfrm>
            <a:off x="502920" y="3063240"/>
            <a:ext cx="2560320" cy="32004"/>
          </a:xfrm>
          <a:prstGeom prst="rect">
            <a:avLst/>
          </a:prstGeom>
          <a:solidFill>
            <a:srgbClr val="C9A84C"/>
          </a:solidFill>
          <a:ln w="12700">
            <a:solidFill>
              <a:srgbClr val="C9A84C"/>
            </a:solidFill>
            <a:prstDash val="solid"/>
          </a:ln>
        </p:spPr>
        <p:txBody>
          <a:bodyPr/>
          <a:lstStyle/>
          <a:p>
            <a:endParaRPr lang="en-MT"/>
          </a:p>
        </p:txBody>
      </p:sp>
      <p:sp>
        <p:nvSpPr>
          <p:cNvPr id="7" name="Text 5"/>
          <p:cNvSpPr/>
          <p:nvPr/>
        </p:nvSpPr>
        <p:spPr>
          <a:xfrm>
            <a:off x="502920" y="3200400"/>
            <a:ext cx="4937760" cy="1463040"/>
          </a:xfrm>
          <a:prstGeom prst="rect">
            <a:avLst/>
          </a:prstGeom>
          <a:noFill/>
          <a:ln/>
        </p:spPr>
        <p:txBody>
          <a:bodyPr wrap="square" rtlCol="0" anchor="ctr"/>
          <a:lstStyle/>
          <a:p>
            <a:pPr marL="0" indent="0">
              <a:buNone/>
            </a:pPr>
            <a:r>
              <a:rPr lang="en-US" sz="1100" b="1" dirty="0">
                <a:solidFill>
                  <a:srgbClr val="C8DCE8"/>
                </a:solidFill>
                <a:latin typeface="Calibri" pitchFamily="34" charset="0"/>
                <a:ea typeface="Calibri" pitchFamily="34" charset="-122"/>
                <a:cs typeface="Calibri" pitchFamily="34" charset="-120"/>
              </a:rPr>
              <a:t>Jerome Agius</a:t>
            </a:r>
            <a:endParaRPr lang="en-US" sz="1100" dirty="0"/>
          </a:p>
          <a:p>
            <a:pPr marL="0" indent="0">
              <a:buNone/>
            </a:pPr>
            <a:r>
              <a:rPr lang="en-US" sz="1100" dirty="0">
                <a:solidFill>
                  <a:srgbClr val="C8DCE8"/>
                </a:solidFill>
                <a:latin typeface="Calibri" pitchFamily="34" charset="0"/>
                <a:ea typeface="Calibri" pitchFamily="34" charset="-122"/>
                <a:cs typeface="Calibri" pitchFamily="34" charset="-120"/>
              </a:rPr>
              <a:t>Supervisor: Dr Dylan Seychell</a:t>
            </a:r>
            <a:endParaRPr lang="en-US" sz="1100" dirty="0"/>
          </a:p>
          <a:p>
            <a:pPr marL="0" indent="0">
              <a:buNone/>
            </a:pPr>
            <a:r>
              <a:rPr lang="en-US" sz="1100" dirty="0">
                <a:solidFill>
                  <a:srgbClr val="C8DCE8"/>
                </a:solidFill>
                <a:latin typeface="Calibri" pitchFamily="34" charset="0"/>
                <a:ea typeface="Calibri" pitchFamily="34" charset="-122"/>
                <a:cs typeface="Calibri" pitchFamily="34" charset="-120"/>
              </a:rPr>
              <a:t>MSc Artificial Intelligence (Mainly by Research)</a:t>
            </a:r>
            <a:endParaRPr lang="en-US" sz="1100" dirty="0"/>
          </a:p>
          <a:p>
            <a:pPr marL="0" indent="0">
              <a:buNone/>
            </a:pPr>
            <a:r>
              <a:rPr lang="en-US" sz="1100" dirty="0">
                <a:solidFill>
                  <a:srgbClr val="C8DCE8"/>
                </a:solidFill>
                <a:latin typeface="Calibri" pitchFamily="34" charset="0"/>
                <a:ea typeface="Calibri" pitchFamily="34" charset="-122"/>
                <a:cs typeface="Calibri" pitchFamily="34" charset="-120"/>
              </a:rPr>
              <a:t>University of Malta  ·  May 2026</a:t>
            </a:r>
            <a:endParaRPr lang="en-US" sz="1100" dirty="0"/>
          </a:p>
        </p:txBody>
      </p:sp>
      <p:sp>
        <p:nvSpPr>
          <p:cNvPr id="8" name="Text 6"/>
          <p:cNvSpPr/>
          <p:nvPr/>
        </p:nvSpPr>
        <p:spPr>
          <a:xfrm>
            <a:off x="5852160" y="320040"/>
            <a:ext cx="3108960" cy="274320"/>
          </a:xfrm>
          <a:prstGeom prst="rect">
            <a:avLst/>
          </a:prstGeom>
          <a:noFill/>
          <a:ln/>
        </p:spPr>
        <p:txBody>
          <a:bodyPr wrap="square" rtlCol="0" anchor="ctr"/>
          <a:lstStyle/>
          <a:p>
            <a:pPr marL="0" indent="0">
              <a:buNone/>
            </a:pPr>
            <a:r>
              <a:rPr lang="en-US" sz="850" b="1" kern="0" spc="200" dirty="0">
                <a:solidFill>
                  <a:srgbClr val="0D7A8A"/>
                </a:solidFill>
                <a:latin typeface="Calibri" pitchFamily="34" charset="0"/>
                <a:ea typeface="Calibri" pitchFamily="34" charset="-122"/>
                <a:cs typeface="Calibri" pitchFamily="34" charset="-120"/>
              </a:rPr>
              <a:t>PRESENTATION OVERVIEW</a:t>
            </a:r>
            <a:endParaRPr lang="en-US" sz="850" dirty="0"/>
          </a:p>
        </p:txBody>
      </p:sp>
      <p:sp>
        <p:nvSpPr>
          <p:cNvPr id="9" name="Text 7"/>
          <p:cNvSpPr/>
          <p:nvPr/>
        </p:nvSpPr>
        <p:spPr>
          <a:xfrm>
            <a:off x="5852160" y="685800"/>
            <a:ext cx="3063240" cy="4114800"/>
          </a:xfrm>
          <a:prstGeom prst="rect">
            <a:avLst/>
          </a:prstGeom>
          <a:noFill/>
          <a:ln/>
        </p:spPr>
        <p:txBody>
          <a:bodyPr wrap="square" rtlCol="0" anchor="ctr"/>
          <a:lstStyle/>
          <a:p>
            <a:pPr marL="0" indent="0">
              <a:lnSpc>
                <a:spcPct val="160000"/>
              </a:lnSpc>
              <a:buNone/>
            </a:pPr>
            <a:r>
              <a:rPr lang="en-US" sz="1100" b="1" dirty="0">
                <a:solidFill>
                  <a:srgbClr val="1B3A5C"/>
                </a:solidFill>
                <a:latin typeface="Calibri" pitchFamily="34" charset="0"/>
                <a:ea typeface="Calibri" pitchFamily="34" charset="-122"/>
                <a:cs typeface="Calibri" pitchFamily="34" charset="-120"/>
              </a:rPr>
              <a:t>01  Motivation &amp; Introduction</a:t>
            </a:r>
            <a:endParaRPr lang="en-US" sz="1100" dirty="0"/>
          </a:p>
          <a:p>
            <a:pPr marL="0" indent="0">
              <a:lnSpc>
                <a:spcPct val="160000"/>
              </a:lnSpc>
              <a:buNone/>
            </a:pPr>
            <a:r>
              <a:rPr lang="en-US" sz="1100" b="1" dirty="0">
                <a:solidFill>
                  <a:srgbClr val="1B3A5C"/>
                </a:solidFill>
                <a:latin typeface="Calibri" pitchFamily="34" charset="0"/>
                <a:ea typeface="Calibri" pitchFamily="34" charset="-122"/>
                <a:cs typeface="Calibri" pitchFamily="34" charset="-120"/>
              </a:rPr>
              <a:t>02  Background &amp; Literature Review</a:t>
            </a:r>
            <a:endParaRPr lang="en-US" sz="1100" dirty="0"/>
          </a:p>
          <a:p>
            <a:pPr marL="0" indent="0">
              <a:lnSpc>
                <a:spcPct val="160000"/>
              </a:lnSpc>
              <a:buNone/>
            </a:pPr>
            <a:r>
              <a:rPr lang="en-US" sz="1100" dirty="0">
                <a:solidFill>
                  <a:srgbClr val="4A6274"/>
                </a:solidFill>
                <a:latin typeface="Calibri" pitchFamily="34" charset="0"/>
                <a:ea typeface="Calibri" pitchFamily="34" charset="-122"/>
                <a:cs typeface="Calibri" pitchFamily="34" charset="-120"/>
              </a:rPr>
              <a:t>03  Methodology</a:t>
            </a:r>
            <a:endParaRPr lang="en-US" sz="1100" dirty="0"/>
          </a:p>
          <a:p>
            <a:pPr marL="0" indent="0">
              <a:lnSpc>
                <a:spcPct val="160000"/>
              </a:lnSpc>
              <a:buNone/>
            </a:pPr>
            <a:r>
              <a:rPr lang="en-US" sz="1100" dirty="0">
                <a:solidFill>
                  <a:srgbClr val="4A6274"/>
                </a:solidFill>
                <a:latin typeface="Calibri" pitchFamily="34" charset="0"/>
                <a:ea typeface="Calibri" pitchFamily="34" charset="-122"/>
                <a:cs typeface="Calibri" pitchFamily="34" charset="-120"/>
              </a:rPr>
              <a:t>04  Evaluation &amp; Results</a:t>
            </a:r>
            <a:endParaRPr lang="en-US" sz="1100" dirty="0"/>
          </a:p>
          <a:p>
            <a:pPr marL="0" indent="0">
              <a:lnSpc>
                <a:spcPct val="160000"/>
              </a:lnSpc>
              <a:buNone/>
            </a:pPr>
            <a:r>
              <a:rPr lang="en-US" sz="1100" dirty="0">
                <a:solidFill>
                  <a:srgbClr val="4A6274"/>
                </a:solidFill>
                <a:latin typeface="Calibri" pitchFamily="34" charset="0"/>
                <a:ea typeface="Calibri" pitchFamily="34" charset="-122"/>
                <a:cs typeface="Calibri" pitchFamily="34" charset="-120"/>
              </a:rPr>
              <a:t>05  Debiasing Pipeline</a:t>
            </a:r>
            <a:endParaRPr lang="en-US" sz="1100" dirty="0"/>
          </a:p>
          <a:p>
            <a:pPr marL="0" indent="0">
              <a:lnSpc>
                <a:spcPct val="160000"/>
              </a:lnSpc>
              <a:buNone/>
            </a:pPr>
            <a:r>
              <a:rPr lang="en-US" sz="1100" dirty="0">
                <a:solidFill>
                  <a:srgbClr val="4A6274"/>
                </a:solidFill>
                <a:latin typeface="Calibri" pitchFamily="34" charset="0"/>
                <a:ea typeface="Calibri" pitchFamily="34" charset="-122"/>
                <a:cs typeface="Calibri" pitchFamily="34" charset="-120"/>
              </a:rPr>
              <a:t>06  Conclusions &amp; Future Work</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E"/>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B3A5C"/>
          </a:solidFill>
          <a:ln w="12700">
            <a:solidFill>
              <a:srgbClr val="1B3A5C"/>
            </a:solidFill>
            <a:prstDash val="solid"/>
          </a:ln>
        </p:spPr>
        <p:txBody>
          <a:bodyPr/>
          <a:lstStyle/>
          <a:p>
            <a:endParaRPr lang="en-MT"/>
          </a:p>
        </p:txBody>
      </p:sp>
      <p:sp>
        <p:nvSpPr>
          <p:cNvPr id="3" name="Text 1"/>
          <p:cNvSpPr/>
          <p:nvPr/>
        </p:nvSpPr>
        <p:spPr>
          <a:xfrm>
            <a:off x="411480" y="0"/>
            <a:ext cx="7315200" cy="713232"/>
          </a:xfrm>
          <a:prstGeom prst="rect">
            <a:avLst/>
          </a:prstGeom>
          <a:noFill/>
          <a:ln/>
        </p:spPr>
        <p:txBody>
          <a:bodyPr wrap="square"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MOTIVATION &amp; INTRODUCTION</a:t>
            </a:r>
            <a:endParaRPr lang="en-US" sz="2000" dirty="0"/>
          </a:p>
        </p:txBody>
      </p:sp>
      <p:sp>
        <p:nvSpPr>
          <p:cNvPr id="4" name="Shape 2"/>
          <p:cNvSpPr/>
          <p:nvPr/>
        </p:nvSpPr>
        <p:spPr>
          <a:xfrm>
            <a:off x="8412480" y="182880"/>
            <a:ext cx="347472" cy="347472"/>
          </a:xfrm>
          <a:prstGeom prst="ellipse">
            <a:avLst/>
          </a:prstGeom>
          <a:solidFill>
            <a:srgbClr val="C9A84C"/>
          </a:solidFill>
          <a:ln w="12700">
            <a:solidFill>
              <a:srgbClr val="C9A84C"/>
            </a:solidFill>
            <a:prstDash val="solid"/>
          </a:ln>
        </p:spPr>
        <p:txBody>
          <a:bodyPr/>
          <a:lstStyle/>
          <a:p>
            <a:endParaRPr lang="en-MT"/>
          </a:p>
        </p:txBody>
      </p:sp>
      <p:sp>
        <p:nvSpPr>
          <p:cNvPr id="5" name="Shape 3"/>
          <p:cNvSpPr/>
          <p:nvPr/>
        </p:nvSpPr>
        <p:spPr>
          <a:xfrm>
            <a:off x="347472" y="914400"/>
            <a:ext cx="54864" cy="3566160"/>
          </a:xfrm>
          <a:prstGeom prst="rect">
            <a:avLst/>
          </a:prstGeom>
          <a:solidFill>
            <a:srgbClr val="0D7A8A"/>
          </a:solidFill>
          <a:ln w="12700">
            <a:solidFill>
              <a:srgbClr val="0D7A8A"/>
            </a:solidFill>
            <a:prstDash val="solid"/>
          </a:ln>
        </p:spPr>
        <p:txBody>
          <a:bodyPr/>
          <a:lstStyle/>
          <a:p>
            <a:endParaRPr lang="en-MT"/>
          </a:p>
        </p:txBody>
      </p:sp>
      <p:sp>
        <p:nvSpPr>
          <p:cNvPr id="6" name="Text 4"/>
          <p:cNvSpPr/>
          <p:nvPr/>
        </p:nvSpPr>
        <p:spPr>
          <a:xfrm>
            <a:off x="502920" y="914400"/>
            <a:ext cx="5029200" cy="228600"/>
          </a:xfrm>
          <a:prstGeom prst="rect">
            <a:avLst/>
          </a:prstGeom>
          <a:noFill/>
          <a:ln/>
        </p:spPr>
        <p:txBody>
          <a:bodyPr wrap="square" lIns="0" tIns="0" rIns="0" bIns="0" rtlCol="0" anchor="ctr"/>
          <a:lstStyle/>
          <a:p>
            <a:pPr marL="0" indent="0">
              <a:buNone/>
            </a:pPr>
            <a:r>
              <a:rPr lang="en-US" sz="1050" b="1" dirty="0">
                <a:solidFill>
                  <a:srgbClr val="1B3A5C"/>
                </a:solidFill>
                <a:latin typeface="Calibri" pitchFamily="34" charset="0"/>
                <a:ea typeface="Calibri" pitchFamily="34" charset="-122"/>
                <a:cs typeface="Calibri" pitchFamily="34" charset="-120"/>
              </a:rPr>
              <a:t>Scale &amp; Influence</a:t>
            </a:r>
            <a:endParaRPr lang="en-US" sz="1050" dirty="0"/>
          </a:p>
        </p:txBody>
      </p:sp>
      <p:sp>
        <p:nvSpPr>
          <p:cNvPr id="7" name="Text 5"/>
          <p:cNvSpPr/>
          <p:nvPr/>
        </p:nvSpPr>
        <p:spPr>
          <a:xfrm>
            <a:off x="502920" y="1133856"/>
            <a:ext cx="5029200" cy="438912"/>
          </a:xfrm>
          <a:prstGeom prst="rect">
            <a:avLst/>
          </a:prstGeom>
          <a:noFill/>
          <a:ln/>
        </p:spPr>
        <p:txBody>
          <a:bodyPr wrap="square" lIns="0" tIns="0" rIns="0" bIns="0" rtlCol="0" anchor="ctr"/>
          <a:lstStyle/>
          <a:p>
            <a:pPr marL="0" indent="0">
              <a:buNone/>
            </a:pPr>
            <a:r>
              <a:rPr lang="en-US" sz="950" dirty="0">
                <a:solidFill>
                  <a:srgbClr val="1C2B3A"/>
                </a:solidFill>
                <a:latin typeface="Calibri" pitchFamily="34" charset="0"/>
                <a:ea typeface="Calibri" pitchFamily="34" charset="-122"/>
                <a:cs typeface="Calibri" pitchFamily="34" charset="-120"/>
              </a:rPr>
              <a:t>Re-LAION-5B: ~5.85B image-text pairs. SDv1.5 trained on LAION-Aesthetics v2 5+ — a direct derivative. Deployed across DreamStudio, Hugging Face &amp; beyond.</a:t>
            </a:r>
            <a:endParaRPr lang="en-US" sz="950" dirty="0"/>
          </a:p>
        </p:txBody>
      </p:sp>
      <p:sp>
        <p:nvSpPr>
          <p:cNvPr id="8" name="Text 6"/>
          <p:cNvSpPr/>
          <p:nvPr/>
        </p:nvSpPr>
        <p:spPr>
          <a:xfrm>
            <a:off x="502920" y="1627632"/>
            <a:ext cx="5029200" cy="228600"/>
          </a:xfrm>
          <a:prstGeom prst="rect">
            <a:avLst/>
          </a:prstGeom>
          <a:noFill/>
          <a:ln/>
        </p:spPr>
        <p:txBody>
          <a:bodyPr wrap="square" lIns="0" tIns="0" rIns="0" bIns="0" rtlCol="0" anchor="ctr"/>
          <a:lstStyle/>
          <a:p>
            <a:pPr marL="0" indent="0">
              <a:buNone/>
            </a:pPr>
            <a:r>
              <a:rPr lang="en-US" sz="1050" b="1" dirty="0">
                <a:solidFill>
                  <a:srgbClr val="1B3A5C"/>
                </a:solidFill>
                <a:latin typeface="Calibri" pitchFamily="34" charset="0"/>
                <a:ea typeface="Calibri" pitchFamily="34" charset="-122"/>
                <a:cs typeface="Calibri" pitchFamily="34" charset="-120"/>
              </a:rPr>
              <a:t>Web-Scraped = Biased by Design</a:t>
            </a:r>
            <a:endParaRPr lang="en-US" sz="1050" dirty="0"/>
          </a:p>
        </p:txBody>
      </p:sp>
      <p:sp>
        <p:nvSpPr>
          <p:cNvPr id="9" name="Text 7"/>
          <p:cNvSpPr/>
          <p:nvPr/>
        </p:nvSpPr>
        <p:spPr>
          <a:xfrm>
            <a:off x="502920" y="1847088"/>
            <a:ext cx="5029200" cy="438912"/>
          </a:xfrm>
          <a:prstGeom prst="rect">
            <a:avLst/>
          </a:prstGeom>
          <a:noFill/>
          <a:ln/>
        </p:spPr>
        <p:txBody>
          <a:bodyPr wrap="square" lIns="0" tIns="0" rIns="0" bIns="0" rtlCol="0" anchor="ctr"/>
          <a:lstStyle/>
          <a:p>
            <a:pPr marL="0" indent="0">
              <a:buNone/>
            </a:pPr>
            <a:r>
              <a:rPr lang="en-US" sz="950" i="1" dirty="0">
                <a:solidFill>
                  <a:srgbClr val="1C2B3A"/>
                </a:solidFill>
                <a:latin typeface="Calibri" pitchFamily="34" charset="0"/>
                <a:ea typeface="Calibri" pitchFamily="34" charset="-122"/>
                <a:cs typeface="Calibri" pitchFamily="34" charset="-120"/>
              </a:rPr>
              <a:t>"The scale and automated nature of web scraping introduces systematic biases that reflect and potentially amplify societal inequities."</a:t>
            </a:r>
            <a:endParaRPr lang="en-US" sz="950" dirty="0"/>
          </a:p>
        </p:txBody>
      </p:sp>
      <p:sp>
        <p:nvSpPr>
          <p:cNvPr id="10" name="Text 8"/>
          <p:cNvSpPr/>
          <p:nvPr/>
        </p:nvSpPr>
        <p:spPr>
          <a:xfrm>
            <a:off x="502920" y="2340864"/>
            <a:ext cx="5029200" cy="228600"/>
          </a:xfrm>
          <a:prstGeom prst="rect">
            <a:avLst/>
          </a:prstGeom>
          <a:noFill/>
          <a:ln/>
        </p:spPr>
        <p:txBody>
          <a:bodyPr wrap="square" lIns="0" tIns="0" rIns="0" bIns="0" rtlCol="0" anchor="ctr"/>
          <a:lstStyle/>
          <a:p>
            <a:pPr marL="0" indent="0">
              <a:buNone/>
            </a:pPr>
            <a:r>
              <a:rPr lang="en-US" sz="1050" b="1" dirty="0">
                <a:solidFill>
                  <a:srgbClr val="1B3A5C"/>
                </a:solidFill>
                <a:latin typeface="Calibri" pitchFamily="34" charset="0"/>
                <a:ea typeface="Calibri" pitchFamily="34" charset="-122"/>
                <a:cs typeface="Calibri" pitchFamily="34" charset="-120"/>
              </a:rPr>
              <a:t>The Black-Box Problem</a:t>
            </a:r>
            <a:endParaRPr lang="en-US" sz="1050" dirty="0"/>
          </a:p>
        </p:txBody>
      </p:sp>
      <p:sp>
        <p:nvSpPr>
          <p:cNvPr id="11" name="Text 9"/>
          <p:cNvSpPr/>
          <p:nvPr/>
        </p:nvSpPr>
        <p:spPr>
          <a:xfrm>
            <a:off x="502920" y="2560320"/>
            <a:ext cx="5029200" cy="438912"/>
          </a:xfrm>
          <a:prstGeom prst="rect">
            <a:avLst/>
          </a:prstGeom>
          <a:noFill/>
          <a:ln/>
        </p:spPr>
        <p:txBody>
          <a:bodyPr wrap="square" lIns="0" tIns="0" rIns="0" bIns="0" rtlCol="0" anchor="ctr"/>
          <a:lstStyle/>
          <a:p>
            <a:pPr marL="0" indent="0">
              <a:buNone/>
            </a:pPr>
            <a:r>
              <a:rPr lang="en-US" sz="950" dirty="0">
                <a:solidFill>
                  <a:srgbClr val="1C2B3A"/>
                </a:solidFill>
                <a:latin typeface="Calibri" pitchFamily="34" charset="0"/>
                <a:ea typeface="Calibri" pitchFamily="34" charset="-122"/>
                <a:cs typeface="Calibri" pitchFamily="34" charset="-120"/>
              </a:rPr>
              <a:t>Prior work measures demographic outcomes but does not expose which low-level image features cause them — treating models as black boxes.</a:t>
            </a:r>
            <a:endParaRPr lang="en-US" sz="950" dirty="0"/>
          </a:p>
        </p:txBody>
      </p:sp>
      <p:sp>
        <p:nvSpPr>
          <p:cNvPr id="12" name="Text 10"/>
          <p:cNvSpPr/>
          <p:nvPr/>
        </p:nvSpPr>
        <p:spPr>
          <a:xfrm>
            <a:off x="502920" y="3054096"/>
            <a:ext cx="5029200" cy="228600"/>
          </a:xfrm>
          <a:prstGeom prst="rect">
            <a:avLst/>
          </a:prstGeom>
          <a:noFill/>
          <a:ln/>
        </p:spPr>
        <p:txBody>
          <a:bodyPr wrap="square" lIns="0" tIns="0" rIns="0" bIns="0" rtlCol="0" anchor="ctr"/>
          <a:lstStyle/>
          <a:p>
            <a:pPr marL="0" indent="0">
              <a:buNone/>
            </a:pPr>
            <a:r>
              <a:rPr lang="en-US" sz="1050" b="1" dirty="0">
                <a:solidFill>
                  <a:srgbClr val="1B3A5C"/>
                </a:solidFill>
                <a:latin typeface="Calibri" pitchFamily="34" charset="0"/>
                <a:ea typeface="Calibri" pitchFamily="34" charset="-122"/>
                <a:cs typeface="Calibri" pitchFamily="34" charset="-120"/>
              </a:rPr>
              <a:t>Mechanisms, Not Just Outcomes</a:t>
            </a:r>
            <a:endParaRPr lang="en-US" sz="1050" dirty="0"/>
          </a:p>
        </p:txBody>
      </p:sp>
      <p:sp>
        <p:nvSpPr>
          <p:cNvPr id="13" name="Text 11"/>
          <p:cNvSpPr/>
          <p:nvPr/>
        </p:nvSpPr>
        <p:spPr>
          <a:xfrm>
            <a:off x="502920" y="3273552"/>
            <a:ext cx="5029200" cy="438912"/>
          </a:xfrm>
          <a:prstGeom prst="rect">
            <a:avLst/>
          </a:prstGeom>
          <a:noFill/>
          <a:ln/>
        </p:spPr>
        <p:txBody>
          <a:bodyPr wrap="square" lIns="0" tIns="0" rIns="0" bIns="0" rtlCol="0" anchor="ctr"/>
          <a:lstStyle/>
          <a:p>
            <a:pPr marL="0" indent="0">
              <a:buNone/>
            </a:pPr>
            <a:r>
              <a:rPr lang="en-US" sz="950" dirty="0">
                <a:solidFill>
                  <a:srgbClr val="1C2B3A"/>
                </a:solidFill>
                <a:latin typeface="Calibri" pitchFamily="34" charset="0"/>
                <a:ea typeface="Calibri" pitchFamily="34" charset="-122"/>
                <a:cs typeface="Calibri" pitchFamily="34" charset="-120"/>
              </a:rPr>
              <a:t>This thesis investigates spurious features: non-semantic image properties (colour, texture, frequency, structure) that correlate with demographic attributes.</a:t>
            </a:r>
            <a:endParaRPr lang="en-US" sz="950" dirty="0"/>
          </a:p>
        </p:txBody>
      </p:sp>
      <p:sp>
        <p:nvSpPr>
          <p:cNvPr id="14" name="Text 12"/>
          <p:cNvSpPr/>
          <p:nvPr/>
        </p:nvSpPr>
        <p:spPr>
          <a:xfrm>
            <a:off x="502920" y="3767328"/>
            <a:ext cx="5029200" cy="228600"/>
          </a:xfrm>
          <a:prstGeom prst="rect">
            <a:avLst/>
          </a:prstGeom>
          <a:noFill/>
          <a:ln/>
        </p:spPr>
        <p:txBody>
          <a:bodyPr wrap="square" lIns="0" tIns="0" rIns="0" bIns="0" rtlCol="0" anchor="ctr"/>
          <a:lstStyle/>
          <a:p>
            <a:pPr marL="0" indent="0">
              <a:buNone/>
            </a:pPr>
            <a:r>
              <a:rPr lang="en-US" sz="1050" b="1" dirty="0">
                <a:solidFill>
                  <a:srgbClr val="1B3A5C"/>
                </a:solidFill>
                <a:latin typeface="Calibri" pitchFamily="34" charset="0"/>
                <a:ea typeface="Calibri" pitchFamily="34" charset="-122"/>
                <a:cs typeface="Calibri" pitchFamily="34" charset="-120"/>
              </a:rPr>
              <a:t>Accessible Mitigation</a:t>
            </a:r>
            <a:endParaRPr lang="en-US" sz="1050" dirty="0"/>
          </a:p>
        </p:txBody>
      </p:sp>
      <p:sp>
        <p:nvSpPr>
          <p:cNvPr id="15" name="Text 13"/>
          <p:cNvSpPr/>
          <p:nvPr/>
        </p:nvSpPr>
        <p:spPr>
          <a:xfrm>
            <a:off x="502920" y="3986784"/>
            <a:ext cx="5029200" cy="438912"/>
          </a:xfrm>
          <a:prstGeom prst="rect">
            <a:avLst/>
          </a:prstGeom>
          <a:noFill/>
          <a:ln/>
        </p:spPr>
        <p:txBody>
          <a:bodyPr wrap="square" lIns="0" tIns="0" rIns="0" bIns="0" rtlCol="0" anchor="ctr"/>
          <a:lstStyle/>
          <a:p>
            <a:pPr marL="0" indent="0">
              <a:buNone/>
            </a:pPr>
            <a:r>
              <a:rPr lang="en-US" sz="950" dirty="0">
                <a:solidFill>
                  <a:srgbClr val="1C2B3A"/>
                </a:solidFill>
                <a:latin typeface="Calibri" pitchFamily="34" charset="0"/>
                <a:ea typeface="Calibri" pitchFamily="34" charset="-122"/>
                <a:cs typeface="Calibri" pitchFamily="34" charset="-120"/>
              </a:rPr>
              <a:t>Full retraining is beyond most practitioners. This work demonstrates inference-time debiasing on frozen models — no retraining required.</a:t>
            </a:r>
            <a:endParaRPr lang="en-US" sz="950" dirty="0"/>
          </a:p>
        </p:txBody>
      </p:sp>
      <p:sp>
        <p:nvSpPr>
          <p:cNvPr id="16" name="Shape 14"/>
          <p:cNvSpPr/>
          <p:nvPr/>
        </p:nvSpPr>
        <p:spPr>
          <a:xfrm>
            <a:off x="5760720" y="914400"/>
            <a:ext cx="3108960" cy="3749040"/>
          </a:xfrm>
          <a:prstGeom prst="rect">
            <a:avLst/>
          </a:prstGeom>
          <a:solidFill>
            <a:srgbClr val="FFFFFF"/>
          </a:solidFill>
          <a:ln w="12700">
            <a:solidFill>
              <a:srgbClr val="E8E4DC"/>
            </a:solidFill>
            <a:prstDash val="solid"/>
          </a:ln>
          <a:effectLst>
            <a:outerShdw blurRad="63500" dist="25400" dir="8100000" algn="bl" rotWithShape="0">
              <a:srgbClr val="000000">
                <a:alpha val="10000"/>
              </a:srgbClr>
            </a:outerShdw>
          </a:effectLst>
        </p:spPr>
        <p:txBody>
          <a:bodyPr/>
          <a:lstStyle/>
          <a:p>
            <a:endParaRPr lang="en-MT"/>
          </a:p>
        </p:txBody>
      </p:sp>
      <p:sp>
        <p:nvSpPr>
          <p:cNvPr id="17" name="Shape 15"/>
          <p:cNvSpPr/>
          <p:nvPr/>
        </p:nvSpPr>
        <p:spPr>
          <a:xfrm>
            <a:off x="5760720" y="914400"/>
            <a:ext cx="3108960" cy="73152"/>
          </a:xfrm>
          <a:prstGeom prst="rect">
            <a:avLst/>
          </a:prstGeom>
          <a:solidFill>
            <a:srgbClr val="0D7A8A"/>
          </a:solidFill>
          <a:ln w="12700">
            <a:solidFill>
              <a:srgbClr val="0D7A8A"/>
            </a:solidFill>
            <a:prstDash val="solid"/>
          </a:ln>
        </p:spPr>
        <p:txBody>
          <a:bodyPr/>
          <a:lstStyle/>
          <a:p>
            <a:endParaRPr lang="en-MT"/>
          </a:p>
        </p:txBody>
      </p:sp>
      <p:sp>
        <p:nvSpPr>
          <p:cNvPr id="18" name="Text 16"/>
          <p:cNvSpPr/>
          <p:nvPr/>
        </p:nvSpPr>
        <p:spPr>
          <a:xfrm>
            <a:off x="5897880" y="1024128"/>
            <a:ext cx="2834640" cy="256032"/>
          </a:xfrm>
          <a:prstGeom prst="rect">
            <a:avLst/>
          </a:prstGeom>
          <a:noFill/>
          <a:ln/>
        </p:spPr>
        <p:txBody>
          <a:bodyPr wrap="square" rtlCol="0" anchor="ctr"/>
          <a:lstStyle/>
          <a:p>
            <a:pPr marL="0" indent="0">
              <a:buNone/>
            </a:pPr>
            <a:r>
              <a:rPr lang="en-US" sz="850" b="1" kern="0" spc="150" dirty="0">
                <a:solidFill>
                  <a:srgbClr val="0D7A8A"/>
                </a:solidFill>
                <a:latin typeface="Calibri" pitchFamily="34" charset="0"/>
                <a:ea typeface="Calibri" pitchFamily="34" charset="-122"/>
                <a:cs typeface="Calibri" pitchFamily="34" charset="-120"/>
              </a:rPr>
              <a:t>RESEARCH QUESTION</a:t>
            </a:r>
            <a:endParaRPr lang="en-US" sz="850" dirty="0"/>
          </a:p>
        </p:txBody>
      </p:sp>
      <p:sp>
        <p:nvSpPr>
          <p:cNvPr id="19" name="Text 17"/>
          <p:cNvSpPr/>
          <p:nvPr/>
        </p:nvSpPr>
        <p:spPr>
          <a:xfrm>
            <a:off x="5897880" y="1298448"/>
            <a:ext cx="2834640" cy="1005840"/>
          </a:xfrm>
          <a:prstGeom prst="rect">
            <a:avLst/>
          </a:prstGeom>
          <a:noFill/>
          <a:ln/>
        </p:spPr>
        <p:txBody>
          <a:bodyPr wrap="square" rtlCol="0" anchor="ctr"/>
          <a:lstStyle/>
          <a:p>
            <a:pPr marL="0" indent="0">
              <a:lnSpc>
                <a:spcPct val="130000"/>
              </a:lnSpc>
              <a:buNone/>
            </a:pPr>
            <a:r>
              <a:rPr lang="en-US" sz="1150" i="1" dirty="0">
                <a:solidFill>
                  <a:srgbClr val="1B3A5C"/>
                </a:solidFill>
                <a:latin typeface="Georgia" pitchFamily="34" charset="0"/>
                <a:ea typeface="Georgia" pitchFamily="34" charset="-122"/>
                <a:cs typeface="Georgia" pitchFamily="34" charset="-120"/>
              </a:rPr>
              <a:t>Do spurious low-level image features in Re-LAION-5B correlate with demographic attributes — and does Stable Diffusion v1.5 inherit, amplify, or alter those patterns?</a:t>
            </a:r>
            <a:endParaRPr lang="en-US" sz="1150" dirty="0"/>
          </a:p>
        </p:txBody>
      </p:sp>
      <p:sp>
        <p:nvSpPr>
          <p:cNvPr id="20" name="Text 18"/>
          <p:cNvSpPr/>
          <p:nvPr/>
        </p:nvSpPr>
        <p:spPr>
          <a:xfrm>
            <a:off x="5897880" y="2423160"/>
            <a:ext cx="2834640" cy="228600"/>
          </a:xfrm>
          <a:prstGeom prst="rect">
            <a:avLst/>
          </a:prstGeom>
          <a:noFill/>
          <a:ln/>
        </p:spPr>
        <p:txBody>
          <a:bodyPr wrap="square" rtlCol="0" anchor="ctr"/>
          <a:lstStyle/>
          <a:p>
            <a:pPr marL="0" indent="0">
              <a:buNone/>
            </a:pPr>
            <a:r>
              <a:rPr lang="en-US" sz="850" b="1" kern="0" spc="150" dirty="0">
                <a:solidFill>
                  <a:srgbClr val="0D7A8A"/>
                </a:solidFill>
                <a:latin typeface="Calibri" pitchFamily="34" charset="0"/>
                <a:ea typeface="Calibri" pitchFamily="34" charset="-122"/>
                <a:cs typeface="Calibri" pitchFamily="34" charset="-120"/>
              </a:rPr>
              <a:t>5 RESEARCH OBJECTIVES</a:t>
            </a:r>
            <a:endParaRPr lang="en-US" sz="850" dirty="0"/>
          </a:p>
        </p:txBody>
      </p:sp>
      <p:sp>
        <p:nvSpPr>
          <p:cNvPr id="21" name="Text 19"/>
          <p:cNvSpPr/>
          <p:nvPr/>
        </p:nvSpPr>
        <p:spPr>
          <a:xfrm>
            <a:off x="5897880" y="2670048"/>
            <a:ext cx="2834640" cy="1828800"/>
          </a:xfrm>
          <a:prstGeom prst="rect">
            <a:avLst/>
          </a:prstGeom>
          <a:noFill/>
          <a:ln/>
        </p:spPr>
        <p:txBody>
          <a:bodyPr wrap="square" rtlCol="0" anchor="ctr"/>
          <a:lstStyle/>
          <a:p>
            <a:pPr marL="0" indent="0">
              <a:lnSpc>
                <a:spcPct val="155000"/>
              </a:lnSpc>
              <a:buNone/>
            </a:pPr>
            <a:r>
              <a:rPr lang="en-US" sz="1000" dirty="0">
                <a:solidFill>
                  <a:srgbClr val="1C2B3A"/>
                </a:solidFill>
                <a:latin typeface="Calibri" pitchFamily="34" charset="0"/>
                <a:ea typeface="Calibri" pitchFamily="34" charset="-122"/>
                <a:cs typeface="Calibri" pitchFamily="34" charset="-120"/>
              </a:rPr>
              <a:t>O1  Dataset Acquisition &amp; Annotation</a:t>
            </a:r>
            <a:endParaRPr lang="en-US" sz="1000" dirty="0"/>
          </a:p>
          <a:p>
            <a:pPr marL="0" indent="0">
              <a:lnSpc>
                <a:spcPct val="155000"/>
              </a:lnSpc>
              <a:buNone/>
            </a:pPr>
            <a:r>
              <a:rPr lang="en-US" sz="1000" dirty="0">
                <a:solidFill>
                  <a:srgbClr val="1C2B3A"/>
                </a:solidFill>
                <a:latin typeface="Calibri" pitchFamily="34" charset="0"/>
                <a:ea typeface="Calibri" pitchFamily="34" charset="-122"/>
                <a:cs typeface="Calibri" pitchFamily="34" charset="-120"/>
              </a:rPr>
              <a:t>O2  Spurious Feature Detection</a:t>
            </a:r>
            <a:endParaRPr lang="en-US" sz="1000" dirty="0"/>
          </a:p>
          <a:p>
            <a:pPr marL="0" indent="0">
              <a:lnSpc>
                <a:spcPct val="155000"/>
              </a:lnSpc>
              <a:buNone/>
            </a:pPr>
            <a:r>
              <a:rPr lang="en-US" sz="1000" dirty="0">
                <a:solidFill>
                  <a:srgbClr val="1C2B3A"/>
                </a:solidFill>
                <a:latin typeface="Calibri" pitchFamily="34" charset="0"/>
                <a:ea typeface="Calibri" pitchFamily="34" charset="-122"/>
                <a:cs typeface="Calibri" pitchFamily="34" charset="-120"/>
              </a:rPr>
              <a:t>O3  Demographic Correlation Analysis</a:t>
            </a:r>
            <a:endParaRPr lang="en-US" sz="1000" dirty="0"/>
          </a:p>
          <a:p>
            <a:pPr marL="0" indent="0">
              <a:lnSpc>
                <a:spcPct val="155000"/>
              </a:lnSpc>
              <a:buNone/>
            </a:pPr>
            <a:r>
              <a:rPr lang="en-US" sz="1000" dirty="0">
                <a:solidFill>
                  <a:srgbClr val="1C2B3A"/>
                </a:solidFill>
                <a:latin typeface="Calibri" pitchFamily="34" charset="0"/>
                <a:ea typeface="Calibri" pitchFamily="34" charset="-122"/>
                <a:cs typeface="Calibri" pitchFamily="34" charset="-120"/>
              </a:rPr>
              <a:t>O4  Inference-Time Debiasing</a:t>
            </a:r>
            <a:endParaRPr lang="en-US" sz="1000" dirty="0"/>
          </a:p>
          <a:p>
            <a:pPr marL="0" indent="0">
              <a:lnSpc>
                <a:spcPct val="155000"/>
              </a:lnSpc>
              <a:buNone/>
            </a:pPr>
            <a:r>
              <a:rPr lang="en-US" sz="1000" dirty="0">
                <a:solidFill>
                  <a:srgbClr val="1C2B3A"/>
                </a:solidFill>
                <a:latin typeface="Calibri" pitchFamily="34" charset="0"/>
                <a:ea typeface="Calibri" pitchFamily="34" charset="-122"/>
                <a:cs typeface="Calibri" pitchFamily="34" charset="-120"/>
              </a:rPr>
              <a:t>O5  Synthesis of Bias Mechanisms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E"/>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B3A5C"/>
          </a:solidFill>
          <a:ln w="12700">
            <a:solidFill>
              <a:srgbClr val="1B3A5C"/>
            </a:solidFill>
            <a:prstDash val="solid"/>
          </a:ln>
        </p:spPr>
        <p:txBody>
          <a:bodyPr/>
          <a:lstStyle/>
          <a:p>
            <a:endParaRPr lang="en-MT"/>
          </a:p>
        </p:txBody>
      </p:sp>
      <p:sp>
        <p:nvSpPr>
          <p:cNvPr id="3" name="Text 1"/>
          <p:cNvSpPr/>
          <p:nvPr/>
        </p:nvSpPr>
        <p:spPr>
          <a:xfrm>
            <a:off x="411480" y="0"/>
            <a:ext cx="8229600" cy="713232"/>
          </a:xfrm>
          <a:prstGeom prst="rect">
            <a:avLst/>
          </a:prstGeom>
          <a:noFill/>
          <a:ln/>
        </p:spPr>
        <p:txBody>
          <a:bodyPr wrap="square" rtlCol="0" anchor="ctr"/>
          <a:lstStyle/>
          <a:p>
            <a:pPr marL="0" indent="0">
              <a:buNone/>
            </a:pPr>
            <a:r>
              <a:rPr lang="en-US" sz="1600" b="1" dirty="0">
                <a:solidFill>
                  <a:srgbClr val="FFFFFF"/>
                </a:solidFill>
                <a:latin typeface="Georgia" pitchFamily="34" charset="0"/>
                <a:ea typeface="Georgia" pitchFamily="34" charset="-122"/>
                <a:cs typeface="Georgia" pitchFamily="34" charset="-120"/>
              </a:rPr>
              <a:t>BACKGROUND &amp; LITERATURE REVIEW  ·  THE TWO PILLARS</a:t>
            </a:r>
            <a:endParaRPr lang="en-US" sz="1600" dirty="0"/>
          </a:p>
        </p:txBody>
      </p:sp>
      <p:sp>
        <p:nvSpPr>
          <p:cNvPr id="4" name="Shape 2"/>
          <p:cNvSpPr/>
          <p:nvPr/>
        </p:nvSpPr>
        <p:spPr>
          <a:xfrm>
            <a:off x="274320" y="850392"/>
            <a:ext cx="4206240" cy="4059936"/>
          </a:xfrm>
          <a:prstGeom prst="rect">
            <a:avLst/>
          </a:prstGeom>
          <a:solidFill>
            <a:srgbClr val="FFFFFF"/>
          </a:solidFill>
          <a:ln w="12700">
            <a:solidFill>
              <a:srgbClr val="E8E4DC"/>
            </a:solidFill>
            <a:prstDash val="solid"/>
          </a:ln>
          <a:effectLst>
            <a:outerShdw blurRad="63500" dist="25400" dir="8100000" algn="bl" rotWithShape="0">
              <a:srgbClr val="000000">
                <a:alpha val="10000"/>
              </a:srgbClr>
            </a:outerShdw>
          </a:effectLst>
        </p:spPr>
        <p:txBody>
          <a:bodyPr/>
          <a:lstStyle/>
          <a:p>
            <a:endParaRPr lang="en-MT"/>
          </a:p>
        </p:txBody>
      </p:sp>
      <p:sp>
        <p:nvSpPr>
          <p:cNvPr id="5" name="Shape 3"/>
          <p:cNvSpPr/>
          <p:nvPr/>
        </p:nvSpPr>
        <p:spPr>
          <a:xfrm>
            <a:off x="274320" y="850392"/>
            <a:ext cx="4206240" cy="64008"/>
          </a:xfrm>
          <a:prstGeom prst="rect">
            <a:avLst/>
          </a:prstGeom>
          <a:solidFill>
            <a:srgbClr val="0D7A8A"/>
          </a:solidFill>
          <a:ln w="12700">
            <a:solidFill>
              <a:srgbClr val="0D7A8A"/>
            </a:solidFill>
            <a:prstDash val="solid"/>
          </a:ln>
        </p:spPr>
        <p:txBody>
          <a:bodyPr/>
          <a:lstStyle/>
          <a:p>
            <a:endParaRPr lang="en-MT"/>
          </a:p>
        </p:txBody>
      </p:sp>
      <p:sp>
        <p:nvSpPr>
          <p:cNvPr id="6" name="Text 4"/>
          <p:cNvSpPr/>
          <p:nvPr/>
        </p:nvSpPr>
        <p:spPr>
          <a:xfrm>
            <a:off x="411480" y="941832"/>
            <a:ext cx="3931920" cy="201168"/>
          </a:xfrm>
          <a:prstGeom prst="rect">
            <a:avLst/>
          </a:prstGeom>
          <a:noFill/>
          <a:ln/>
        </p:spPr>
        <p:txBody>
          <a:bodyPr wrap="square" rtlCol="0" anchor="ctr"/>
          <a:lstStyle/>
          <a:p>
            <a:pPr marL="0" indent="0">
              <a:buNone/>
            </a:pPr>
            <a:r>
              <a:rPr lang="en-US" sz="850" b="1" kern="0" spc="120" dirty="0">
                <a:solidFill>
                  <a:srgbClr val="0D7A8A"/>
                </a:solidFill>
                <a:latin typeface="Calibri" pitchFamily="34" charset="0"/>
                <a:ea typeface="Calibri" pitchFamily="34" charset="-122"/>
                <a:cs typeface="Calibri" pitchFamily="34" charset="-120"/>
              </a:rPr>
              <a:t>ZENG ET AL.  (NeurIPS 2024)</a:t>
            </a:r>
            <a:endParaRPr lang="en-US" sz="850" dirty="0"/>
          </a:p>
        </p:txBody>
      </p:sp>
      <p:sp>
        <p:nvSpPr>
          <p:cNvPr id="7" name="Text 5"/>
          <p:cNvSpPr/>
          <p:nvPr/>
        </p:nvSpPr>
        <p:spPr>
          <a:xfrm>
            <a:off x="411480" y="1124712"/>
            <a:ext cx="3931920" cy="274320"/>
          </a:xfrm>
          <a:prstGeom prst="rect">
            <a:avLst/>
          </a:prstGeom>
          <a:noFill/>
          <a:ln/>
        </p:spPr>
        <p:txBody>
          <a:bodyPr wrap="square" rtlCol="0" anchor="ctr"/>
          <a:lstStyle/>
          <a:p>
            <a:pPr marL="0" indent="0">
              <a:buNone/>
            </a:pPr>
            <a:r>
              <a:rPr lang="en-US" sz="1100" b="1" i="1" dirty="0">
                <a:solidFill>
                  <a:srgbClr val="1B3A5C"/>
                </a:solidFill>
                <a:latin typeface="Georgia" pitchFamily="34" charset="0"/>
                <a:ea typeface="Georgia" pitchFamily="34" charset="-122"/>
                <a:cs typeface="Georgia" pitchFamily="34" charset="-120"/>
              </a:rPr>
              <a:t>Understanding Bias in Large-Scale Visual Datasets</a:t>
            </a:r>
            <a:endParaRPr lang="en-US" sz="1100" dirty="0"/>
          </a:p>
        </p:txBody>
      </p:sp>
      <p:sp>
        <p:nvSpPr>
          <p:cNvPr id="8" name="Text 6"/>
          <p:cNvSpPr/>
          <p:nvPr/>
        </p:nvSpPr>
        <p:spPr>
          <a:xfrm>
            <a:off x="411480" y="1417320"/>
            <a:ext cx="3931920" cy="347472"/>
          </a:xfrm>
          <a:prstGeom prst="rect">
            <a:avLst/>
          </a:prstGeom>
          <a:noFill/>
          <a:ln/>
        </p:spPr>
        <p:txBody>
          <a:bodyPr wrap="square" rtlCol="0" anchor="ctr"/>
          <a:lstStyle/>
          <a:p>
            <a:pPr marL="0" indent="0">
              <a:lnSpc>
                <a:spcPct val="115000"/>
              </a:lnSpc>
              <a:buNone/>
            </a:pPr>
            <a:r>
              <a:rPr lang="en-US" sz="850" b="1" dirty="0">
                <a:solidFill>
                  <a:srgbClr val="1C2B3A"/>
                </a:solidFill>
                <a:latin typeface="Calibri" pitchFamily="34" charset="0"/>
                <a:ea typeface="Calibri" pitchFamily="34" charset="-122"/>
                <a:cs typeface="Calibri" pitchFamily="34" charset="-120"/>
              </a:rPr>
              <a:t>Framework:</a:t>
            </a:r>
            <a:r>
              <a:rPr lang="en-US" sz="850" dirty="0">
                <a:solidFill>
                  <a:srgbClr val="1C2B3A"/>
                </a:solidFill>
                <a:latin typeface="Calibri" pitchFamily="34" charset="0"/>
                <a:ea typeface="Calibri" pitchFamily="34" charset="-122"/>
                <a:cs typeface="Calibri" pitchFamily="34" charset="-120"/>
              </a:rPr>
              <a:t> Transform image → train classifier → accuracy = bias contribution of that feature type. Applied to YFCC, CC12M &amp; DataComp-1B.</a:t>
            </a:r>
            <a:endParaRPr lang="en-US" sz="850" dirty="0"/>
          </a:p>
        </p:txBody>
      </p:sp>
      <p:graphicFrame>
        <p:nvGraphicFramePr>
          <p:cNvPr id="9" name="Table 0"/>
          <p:cNvGraphicFramePr>
            <a:graphicFrameLocks noGrp="1"/>
          </p:cNvGraphicFramePr>
          <p:nvPr>
            <p:extLst>
              <p:ext uri="{D42A27DB-BD31-4B8C-83A1-F6EECF244321}">
                <p14:modId xmlns:p14="http://schemas.microsoft.com/office/powerpoint/2010/main" val="1680680882"/>
              </p:ext>
            </p:extLst>
          </p:nvPr>
        </p:nvGraphicFramePr>
        <p:xfrm>
          <a:off x="347472" y="1792224"/>
          <a:ext cx="4059936" cy="3086100"/>
        </p:xfrm>
        <a:graphic>
          <a:graphicData uri="http://schemas.openxmlformats.org/drawingml/2006/table">
            <a:tbl>
              <a:tblPr/>
              <a:tblGrid>
                <a:gridCol w="19202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225296">
                  <a:extLst>
                    <a:ext uri="{9D8B030D-6E8A-4147-A177-3AD203B41FA5}">
                      <a16:colId xmlns:a16="http://schemas.microsoft.com/office/drawing/2014/main" val="20002"/>
                    </a:ext>
                  </a:extLst>
                </a:gridCol>
              </a:tblGrid>
              <a:tr h="205740">
                <a:tc>
                  <a:txBody>
                    <a:bodyPr/>
                    <a:lstStyle/>
                    <a:p>
                      <a:pPr marL="0" indent="0" algn="l">
                        <a:buNone/>
                      </a:pPr>
                      <a:r>
                        <a:rPr lang="en-US" sz="800" b="1" dirty="0">
                          <a:solidFill>
                            <a:srgbClr val="FFFFFF"/>
                          </a:solidFill>
                          <a:latin typeface="Calibri" pitchFamily="34" charset="0"/>
                          <a:ea typeface="Calibri" pitchFamily="34" charset="-122"/>
                          <a:cs typeface="Calibri" pitchFamily="34" charset="-120"/>
                        </a:rPr>
                        <a:t>Transformation</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1B3A5C"/>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Category</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1B3A5C"/>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Accuracy</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1B3A5C"/>
                    </a:solidFill>
                  </a:tcPr>
                </a:tc>
                <a:extLst>
                  <a:ext uri="{0D108BD9-81ED-4DB2-BD59-A6C34878D82A}">
                    <a16:rowId xmlns:a16="http://schemas.microsoft.com/office/drawing/2014/main" val="10000"/>
                  </a:ext>
                </a:extLst>
              </a:tr>
              <a:tr h="205740">
                <a:tc>
                  <a:txBody>
                    <a:bodyPr/>
                    <a:lstStyle/>
                    <a:p>
                      <a:pPr marL="0" indent="0" algn="l">
                        <a:buNone/>
                      </a:pPr>
                      <a:r>
                        <a:rPr lang="en-US" sz="800" dirty="0">
                          <a:solidFill>
                            <a:srgbClr val="1C2B3A"/>
                          </a:solidFill>
                          <a:latin typeface="Calibri" pitchFamily="34" charset="0"/>
                          <a:ea typeface="Calibri" pitchFamily="34" charset="-122"/>
                          <a:cs typeface="Calibri" pitchFamily="34" charset="-120"/>
                        </a:rPr>
                        <a:t>Original images</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EAF4F0"/>
                    </a:solidFill>
                  </a:tcPr>
                </a:tc>
                <a:tc>
                  <a:txBody>
                    <a:bodyPr/>
                    <a:lstStyle/>
                    <a:p>
                      <a:pPr marL="0" indent="0" algn="ctr">
                        <a:buNone/>
                      </a:pPr>
                      <a:r>
                        <a:rPr lang="en-US" sz="800" dirty="0">
                          <a:solidFill>
                            <a:srgbClr val="0D7A8A"/>
                          </a:solidFill>
                          <a:latin typeface="Calibri" pitchFamily="34" charset="0"/>
                          <a:ea typeface="Calibri" pitchFamily="34" charset="-122"/>
                          <a:cs typeface="Calibri" pitchFamily="34" charset="-120"/>
                        </a:rPr>
                        <a:t>Reference</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EAF4F0"/>
                    </a:solidFill>
                  </a:tcPr>
                </a:tc>
                <a:tc>
                  <a:txBody>
                    <a:bodyPr/>
                    <a:lstStyle/>
                    <a:p>
                      <a:pPr marL="0" indent="0" algn="ctr">
                        <a:buNone/>
                      </a:pPr>
                      <a:r>
                        <a:rPr lang="en-US" sz="800" b="1" dirty="0">
                          <a:solidFill>
                            <a:srgbClr val="0D7A8A"/>
                          </a:solidFill>
                          <a:latin typeface="Calibri" pitchFamily="34" charset="0"/>
                          <a:ea typeface="Calibri" pitchFamily="34" charset="-122"/>
                          <a:cs typeface="Calibri" pitchFamily="34" charset="-120"/>
                        </a:rPr>
                        <a:t>82.0%</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EAF4F0"/>
                    </a:solidFill>
                  </a:tcPr>
                </a:tc>
                <a:extLst>
                  <a:ext uri="{0D108BD9-81ED-4DB2-BD59-A6C34878D82A}">
                    <a16:rowId xmlns:a16="http://schemas.microsoft.com/office/drawing/2014/main" val="10001"/>
                  </a:ext>
                </a:extLst>
              </a:tr>
              <a:tr h="205740">
                <a:tc>
                  <a:txBody>
                    <a:bodyPr/>
                    <a:lstStyle/>
                    <a:p>
                      <a:pPr marL="0" indent="0" algn="l">
                        <a:buNone/>
                      </a:pPr>
                      <a:r>
                        <a:rPr lang="en-US" sz="800" dirty="0">
                          <a:solidFill>
                            <a:srgbClr val="1C2B3A"/>
                          </a:solidFill>
                          <a:latin typeface="Calibri" pitchFamily="34" charset="0"/>
                          <a:ea typeface="Calibri" pitchFamily="34" charset="-122"/>
                          <a:cs typeface="Calibri" pitchFamily="34" charset="-120"/>
                        </a:rPr>
                        <a:t>SAM Contour</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4F2EC"/>
                    </a:solidFill>
                  </a:tcPr>
                </a:tc>
                <a:tc>
                  <a:txBody>
                    <a:bodyPr/>
                    <a:lstStyle/>
                    <a:p>
                      <a:pPr marL="0" indent="0" algn="ctr">
                        <a:buNone/>
                      </a:pPr>
                      <a:r>
                        <a:rPr lang="en-US" sz="800" dirty="0">
                          <a:solidFill>
                            <a:srgbClr val="1C2B3A"/>
                          </a:solidFill>
                          <a:latin typeface="Calibri" pitchFamily="34" charset="0"/>
                          <a:ea typeface="Calibri" pitchFamily="34" charset="-122"/>
                          <a:cs typeface="Calibri" pitchFamily="34" charset="-120"/>
                        </a:rPr>
                        <a:t>Structural</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4F2EC"/>
                    </a:solidFill>
                  </a:tcPr>
                </a:tc>
                <a:tc>
                  <a:txBody>
                    <a:bodyPr/>
                    <a:lstStyle/>
                    <a:p>
                      <a:pPr marL="0" indent="0" algn="ctr">
                        <a:buNone/>
                      </a:pPr>
                      <a:r>
                        <a:rPr lang="en-US" sz="800" dirty="0">
                          <a:solidFill>
                            <a:srgbClr val="1C2B3A"/>
                          </a:solidFill>
                          <a:latin typeface="Calibri" pitchFamily="34" charset="0"/>
                          <a:ea typeface="Calibri" pitchFamily="34" charset="-122"/>
                          <a:cs typeface="Calibri" pitchFamily="34" charset="-120"/>
                        </a:rPr>
                        <a:t>73.2%</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4F2EC"/>
                    </a:solidFill>
                  </a:tcPr>
                </a:tc>
                <a:extLst>
                  <a:ext uri="{0D108BD9-81ED-4DB2-BD59-A6C34878D82A}">
                    <a16:rowId xmlns:a16="http://schemas.microsoft.com/office/drawing/2014/main" val="10002"/>
                  </a:ext>
                </a:extLst>
              </a:tr>
              <a:tr h="205740">
                <a:tc>
                  <a:txBody>
                    <a:bodyPr/>
                    <a:lstStyle/>
                    <a:p>
                      <a:pPr marL="0" indent="0" algn="l">
                        <a:buNone/>
                      </a:pPr>
                      <a:r>
                        <a:rPr lang="en-US" sz="800" dirty="0">
                          <a:solidFill>
                            <a:srgbClr val="1C2B3A"/>
                          </a:solidFill>
                          <a:latin typeface="Calibri" pitchFamily="34" charset="0"/>
                          <a:ea typeface="Calibri" pitchFamily="34" charset="-122"/>
                          <a:cs typeface="Calibri" pitchFamily="34" charset="-120"/>
                        </a:rPr>
                        <a:t>Depth Estimation</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C2B3A"/>
                          </a:solidFill>
                          <a:latin typeface="Calibri" pitchFamily="34" charset="0"/>
                          <a:ea typeface="Calibri" pitchFamily="34" charset="-122"/>
                          <a:cs typeface="Calibri" pitchFamily="34" charset="-120"/>
                        </a:rPr>
                        <a:t>Structural</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C2B3A"/>
                          </a:solidFill>
                          <a:latin typeface="Calibri" pitchFamily="34" charset="0"/>
                          <a:ea typeface="Calibri" pitchFamily="34" charset="-122"/>
                          <a:cs typeface="Calibri" pitchFamily="34" charset="-120"/>
                        </a:rPr>
                        <a:t>73.1%</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05740">
                <a:tc>
                  <a:txBody>
                    <a:bodyPr/>
                    <a:lstStyle/>
                    <a:p>
                      <a:pPr marL="0" indent="0" algn="l">
                        <a:buNone/>
                      </a:pPr>
                      <a:r>
                        <a:rPr lang="en-US" sz="800" dirty="0">
                          <a:solidFill>
                            <a:srgbClr val="1C2B3A"/>
                          </a:solidFill>
                          <a:latin typeface="Calibri" pitchFamily="34" charset="0"/>
                          <a:ea typeface="Calibri" pitchFamily="34" charset="-122"/>
                          <a:cs typeface="Calibri" pitchFamily="34" charset="-120"/>
                        </a:rPr>
                        <a:t>Canny Edge Detect.</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4F2EC"/>
                    </a:solidFill>
                  </a:tcPr>
                </a:tc>
                <a:tc>
                  <a:txBody>
                    <a:bodyPr/>
                    <a:lstStyle/>
                    <a:p>
                      <a:pPr marL="0" indent="0" algn="ctr">
                        <a:buNone/>
                      </a:pPr>
                      <a:r>
                        <a:rPr lang="en-US" sz="800" dirty="0">
                          <a:solidFill>
                            <a:srgbClr val="1C2B3A"/>
                          </a:solidFill>
                          <a:latin typeface="Calibri" pitchFamily="34" charset="0"/>
                          <a:ea typeface="Calibri" pitchFamily="34" charset="-122"/>
                          <a:cs typeface="Calibri" pitchFamily="34" charset="-120"/>
                        </a:rPr>
                        <a:t>Structural</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4F2EC"/>
                    </a:solidFill>
                  </a:tcPr>
                </a:tc>
                <a:tc>
                  <a:txBody>
                    <a:bodyPr/>
                    <a:lstStyle/>
                    <a:p>
                      <a:pPr marL="0" indent="0" algn="ctr">
                        <a:buNone/>
                      </a:pPr>
                      <a:r>
                        <a:rPr lang="en-US" sz="800" dirty="0">
                          <a:solidFill>
                            <a:srgbClr val="1C2B3A"/>
                          </a:solidFill>
                          <a:latin typeface="Calibri" pitchFamily="34" charset="0"/>
                          <a:ea typeface="Calibri" pitchFamily="34" charset="-122"/>
                          <a:cs typeface="Calibri" pitchFamily="34" charset="-120"/>
                        </a:rPr>
                        <a:t>71.0%</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4F2EC"/>
                    </a:solidFill>
                  </a:tcPr>
                </a:tc>
                <a:extLst>
                  <a:ext uri="{0D108BD9-81ED-4DB2-BD59-A6C34878D82A}">
                    <a16:rowId xmlns:a16="http://schemas.microsoft.com/office/drawing/2014/main" val="10004"/>
                  </a:ext>
                </a:extLst>
              </a:tr>
              <a:tr h="205740">
                <a:tc>
                  <a:txBody>
                    <a:bodyPr/>
                    <a:lstStyle/>
                    <a:p>
                      <a:pPr marL="0" indent="0" algn="l">
                        <a:buNone/>
                      </a:pPr>
                      <a:r>
                        <a:rPr lang="en-US" sz="800" dirty="0">
                          <a:solidFill>
                            <a:srgbClr val="1C2B3A"/>
                          </a:solidFill>
                          <a:latin typeface="Calibri" pitchFamily="34" charset="0"/>
                          <a:ea typeface="Calibri" pitchFamily="34" charset="-122"/>
                          <a:cs typeface="Calibri" pitchFamily="34" charset="-120"/>
                        </a:rPr>
                        <a:t>High-pass Filter</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C2B3A"/>
                          </a:solidFill>
                          <a:latin typeface="Calibri" pitchFamily="34" charset="0"/>
                          <a:ea typeface="Calibri" pitchFamily="34" charset="-122"/>
                          <a:cs typeface="Calibri" pitchFamily="34" charset="-120"/>
                        </a:rPr>
                        <a:t>Frequency</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C2B3A"/>
                          </a:solidFill>
                          <a:latin typeface="Calibri" pitchFamily="34" charset="0"/>
                          <a:ea typeface="Calibri" pitchFamily="34" charset="-122"/>
                          <a:cs typeface="Calibri" pitchFamily="34" charset="-120"/>
                        </a:rPr>
                        <a:t>79.2%</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05740">
                <a:tc>
                  <a:txBody>
                    <a:bodyPr/>
                    <a:lstStyle/>
                    <a:p>
                      <a:pPr marL="0" indent="0" algn="l">
                        <a:buNone/>
                      </a:pPr>
                      <a:r>
                        <a:rPr lang="en-US" sz="800" dirty="0">
                          <a:solidFill>
                            <a:srgbClr val="1C2B3A"/>
                          </a:solidFill>
                          <a:latin typeface="Calibri" pitchFamily="34" charset="0"/>
                          <a:ea typeface="Calibri" pitchFamily="34" charset="-122"/>
                          <a:cs typeface="Calibri" pitchFamily="34" charset="-120"/>
                        </a:rPr>
                        <a:t>Low-pass Filter</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4F2EC"/>
                    </a:solidFill>
                  </a:tcPr>
                </a:tc>
                <a:tc>
                  <a:txBody>
                    <a:bodyPr/>
                    <a:lstStyle/>
                    <a:p>
                      <a:pPr marL="0" indent="0" algn="ctr">
                        <a:buNone/>
                      </a:pPr>
                      <a:r>
                        <a:rPr lang="en-US" sz="800" dirty="0">
                          <a:solidFill>
                            <a:srgbClr val="1C2B3A"/>
                          </a:solidFill>
                          <a:latin typeface="Calibri" pitchFamily="34" charset="0"/>
                          <a:ea typeface="Calibri" pitchFamily="34" charset="-122"/>
                          <a:cs typeface="Calibri" pitchFamily="34" charset="-120"/>
                        </a:rPr>
                        <a:t>Frequency</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4F2EC"/>
                    </a:solidFill>
                  </a:tcPr>
                </a:tc>
                <a:tc>
                  <a:txBody>
                    <a:bodyPr/>
                    <a:lstStyle/>
                    <a:p>
                      <a:pPr marL="0" indent="0" algn="ctr">
                        <a:buNone/>
                      </a:pPr>
                      <a:r>
                        <a:rPr lang="en-US" sz="800" dirty="0">
                          <a:solidFill>
                            <a:srgbClr val="1C2B3A"/>
                          </a:solidFill>
                          <a:latin typeface="Calibri" pitchFamily="34" charset="0"/>
                          <a:ea typeface="Calibri" pitchFamily="34" charset="-122"/>
                          <a:cs typeface="Calibri" pitchFamily="34" charset="-120"/>
                        </a:rPr>
                        <a:t>70.4%</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4F2EC"/>
                    </a:solidFill>
                  </a:tcPr>
                </a:tc>
                <a:extLst>
                  <a:ext uri="{0D108BD9-81ED-4DB2-BD59-A6C34878D82A}">
                    <a16:rowId xmlns:a16="http://schemas.microsoft.com/office/drawing/2014/main" val="10006"/>
                  </a:ext>
                </a:extLst>
              </a:tr>
              <a:tr h="205740">
                <a:tc>
                  <a:txBody>
                    <a:bodyPr/>
                    <a:lstStyle/>
                    <a:p>
                      <a:pPr marL="0" indent="0" algn="l">
                        <a:buNone/>
                      </a:pPr>
                      <a:r>
                        <a:rPr lang="en-US" sz="800" dirty="0">
                          <a:solidFill>
                            <a:srgbClr val="1C2B3A"/>
                          </a:solidFill>
                          <a:latin typeface="Calibri" pitchFamily="34" charset="0"/>
                          <a:ea typeface="Calibri" pitchFamily="34" charset="-122"/>
                          <a:cs typeface="Calibri" pitchFamily="34" charset="-120"/>
                        </a:rPr>
                        <a:t>Semantic Seg.</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C2B3A"/>
                          </a:solidFill>
                          <a:latin typeface="Calibri" pitchFamily="34" charset="0"/>
                          <a:ea typeface="Calibri" pitchFamily="34" charset="-122"/>
                          <a:cs typeface="Calibri" pitchFamily="34" charset="-120"/>
                        </a:rPr>
                        <a:t>Semantic</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C2B3A"/>
                          </a:solidFill>
                          <a:latin typeface="Calibri" pitchFamily="34" charset="0"/>
                          <a:ea typeface="Calibri" pitchFamily="34" charset="-122"/>
                          <a:cs typeface="Calibri" pitchFamily="34" charset="-120"/>
                        </a:rPr>
                        <a:t>69.8%</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05740">
                <a:tc>
                  <a:txBody>
                    <a:bodyPr/>
                    <a:lstStyle/>
                    <a:p>
                      <a:pPr marL="0" indent="0" algn="l">
                        <a:buNone/>
                      </a:pPr>
                      <a:r>
                        <a:rPr lang="en-US" sz="800" dirty="0">
                          <a:solidFill>
                            <a:srgbClr val="1C2B3A"/>
                          </a:solidFill>
                          <a:latin typeface="Calibri" pitchFamily="34" charset="0"/>
                          <a:ea typeface="Calibri" pitchFamily="34" charset="-122"/>
                          <a:cs typeface="Calibri" pitchFamily="34" charset="-120"/>
                        </a:rPr>
                        <a:t>Captions (long)</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4F2EC"/>
                    </a:solidFill>
                  </a:tcPr>
                </a:tc>
                <a:tc>
                  <a:txBody>
                    <a:bodyPr/>
                    <a:lstStyle/>
                    <a:p>
                      <a:pPr marL="0" indent="0" algn="ctr">
                        <a:buNone/>
                      </a:pPr>
                      <a:r>
                        <a:rPr lang="en-US" sz="800" dirty="0">
                          <a:solidFill>
                            <a:srgbClr val="1C2B3A"/>
                          </a:solidFill>
                          <a:latin typeface="Calibri" pitchFamily="34" charset="0"/>
                          <a:ea typeface="Calibri" pitchFamily="34" charset="-122"/>
                          <a:cs typeface="Calibri" pitchFamily="34" charset="-120"/>
                        </a:rPr>
                        <a:t>Semantic</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4F2EC"/>
                    </a:solidFill>
                  </a:tcPr>
                </a:tc>
                <a:tc>
                  <a:txBody>
                    <a:bodyPr/>
                    <a:lstStyle/>
                    <a:p>
                      <a:pPr marL="0" indent="0" algn="ctr">
                        <a:buNone/>
                      </a:pPr>
                      <a:r>
                        <a:rPr lang="en-US" sz="800" dirty="0">
                          <a:solidFill>
                            <a:srgbClr val="1C2B3A"/>
                          </a:solidFill>
                          <a:latin typeface="Calibri" pitchFamily="34" charset="0"/>
                          <a:ea typeface="Calibri" pitchFamily="34" charset="-122"/>
                          <a:cs typeface="Calibri" pitchFamily="34" charset="-120"/>
                        </a:rPr>
                        <a:t>66.1%</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4F2EC"/>
                    </a:solidFill>
                  </a:tcPr>
                </a:tc>
                <a:extLst>
                  <a:ext uri="{0D108BD9-81ED-4DB2-BD59-A6C34878D82A}">
                    <a16:rowId xmlns:a16="http://schemas.microsoft.com/office/drawing/2014/main" val="10008"/>
                  </a:ext>
                </a:extLst>
              </a:tr>
              <a:tr h="205740">
                <a:tc>
                  <a:txBody>
                    <a:bodyPr/>
                    <a:lstStyle/>
                    <a:p>
                      <a:pPr marL="0" indent="0" algn="l">
                        <a:buNone/>
                      </a:pPr>
                      <a:r>
                        <a:rPr lang="en-US" sz="800" dirty="0">
                          <a:solidFill>
                            <a:srgbClr val="1C2B3A"/>
                          </a:solidFill>
                          <a:latin typeface="Calibri" pitchFamily="34" charset="0"/>
                          <a:ea typeface="Calibri" pitchFamily="34" charset="-122"/>
                          <a:cs typeface="Calibri" pitchFamily="34" charset="-120"/>
                        </a:rPr>
                        <a:t>Object Detection</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C2B3A"/>
                          </a:solidFill>
                          <a:latin typeface="Calibri" pitchFamily="34" charset="0"/>
                          <a:ea typeface="Calibri" pitchFamily="34" charset="-122"/>
                          <a:cs typeface="Calibri" pitchFamily="34" charset="-120"/>
                        </a:rPr>
                        <a:t>Semantic</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C2B3A"/>
                          </a:solidFill>
                          <a:latin typeface="Calibri" pitchFamily="34" charset="0"/>
                          <a:ea typeface="Calibri" pitchFamily="34" charset="-122"/>
                          <a:cs typeface="Calibri" pitchFamily="34" charset="-120"/>
                        </a:rPr>
                        <a:t>61.9%</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05740">
                <a:tc>
                  <a:txBody>
                    <a:bodyPr/>
                    <a:lstStyle/>
                    <a:p>
                      <a:pPr marL="0" indent="0" algn="l">
                        <a:buNone/>
                      </a:pPr>
                      <a:r>
                        <a:rPr lang="en-US" sz="800" dirty="0">
                          <a:latin typeface="Calibri" charset="0"/>
                          <a:ea typeface="Calibri" charset="0"/>
                          <a:cs typeface="Calibri" charset="0"/>
                        </a:rPr>
                        <a:t>VAE</a:t>
                      </a: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4F2EC"/>
                    </a:solidFill>
                  </a:tcPr>
                </a:tc>
                <a:tc>
                  <a:txBody>
                    <a:bodyPr/>
                    <a:lstStyle/>
                    <a:p>
                      <a:pPr marL="0" indent="0" algn="ctr">
                        <a:buNone/>
                      </a:pPr>
                      <a:r>
                        <a:rPr lang="en-US" sz="800" dirty="0">
                          <a:latin typeface="Calibri" charset="0"/>
                          <a:ea typeface="Calibri" charset="0"/>
                          <a:cs typeface="Calibri" charset="0"/>
                        </a:rPr>
                        <a:t>Semantic</a:t>
                      </a: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4F2EC"/>
                    </a:solidFill>
                  </a:tcPr>
                </a:tc>
                <a:tc>
                  <a:txBody>
                    <a:bodyPr/>
                    <a:lstStyle/>
                    <a:p>
                      <a:pPr marL="0" indent="0" algn="ctr">
                        <a:buNone/>
                      </a:pPr>
                      <a:r>
                        <a:rPr lang="en-US" sz="800" dirty="0">
                          <a:latin typeface="Calibri" charset="0"/>
                          <a:ea typeface="Calibri" charset="0"/>
                          <a:cs typeface="Calibri" charset="0"/>
                        </a:rPr>
                        <a:t>77.4%</a:t>
                      </a: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4F2EC"/>
                    </a:solidFill>
                  </a:tcPr>
                </a:tc>
                <a:extLst>
                  <a:ext uri="{0D108BD9-81ED-4DB2-BD59-A6C34878D82A}">
                    <a16:rowId xmlns:a16="http://schemas.microsoft.com/office/drawing/2014/main" val="1373139201"/>
                  </a:ext>
                </a:extLst>
              </a:tr>
              <a:tr h="205740">
                <a:tc>
                  <a:txBody>
                    <a:bodyPr/>
                    <a:lstStyle/>
                    <a:p>
                      <a:pPr marL="0" indent="0" algn="l">
                        <a:buNone/>
                      </a:pPr>
                      <a:r>
                        <a:rPr lang="en-US" sz="800" dirty="0">
                          <a:solidFill>
                            <a:srgbClr val="1C2B3A"/>
                          </a:solidFill>
                          <a:latin typeface="Calibri" pitchFamily="34" charset="0"/>
                          <a:ea typeface="Calibri" pitchFamily="34" charset="-122"/>
                          <a:cs typeface="Calibri" pitchFamily="34" charset="-120"/>
                        </a:rPr>
                        <a:t>Patch Shuffle 16×16</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chemeClr val="bg1"/>
                    </a:solidFill>
                  </a:tcPr>
                </a:tc>
                <a:tc>
                  <a:txBody>
                    <a:bodyPr/>
                    <a:lstStyle/>
                    <a:p>
                      <a:pPr marL="0" indent="0" algn="ctr">
                        <a:buNone/>
                      </a:pPr>
                      <a:r>
                        <a:rPr lang="en-US" sz="800" dirty="0">
                          <a:solidFill>
                            <a:srgbClr val="1C2B3A"/>
                          </a:solidFill>
                          <a:latin typeface="Calibri" pitchFamily="34" charset="0"/>
                          <a:ea typeface="Calibri" pitchFamily="34" charset="-122"/>
                          <a:cs typeface="Calibri" pitchFamily="34" charset="-120"/>
                        </a:rPr>
                        <a:t>Spatial</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chemeClr val="bg1"/>
                    </a:solidFill>
                  </a:tcPr>
                </a:tc>
                <a:tc>
                  <a:txBody>
                    <a:bodyPr/>
                    <a:lstStyle/>
                    <a:p>
                      <a:pPr marL="0" indent="0" algn="ctr">
                        <a:buNone/>
                      </a:pPr>
                      <a:r>
                        <a:rPr lang="en-US" sz="800" dirty="0">
                          <a:solidFill>
                            <a:srgbClr val="1C2B3A"/>
                          </a:solidFill>
                          <a:latin typeface="Calibri" pitchFamily="34" charset="0"/>
                          <a:ea typeface="Calibri" pitchFamily="34" charset="-122"/>
                          <a:cs typeface="Calibri" pitchFamily="34" charset="-120"/>
                        </a:rPr>
                        <a:t>81.2%</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r h="205740">
                <a:tc>
                  <a:txBody>
                    <a:bodyPr/>
                    <a:lstStyle/>
                    <a:p>
                      <a:pPr marL="0" indent="0" algn="l">
                        <a:buNone/>
                      </a:pPr>
                      <a:r>
                        <a:rPr lang="en-US" sz="800" dirty="0">
                          <a:solidFill>
                            <a:srgbClr val="1C2B3A"/>
                          </a:solidFill>
                          <a:latin typeface="Calibri" pitchFamily="34" charset="0"/>
                          <a:ea typeface="Calibri" pitchFamily="34" charset="-122"/>
                          <a:cs typeface="Calibri" pitchFamily="34" charset="-120"/>
                        </a:rPr>
                        <a:t>Pixel Shuffle</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4F2EC"/>
                    </a:solidFill>
                  </a:tcPr>
                </a:tc>
                <a:tc>
                  <a:txBody>
                    <a:bodyPr/>
                    <a:lstStyle/>
                    <a:p>
                      <a:pPr marL="0" indent="0" algn="ctr">
                        <a:buNone/>
                      </a:pPr>
                      <a:r>
                        <a:rPr lang="en-US" sz="800" dirty="0">
                          <a:solidFill>
                            <a:srgbClr val="1C2B3A"/>
                          </a:solidFill>
                          <a:latin typeface="Calibri" pitchFamily="34" charset="0"/>
                          <a:ea typeface="Calibri" pitchFamily="34" charset="-122"/>
                          <a:cs typeface="Calibri" pitchFamily="34" charset="-120"/>
                        </a:rPr>
                        <a:t>Spatial</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4F2EC"/>
                    </a:solidFill>
                  </a:tcPr>
                </a:tc>
                <a:tc>
                  <a:txBody>
                    <a:bodyPr/>
                    <a:lstStyle/>
                    <a:p>
                      <a:pPr marL="0" indent="0" algn="ctr">
                        <a:buNone/>
                      </a:pPr>
                      <a:r>
                        <a:rPr lang="en-US" sz="800" dirty="0">
                          <a:solidFill>
                            <a:srgbClr val="1C2B3A"/>
                          </a:solidFill>
                          <a:latin typeface="Calibri" pitchFamily="34" charset="0"/>
                          <a:ea typeface="Calibri" pitchFamily="34" charset="-122"/>
                          <a:cs typeface="Calibri" pitchFamily="34" charset="-120"/>
                        </a:rPr>
                        <a:t>52.2%</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4F2EC"/>
                    </a:solidFill>
                  </a:tcPr>
                </a:tc>
                <a:extLst>
                  <a:ext uri="{0D108BD9-81ED-4DB2-BD59-A6C34878D82A}">
                    <a16:rowId xmlns:a16="http://schemas.microsoft.com/office/drawing/2014/main" val="10011"/>
                  </a:ext>
                </a:extLst>
              </a:tr>
              <a:tr h="205740">
                <a:tc>
                  <a:txBody>
                    <a:bodyPr/>
                    <a:lstStyle/>
                    <a:p>
                      <a:pPr marL="0" indent="0" algn="l">
                        <a:buNone/>
                      </a:pPr>
                      <a:r>
                        <a:rPr lang="en-US" sz="800" dirty="0">
                          <a:solidFill>
                            <a:srgbClr val="1C2B3A"/>
                          </a:solidFill>
                          <a:latin typeface="Calibri" pitchFamily="34" charset="0"/>
                          <a:ea typeface="Calibri" pitchFamily="34" charset="-122"/>
                          <a:cs typeface="Calibri" pitchFamily="34" charset="-120"/>
                        </a:rPr>
                        <a:t>Mean RGB</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chemeClr val="bg1"/>
                    </a:solidFill>
                  </a:tcPr>
                </a:tc>
                <a:tc>
                  <a:txBody>
                    <a:bodyPr/>
                    <a:lstStyle/>
                    <a:p>
                      <a:pPr marL="0" indent="0" algn="ctr">
                        <a:buNone/>
                      </a:pPr>
                      <a:r>
                        <a:rPr lang="en-US" sz="800" dirty="0">
                          <a:solidFill>
                            <a:srgbClr val="1C2B3A"/>
                          </a:solidFill>
                          <a:latin typeface="Calibri" pitchFamily="34" charset="0"/>
                          <a:ea typeface="Calibri" pitchFamily="34" charset="-122"/>
                          <a:cs typeface="Calibri" pitchFamily="34" charset="-120"/>
                        </a:rPr>
                        <a:t>Colour</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chemeClr val="bg1"/>
                    </a:solidFill>
                  </a:tcPr>
                </a:tc>
                <a:tc>
                  <a:txBody>
                    <a:bodyPr/>
                    <a:lstStyle/>
                    <a:p>
                      <a:pPr marL="0" indent="0" algn="ctr">
                        <a:buNone/>
                      </a:pPr>
                      <a:r>
                        <a:rPr lang="en-US" sz="800" dirty="0">
                          <a:solidFill>
                            <a:srgbClr val="1C2B3A"/>
                          </a:solidFill>
                          <a:latin typeface="Calibri" pitchFamily="34" charset="0"/>
                          <a:ea typeface="Calibri" pitchFamily="34" charset="-122"/>
                          <a:cs typeface="Calibri" pitchFamily="34" charset="-120"/>
                        </a:rPr>
                        <a:t>48.5%</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chemeClr val="bg1"/>
                    </a:solidFill>
                  </a:tcPr>
                </a:tc>
                <a:extLst>
                  <a:ext uri="{0D108BD9-81ED-4DB2-BD59-A6C34878D82A}">
                    <a16:rowId xmlns:a16="http://schemas.microsoft.com/office/drawing/2014/main" val="10012"/>
                  </a:ext>
                </a:extLst>
              </a:tr>
              <a:tr h="205740">
                <a:tc>
                  <a:txBody>
                    <a:bodyPr/>
                    <a:lstStyle/>
                    <a:p>
                      <a:pPr marL="0" indent="0" algn="l">
                        <a:buNone/>
                      </a:pPr>
                      <a:r>
                        <a:rPr lang="en-US" sz="800" dirty="0">
                          <a:solidFill>
                            <a:srgbClr val="1C2B3A"/>
                          </a:solidFill>
                          <a:latin typeface="Calibri" pitchFamily="34" charset="0"/>
                          <a:ea typeface="Calibri" pitchFamily="34" charset="-122"/>
                          <a:cs typeface="Calibri" pitchFamily="34" charset="-120"/>
                        </a:rPr>
                        <a:t>DiT Synth. (uncond.)</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4F2EC"/>
                    </a:solidFill>
                  </a:tcPr>
                </a:tc>
                <a:tc>
                  <a:txBody>
                    <a:bodyPr/>
                    <a:lstStyle/>
                    <a:p>
                      <a:pPr marL="0" indent="0" algn="ctr">
                        <a:buNone/>
                      </a:pPr>
                      <a:r>
                        <a:rPr lang="en-US" sz="800" dirty="0">
                          <a:solidFill>
                            <a:srgbClr val="1C2B3A"/>
                          </a:solidFill>
                          <a:latin typeface="Calibri" pitchFamily="34" charset="0"/>
                          <a:ea typeface="Calibri" pitchFamily="34" charset="-122"/>
                          <a:cs typeface="Calibri" pitchFamily="34" charset="-120"/>
                        </a:rPr>
                        <a:t>Generative</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4F2EC"/>
                    </a:solidFill>
                  </a:tcPr>
                </a:tc>
                <a:tc>
                  <a:txBody>
                    <a:bodyPr/>
                    <a:lstStyle/>
                    <a:p>
                      <a:pPr marL="0" indent="0" algn="ctr">
                        <a:buNone/>
                      </a:pPr>
                      <a:r>
                        <a:rPr lang="en-US" sz="800" dirty="0">
                          <a:solidFill>
                            <a:srgbClr val="1C2B3A"/>
                          </a:solidFill>
                          <a:latin typeface="Calibri" pitchFamily="34" charset="0"/>
                          <a:ea typeface="Calibri" pitchFamily="34" charset="-122"/>
                          <a:cs typeface="Calibri" pitchFamily="34" charset="-120"/>
                        </a:rPr>
                        <a:t>77.6%</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4F2EC"/>
                    </a:solidFill>
                  </a:tcPr>
                </a:tc>
                <a:extLst>
                  <a:ext uri="{0D108BD9-81ED-4DB2-BD59-A6C34878D82A}">
                    <a16:rowId xmlns:a16="http://schemas.microsoft.com/office/drawing/2014/main" val="10013"/>
                  </a:ext>
                </a:extLst>
              </a:tr>
            </a:tbl>
          </a:graphicData>
        </a:graphic>
      </p:graphicFrame>
      <p:sp>
        <p:nvSpPr>
          <p:cNvPr id="10" name="Shape 7"/>
          <p:cNvSpPr/>
          <p:nvPr/>
        </p:nvSpPr>
        <p:spPr>
          <a:xfrm>
            <a:off x="4663440" y="850392"/>
            <a:ext cx="4206240" cy="4059936"/>
          </a:xfrm>
          <a:prstGeom prst="rect">
            <a:avLst/>
          </a:prstGeom>
          <a:solidFill>
            <a:srgbClr val="FFFFFF"/>
          </a:solidFill>
          <a:ln w="12700">
            <a:solidFill>
              <a:srgbClr val="E8E4DC"/>
            </a:solidFill>
            <a:prstDash val="solid"/>
          </a:ln>
          <a:effectLst>
            <a:outerShdw blurRad="63500" dist="25400" dir="8100000" algn="bl" rotWithShape="0">
              <a:srgbClr val="000000">
                <a:alpha val="10000"/>
              </a:srgbClr>
            </a:outerShdw>
          </a:effectLst>
        </p:spPr>
        <p:txBody>
          <a:bodyPr/>
          <a:lstStyle/>
          <a:p>
            <a:endParaRPr lang="en-MT"/>
          </a:p>
        </p:txBody>
      </p:sp>
      <p:sp>
        <p:nvSpPr>
          <p:cNvPr id="11" name="Shape 8"/>
          <p:cNvSpPr/>
          <p:nvPr/>
        </p:nvSpPr>
        <p:spPr>
          <a:xfrm>
            <a:off x="4663440" y="850392"/>
            <a:ext cx="4206240" cy="64008"/>
          </a:xfrm>
          <a:prstGeom prst="rect">
            <a:avLst/>
          </a:prstGeom>
          <a:solidFill>
            <a:srgbClr val="C9A84C"/>
          </a:solidFill>
          <a:ln w="12700">
            <a:solidFill>
              <a:srgbClr val="C9A84C"/>
            </a:solidFill>
            <a:prstDash val="solid"/>
          </a:ln>
        </p:spPr>
        <p:txBody>
          <a:bodyPr/>
          <a:lstStyle/>
          <a:p>
            <a:endParaRPr lang="en-MT"/>
          </a:p>
        </p:txBody>
      </p:sp>
      <p:sp>
        <p:nvSpPr>
          <p:cNvPr id="12" name="Text 9"/>
          <p:cNvSpPr/>
          <p:nvPr/>
        </p:nvSpPr>
        <p:spPr>
          <a:xfrm>
            <a:off x="4800600" y="941832"/>
            <a:ext cx="3931920" cy="201168"/>
          </a:xfrm>
          <a:prstGeom prst="rect">
            <a:avLst/>
          </a:prstGeom>
          <a:noFill/>
          <a:ln/>
        </p:spPr>
        <p:txBody>
          <a:bodyPr wrap="square" rtlCol="0" anchor="ctr"/>
          <a:lstStyle/>
          <a:p>
            <a:pPr marL="0" indent="0">
              <a:buNone/>
            </a:pPr>
            <a:r>
              <a:rPr lang="en-US" sz="850" b="1" kern="0" spc="120" dirty="0">
                <a:solidFill>
                  <a:srgbClr val="9A7D30"/>
                </a:solidFill>
                <a:latin typeface="Calibri" pitchFamily="34" charset="0"/>
                <a:ea typeface="Calibri" pitchFamily="34" charset="-122"/>
                <a:cs typeface="Calibri" pitchFamily="34" charset="-120"/>
              </a:rPr>
              <a:t>MEISTER ET AL.  (ICCV 2023)</a:t>
            </a:r>
            <a:endParaRPr lang="en-US" sz="850" dirty="0"/>
          </a:p>
        </p:txBody>
      </p:sp>
      <p:sp>
        <p:nvSpPr>
          <p:cNvPr id="13" name="Text 10"/>
          <p:cNvSpPr/>
          <p:nvPr/>
        </p:nvSpPr>
        <p:spPr>
          <a:xfrm>
            <a:off x="4800600" y="1124712"/>
            <a:ext cx="3931920" cy="274320"/>
          </a:xfrm>
          <a:prstGeom prst="rect">
            <a:avLst/>
          </a:prstGeom>
          <a:noFill/>
          <a:ln/>
        </p:spPr>
        <p:txBody>
          <a:bodyPr wrap="square" rtlCol="0" anchor="ctr"/>
          <a:lstStyle/>
          <a:p>
            <a:pPr marL="0" indent="0">
              <a:buNone/>
            </a:pPr>
            <a:r>
              <a:rPr lang="en-US" sz="1100" b="1" i="1" dirty="0">
                <a:solidFill>
                  <a:srgbClr val="1B3A5C"/>
                </a:solidFill>
                <a:latin typeface="Georgia" pitchFamily="34" charset="0"/>
                <a:ea typeface="Georgia" pitchFamily="34" charset="-122"/>
                <a:cs typeface="Georgia" pitchFamily="34" charset="-120"/>
              </a:rPr>
              <a:t>Gender Artifacts in Visual Datasets</a:t>
            </a:r>
            <a:endParaRPr lang="en-US" sz="1100" dirty="0"/>
          </a:p>
        </p:txBody>
      </p:sp>
      <p:sp>
        <p:nvSpPr>
          <p:cNvPr id="14" name="Text 11"/>
          <p:cNvSpPr/>
          <p:nvPr/>
        </p:nvSpPr>
        <p:spPr>
          <a:xfrm>
            <a:off x="4800600" y="1417320"/>
            <a:ext cx="3931920" cy="347472"/>
          </a:xfrm>
          <a:prstGeom prst="rect">
            <a:avLst/>
          </a:prstGeom>
          <a:noFill/>
          <a:ln/>
        </p:spPr>
        <p:txBody>
          <a:bodyPr wrap="square" rtlCol="0" anchor="ctr"/>
          <a:lstStyle/>
          <a:p>
            <a:pPr marL="0" indent="0">
              <a:lnSpc>
                <a:spcPct val="115000"/>
              </a:lnSpc>
              <a:buNone/>
            </a:pPr>
            <a:r>
              <a:rPr lang="en-US" sz="850" b="1" dirty="0">
                <a:solidFill>
                  <a:srgbClr val="1C2B3A"/>
                </a:solidFill>
                <a:latin typeface="Calibri" pitchFamily="34" charset="0"/>
                <a:ea typeface="Calibri" pitchFamily="34" charset="-122"/>
                <a:cs typeface="Calibri" pitchFamily="34" charset="-120"/>
              </a:rPr>
              <a:t>Framework:</a:t>
            </a:r>
            <a:r>
              <a:rPr lang="en-US" sz="850" dirty="0">
                <a:solidFill>
                  <a:srgbClr val="1C2B3A"/>
                </a:solidFill>
                <a:latin typeface="Calibri" pitchFamily="34" charset="0"/>
                <a:ea typeface="Calibri" pitchFamily="34" charset="-122"/>
                <a:cs typeface="Calibri" pitchFamily="34" charset="-120"/>
              </a:rPr>
              <a:t> AUC-based gender artifact probing via ResNet-50 on COCO &amp; OpenImages under systematic occlusion conditions. AUC 50% = chance.</a:t>
            </a:r>
            <a:endParaRPr lang="en-US" sz="850" dirty="0"/>
          </a:p>
        </p:txBody>
      </p:sp>
      <p:graphicFrame>
        <p:nvGraphicFramePr>
          <p:cNvPr id="15" name="Table 1"/>
          <p:cNvGraphicFramePr>
            <a:graphicFrameLocks noGrp="1"/>
          </p:cNvGraphicFramePr>
          <p:nvPr>
            <p:extLst>
              <p:ext uri="{D42A27DB-BD31-4B8C-83A1-F6EECF244321}">
                <p14:modId xmlns:p14="http://schemas.microsoft.com/office/powerpoint/2010/main" val="4067875457"/>
              </p:ext>
            </p:extLst>
          </p:nvPr>
        </p:nvGraphicFramePr>
        <p:xfrm>
          <a:off x="4736592" y="1792224"/>
          <a:ext cx="4059936" cy="2468880"/>
        </p:xfrm>
        <a:graphic>
          <a:graphicData uri="http://schemas.openxmlformats.org/drawingml/2006/table">
            <a:tbl>
              <a:tblPr/>
              <a:tblGrid>
                <a:gridCol w="2011680">
                  <a:extLst>
                    <a:ext uri="{9D8B030D-6E8A-4147-A177-3AD203B41FA5}">
                      <a16:colId xmlns:a16="http://schemas.microsoft.com/office/drawing/2014/main" val="20000"/>
                    </a:ext>
                  </a:extLst>
                </a:gridCol>
                <a:gridCol w="1024128">
                  <a:extLst>
                    <a:ext uri="{9D8B030D-6E8A-4147-A177-3AD203B41FA5}">
                      <a16:colId xmlns:a16="http://schemas.microsoft.com/office/drawing/2014/main" val="20001"/>
                    </a:ext>
                  </a:extLst>
                </a:gridCol>
                <a:gridCol w="1024128">
                  <a:extLst>
                    <a:ext uri="{9D8B030D-6E8A-4147-A177-3AD203B41FA5}">
                      <a16:colId xmlns:a16="http://schemas.microsoft.com/office/drawing/2014/main" val="20002"/>
                    </a:ext>
                  </a:extLst>
                </a:gridCol>
              </a:tblGrid>
              <a:tr h="205740">
                <a:tc>
                  <a:txBody>
                    <a:bodyPr/>
                    <a:lstStyle/>
                    <a:p>
                      <a:pPr marL="0" indent="0" algn="l">
                        <a:buNone/>
                      </a:pPr>
                      <a:r>
                        <a:rPr lang="en-US" sz="800" b="1" dirty="0">
                          <a:solidFill>
                            <a:srgbClr val="FFFFFF"/>
                          </a:solidFill>
                          <a:latin typeface="Calibri" pitchFamily="34" charset="0"/>
                          <a:ea typeface="Calibri" pitchFamily="34" charset="-122"/>
                          <a:cs typeface="Calibri" pitchFamily="34" charset="-120"/>
                        </a:rPr>
                        <a:t>Occlusion Condition</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1B3A5C"/>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COCO AUC</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1B3A5C"/>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OpenImages</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1B3A5C"/>
                    </a:solidFill>
                  </a:tcPr>
                </a:tc>
                <a:extLst>
                  <a:ext uri="{0D108BD9-81ED-4DB2-BD59-A6C34878D82A}">
                    <a16:rowId xmlns:a16="http://schemas.microsoft.com/office/drawing/2014/main" val="10000"/>
                  </a:ext>
                </a:extLst>
              </a:tr>
              <a:tr h="205740">
                <a:tc>
                  <a:txBody>
                    <a:bodyPr/>
                    <a:lstStyle/>
                    <a:p>
                      <a:pPr marL="0" indent="0" algn="l">
                        <a:buNone/>
                      </a:pPr>
                      <a:r>
                        <a:rPr lang="en-US" sz="800" dirty="0">
                          <a:solidFill>
                            <a:srgbClr val="1C2B3A"/>
                          </a:solidFill>
                          <a:latin typeface="Calibri" pitchFamily="34" charset="0"/>
                          <a:ea typeface="Calibri" pitchFamily="34" charset="-122"/>
                          <a:cs typeface="Calibri" pitchFamily="34" charset="-120"/>
                        </a:rPr>
                        <a:t>Full image (no occlusion)</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EAF4F0"/>
                    </a:solidFill>
                  </a:tcPr>
                </a:tc>
                <a:tc>
                  <a:txBody>
                    <a:bodyPr/>
                    <a:lstStyle/>
                    <a:p>
                      <a:pPr marL="0" indent="0" algn="ctr">
                        <a:buNone/>
                      </a:pPr>
                      <a:r>
                        <a:rPr lang="en-US" sz="800" b="1" dirty="0">
                          <a:solidFill>
                            <a:srgbClr val="0D7A8A"/>
                          </a:solidFill>
                          <a:latin typeface="Calibri" pitchFamily="34" charset="0"/>
                          <a:ea typeface="Calibri" pitchFamily="34" charset="-122"/>
                          <a:cs typeface="Calibri" pitchFamily="34" charset="-120"/>
                        </a:rPr>
                        <a:t>93.4%</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EAF4F0"/>
                    </a:solidFill>
                  </a:tcPr>
                </a:tc>
                <a:tc>
                  <a:txBody>
                    <a:bodyPr/>
                    <a:lstStyle/>
                    <a:p>
                      <a:pPr marL="0" indent="0" algn="ctr">
                        <a:buNone/>
                      </a:pPr>
                      <a:r>
                        <a:rPr lang="en-US" sz="800" dirty="0">
                          <a:solidFill>
                            <a:srgbClr val="1C2B3A"/>
                          </a:solidFill>
                          <a:latin typeface="Calibri" pitchFamily="34" charset="0"/>
                          <a:ea typeface="Calibri" pitchFamily="34" charset="-122"/>
                          <a:cs typeface="Calibri" pitchFamily="34" charset="-120"/>
                        </a:rPr>
                        <a:t>81.2%</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EAF4F0"/>
                    </a:solidFill>
                  </a:tcPr>
                </a:tc>
                <a:extLst>
                  <a:ext uri="{0D108BD9-81ED-4DB2-BD59-A6C34878D82A}">
                    <a16:rowId xmlns:a16="http://schemas.microsoft.com/office/drawing/2014/main" val="10001"/>
                  </a:ext>
                </a:extLst>
              </a:tr>
              <a:tr h="205740">
                <a:tc>
                  <a:txBody>
                    <a:bodyPr/>
                    <a:lstStyle/>
                    <a:p>
                      <a:pPr marL="0" indent="0" algn="l">
                        <a:buNone/>
                      </a:pPr>
                      <a:r>
                        <a:rPr lang="en-US" sz="800" dirty="0">
                          <a:solidFill>
                            <a:srgbClr val="1C2B3A"/>
                          </a:solidFill>
                          <a:latin typeface="Calibri" pitchFamily="34" charset="0"/>
                          <a:ea typeface="Calibri" pitchFamily="34" charset="-122"/>
                          <a:cs typeface="Calibri" pitchFamily="34" charset="-120"/>
                        </a:rPr>
                        <a:t>Full, background removed</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4F2EC"/>
                    </a:solidFill>
                  </a:tcPr>
                </a:tc>
                <a:tc>
                  <a:txBody>
                    <a:bodyPr/>
                    <a:lstStyle/>
                    <a:p>
                      <a:pPr marL="0" indent="0" algn="ctr">
                        <a:buNone/>
                      </a:pPr>
                      <a:r>
                        <a:rPr lang="en-US" sz="800" dirty="0">
                          <a:solidFill>
                            <a:srgbClr val="1C2B3A"/>
                          </a:solidFill>
                          <a:latin typeface="Calibri" pitchFamily="34" charset="0"/>
                          <a:ea typeface="Calibri" pitchFamily="34" charset="-122"/>
                          <a:cs typeface="Calibri" pitchFamily="34" charset="-120"/>
                        </a:rPr>
                        <a:t>92.7%</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4F2EC"/>
                    </a:solidFill>
                  </a:tcPr>
                </a:tc>
                <a:tc>
                  <a:txBody>
                    <a:bodyPr/>
                    <a:lstStyle/>
                    <a:p>
                      <a:pPr marL="0" indent="0" algn="ctr">
                        <a:buNone/>
                      </a:pPr>
                      <a:r>
                        <a:rPr lang="en-US" sz="800" dirty="0">
                          <a:solidFill>
                            <a:srgbClr val="1C2B3A"/>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4F2EC"/>
                    </a:solidFill>
                  </a:tcPr>
                </a:tc>
                <a:extLst>
                  <a:ext uri="{0D108BD9-81ED-4DB2-BD59-A6C34878D82A}">
                    <a16:rowId xmlns:a16="http://schemas.microsoft.com/office/drawing/2014/main" val="10002"/>
                  </a:ext>
                </a:extLst>
              </a:tr>
              <a:tr h="205740">
                <a:tc>
                  <a:txBody>
                    <a:bodyPr/>
                    <a:lstStyle/>
                    <a:p>
                      <a:pPr marL="0" indent="0" algn="l">
                        <a:buNone/>
                      </a:pPr>
                      <a:r>
                        <a:rPr lang="en-US" sz="800" dirty="0">
                          <a:solidFill>
                            <a:srgbClr val="1C2B3A"/>
                          </a:solidFill>
                          <a:latin typeface="Calibri" pitchFamily="34" charset="0"/>
                          <a:ea typeface="Calibri" pitchFamily="34" charset="-122"/>
                          <a:cs typeface="Calibri" pitchFamily="34" charset="-120"/>
                        </a:rPr>
                        <a:t>Person → segm. mask</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C2B3A"/>
                          </a:solidFill>
                          <a:latin typeface="Calibri" pitchFamily="34" charset="0"/>
                          <a:ea typeface="Calibri" pitchFamily="34" charset="-122"/>
                          <a:cs typeface="Calibri" pitchFamily="34" charset="-120"/>
                        </a:rPr>
                        <a:t>79.6%</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C2B3A"/>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05740">
                <a:tc>
                  <a:txBody>
                    <a:bodyPr/>
                    <a:lstStyle/>
                    <a:p>
                      <a:pPr marL="0" indent="0" algn="l">
                        <a:buNone/>
                      </a:pPr>
                      <a:r>
                        <a:rPr lang="en-US" sz="800" dirty="0">
                          <a:solidFill>
                            <a:srgbClr val="1C2B3A"/>
                          </a:solidFill>
                          <a:latin typeface="Calibri" pitchFamily="34" charset="0"/>
                          <a:ea typeface="Calibri" pitchFamily="34" charset="-122"/>
                          <a:cs typeface="Calibri" pitchFamily="34" charset="-120"/>
                        </a:rPr>
                        <a:t>Person → segm. mask, no bg</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4F2EC"/>
                    </a:solidFill>
                  </a:tcPr>
                </a:tc>
                <a:tc>
                  <a:txBody>
                    <a:bodyPr/>
                    <a:lstStyle/>
                    <a:p>
                      <a:pPr marL="0" indent="0" algn="ctr">
                        <a:buNone/>
                      </a:pPr>
                      <a:r>
                        <a:rPr lang="en-US" sz="800" dirty="0">
                          <a:solidFill>
                            <a:srgbClr val="1C2B3A"/>
                          </a:solidFill>
                          <a:latin typeface="Calibri" pitchFamily="34" charset="0"/>
                          <a:ea typeface="Calibri" pitchFamily="34" charset="-122"/>
                          <a:cs typeface="Calibri" pitchFamily="34" charset="-120"/>
                        </a:rPr>
                        <a:t>74.8%</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4F2EC"/>
                    </a:solidFill>
                  </a:tcPr>
                </a:tc>
                <a:tc>
                  <a:txBody>
                    <a:bodyPr/>
                    <a:lstStyle/>
                    <a:p>
                      <a:pPr marL="0" indent="0" algn="ctr">
                        <a:buNone/>
                      </a:pPr>
                      <a:r>
                        <a:rPr lang="en-US" sz="800" dirty="0">
                          <a:solidFill>
                            <a:srgbClr val="1C2B3A"/>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4F2EC"/>
                    </a:solidFill>
                  </a:tcPr>
                </a:tc>
                <a:extLst>
                  <a:ext uri="{0D108BD9-81ED-4DB2-BD59-A6C34878D82A}">
                    <a16:rowId xmlns:a16="http://schemas.microsoft.com/office/drawing/2014/main" val="10004"/>
                  </a:ext>
                </a:extLst>
              </a:tr>
              <a:tr h="205740">
                <a:tc>
                  <a:txBody>
                    <a:bodyPr/>
                    <a:lstStyle/>
                    <a:p>
                      <a:pPr marL="0" indent="0" algn="l">
                        <a:buNone/>
                      </a:pPr>
                      <a:r>
                        <a:rPr lang="en-US" sz="800" dirty="0">
                          <a:solidFill>
                            <a:srgbClr val="1C2B3A"/>
                          </a:solidFill>
                          <a:latin typeface="Calibri" pitchFamily="34" charset="0"/>
                          <a:ea typeface="Calibri" pitchFamily="34" charset="-122"/>
                          <a:cs typeface="Calibri" pitchFamily="34" charset="-120"/>
                        </a:rPr>
                        <a:t>Person → bounding box</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FFFFF"/>
                    </a:solidFill>
                  </a:tcPr>
                </a:tc>
                <a:tc>
                  <a:txBody>
                    <a:bodyPr/>
                    <a:lstStyle/>
                    <a:p>
                      <a:pPr marL="0" indent="0" algn="ctr" defTabSz="914400" rtl="0" eaLnBrk="1" latinLnBrk="0" hangingPunct="1">
                        <a:buNone/>
                      </a:pPr>
                      <a:r>
                        <a:rPr lang="en-US" sz="800" kern="1200" dirty="0">
                          <a:solidFill>
                            <a:srgbClr val="1C2B3A"/>
                          </a:solidFill>
                          <a:latin typeface="Calibri" pitchFamily="34" charset="0"/>
                          <a:ea typeface="Calibri" pitchFamily="34" charset="-122"/>
                          <a:cs typeface="Calibri" pitchFamily="34" charset="-120"/>
                        </a:rPr>
                        <a:t>70.8%</a:t>
                      </a:r>
                      <a:endParaRPr lang="en-US" sz="800" kern="1200" dirty="0">
                        <a:solidFill>
                          <a:srgbClr val="1C2B3A"/>
                        </a:solidFill>
                        <a:latin typeface="Calibri" pitchFamily="34" charset="0"/>
                        <a:ea typeface="Calibri" charset="0"/>
                        <a:cs typeface="Calibri" pitchFamily="34" charset="-12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C2B3A"/>
                          </a:solidFill>
                          <a:latin typeface="Calibri" pitchFamily="34" charset="0"/>
                          <a:ea typeface="Calibri" pitchFamily="34" charset="-122"/>
                          <a:cs typeface="Calibri" pitchFamily="34" charset="-120"/>
                        </a:rPr>
                        <a:t>63.1%</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05740">
                <a:tc>
                  <a:txBody>
                    <a:bodyPr/>
                    <a:lstStyle/>
                    <a:p>
                      <a:pPr marL="0" indent="0" algn="l">
                        <a:buNone/>
                      </a:pPr>
                      <a:r>
                        <a:rPr lang="en-US" sz="800" dirty="0">
                          <a:solidFill>
                            <a:srgbClr val="1C2B3A"/>
                          </a:solidFill>
                          <a:latin typeface="Calibri" pitchFamily="34" charset="0"/>
                          <a:ea typeface="Calibri" pitchFamily="34" charset="-122"/>
                          <a:cs typeface="Calibri" pitchFamily="34" charset="-120"/>
                        </a:rPr>
                        <a:t>Person → bbox, no bg</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4F2EC"/>
                    </a:solidFill>
                  </a:tcPr>
                </a:tc>
                <a:tc>
                  <a:txBody>
                    <a:bodyPr/>
                    <a:lstStyle/>
                    <a:p>
                      <a:pPr marL="0" indent="0" algn="ctr">
                        <a:buNone/>
                      </a:pPr>
                      <a:r>
                        <a:rPr lang="en-US" sz="800" dirty="0">
                          <a:solidFill>
                            <a:srgbClr val="1C2B3A"/>
                          </a:solidFill>
                          <a:latin typeface="Calibri" pitchFamily="34" charset="0"/>
                          <a:ea typeface="Calibri" pitchFamily="34" charset="-122"/>
                          <a:cs typeface="Calibri" pitchFamily="34" charset="-120"/>
                        </a:rPr>
                        <a:t>58.0%</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4F2EC"/>
                    </a:solidFill>
                  </a:tcPr>
                </a:tc>
                <a:tc>
                  <a:txBody>
                    <a:bodyPr/>
                    <a:lstStyle/>
                    <a:p>
                      <a:pPr marL="0" indent="0" algn="ctr">
                        <a:buNone/>
                      </a:pPr>
                      <a:r>
                        <a:rPr lang="en-US" sz="800" dirty="0">
                          <a:solidFill>
                            <a:srgbClr val="1C2B3A"/>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4F2EC"/>
                    </a:solidFill>
                  </a:tcPr>
                </a:tc>
                <a:extLst>
                  <a:ext uri="{0D108BD9-81ED-4DB2-BD59-A6C34878D82A}">
                    <a16:rowId xmlns:a16="http://schemas.microsoft.com/office/drawing/2014/main" val="10006"/>
                  </a:ext>
                </a:extLst>
              </a:tr>
              <a:tr h="205740">
                <a:tc>
                  <a:txBody>
                    <a:bodyPr/>
                    <a:lstStyle/>
                    <a:p>
                      <a:pPr marL="0" indent="0" algn="l">
                        <a:buNone/>
                      </a:pPr>
                      <a:r>
                        <a:rPr lang="en-US" sz="800" dirty="0">
                          <a:solidFill>
                            <a:srgbClr val="1C2B3A"/>
                          </a:solidFill>
                          <a:latin typeface="Calibri" pitchFamily="34" charset="0"/>
                          <a:ea typeface="Calibri" pitchFamily="34" charset="-122"/>
                          <a:cs typeface="Calibri" pitchFamily="34" charset="-120"/>
                        </a:rPr>
                        <a:t>Keypoints only (17 pts)</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C2B3A"/>
                          </a:solidFill>
                          <a:latin typeface="Calibri" pitchFamily="34" charset="0"/>
                          <a:ea typeface="Calibri" pitchFamily="34" charset="-122"/>
                          <a:cs typeface="Calibri" pitchFamily="34" charset="-120"/>
                        </a:rPr>
                        <a:t>64.8%</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C2B3A"/>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05740">
                <a:tc>
                  <a:txBody>
                    <a:bodyPr/>
                    <a:lstStyle/>
                    <a:p>
                      <a:pPr marL="0" indent="0" algn="l">
                        <a:buNone/>
                      </a:pPr>
                      <a:r>
                        <a:rPr lang="en-US" sz="800" dirty="0">
                          <a:solidFill>
                            <a:srgbClr val="1C2B3A"/>
                          </a:solidFill>
                          <a:latin typeface="Calibri" pitchFamily="34" charset="0"/>
                          <a:ea typeface="Calibri" pitchFamily="34" charset="-122"/>
                          <a:cs typeface="Calibri" pitchFamily="34" charset="-120"/>
                        </a:rPr>
                        <a:t>Normalised pose only</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4F2EC"/>
                    </a:solidFill>
                  </a:tcPr>
                </a:tc>
                <a:tc>
                  <a:txBody>
                    <a:bodyPr/>
                    <a:lstStyle/>
                    <a:p>
                      <a:pPr marL="0" indent="0" algn="ctr">
                        <a:buNone/>
                      </a:pPr>
                      <a:r>
                        <a:rPr lang="en-US" sz="800" dirty="0">
                          <a:solidFill>
                            <a:srgbClr val="1C2B3A"/>
                          </a:solidFill>
                          <a:latin typeface="Calibri" pitchFamily="34" charset="0"/>
                          <a:ea typeface="Calibri" pitchFamily="34" charset="-122"/>
                          <a:cs typeface="Calibri" pitchFamily="34" charset="-120"/>
                        </a:rPr>
                        <a:t>58.0%</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4F2EC"/>
                    </a:solidFill>
                  </a:tcPr>
                </a:tc>
                <a:tc>
                  <a:txBody>
                    <a:bodyPr/>
                    <a:lstStyle/>
                    <a:p>
                      <a:pPr marL="0" indent="0" algn="ctr">
                        <a:buNone/>
                      </a:pPr>
                      <a:r>
                        <a:rPr lang="en-US" sz="800" dirty="0">
                          <a:solidFill>
                            <a:srgbClr val="1C2B3A"/>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4F2EC"/>
                    </a:solidFill>
                  </a:tcPr>
                </a:tc>
                <a:extLst>
                  <a:ext uri="{0D108BD9-81ED-4DB2-BD59-A6C34878D82A}">
                    <a16:rowId xmlns:a16="http://schemas.microsoft.com/office/drawing/2014/main" val="10008"/>
                  </a:ext>
                </a:extLst>
              </a:tr>
              <a:tr h="205740">
                <a:tc>
                  <a:txBody>
                    <a:bodyPr/>
                    <a:lstStyle/>
                    <a:p>
                      <a:pPr marL="0" indent="0" algn="l">
                        <a:buNone/>
                      </a:pPr>
                      <a:r>
                        <a:rPr lang="en-US" sz="800" dirty="0">
                          <a:solidFill>
                            <a:srgbClr val="1C2B3A"/>
                          </a:solidFill>
                          <a:latin typeface="Calibri" pitchFamily="34" charset="0"/>
                          <a:ea typeface="Calibri" pitchFamily="34" charset="-122"/>
                          <a:cs typeface="Calibri" pitchFamily="34" charset="-120"/>
                        </a:rPr>
                        <a:t>Mean RGB (3 values)</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C2B3A"/>
                          </a:solidFill>
                          <a:latin typeface="Calibri" pitchFamily="34" charset="0"/>
                          <a:ea typeface="Calibri" pitchFamily="34" charset="-122"/>
                          <a:cs typeface="Calibri" pitchFamily="34" charset="-120"/>
                        </a:rPr>
                        <a:t>58.0%</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C2B3A"/>
                          </a:solidFill>
                          <a:latin typeface="Calibri" pitchFamily="34" charset="0"/>
                          <a:ea typeface="Calibri" pitchFamily="34" charset="-122"/>
                          <a:cs typeface="Calibri" pitchFamily="34" charset="-120"/>
                        </a:rPr>
                        <a:t>59.1%</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05740">
                <a:tc>
                  <a:txBody>
                    <a:bodyPr/>
                    <a:lstStyle/>
                    <a:p>
                      <a:pPr marL="0" indent="0" algn="l">
                        <a:buNone/>
                      </a:pPr>
                      <a:r>
                        <a:rPr lang="en-US" sz="800" dirty="0">
                          <a:solidFill>
                            <a:srgbClr val="1C2B3A"/>
                          </a:solidFill>
                          <a:latin typeface="Calibri" pitchFamily="34" charset="0"/>
                          <a:ea typeface="Calibri" pitchFamily="34" charset="-122"/>
                          <a:cs typeface="Calibri" pitchFamily="34" charset="-120"/>
                        </a:rPr>
                        <a:t>Object presence (80 cats.)</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4F2EC"/>
                    </a:solidFill>
                  </a:tcPr>
                </a:tc>
                <a:tc>
                  <a:txBody>
                    <a:bodyPr/>
                    <a:lstStyle/>
                    <a:p>
                      <a:pPr marL="0" indent="0" algn="ctr">
                        <a:buNone/>
                      </a:pPr>
                      <a:r>
                        <a:rPr lang="en-US" sz="800" dirty="0">
                          <a:solidFill>
                            <a:srgbClr val="1C2B3A"/>
                          </a:solidFill>
                          <a:latin typeface="Calibri" pitchFamily="34" charset="0"/>
                          <a:ea typeface="Calibri" pitchFamily="34" charset="-122"/>
                          <a:cs typeface="Calibri" pitchFamily="34" charset="-120"/>
                        </a:rPr>
                        <a:t>75.4%</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4F2EC"/>
                    </a:solidFill>
                  </a:tcPr>
                </a:tc>
                <a:tc>
                  <a:txBody>
                    <a:bodyPr/>
                    <a:lstStyle/>
                    <a:p>
                      <a:pPr marL="0" indent="0" algn="ctr">
                        <a:buNone/>
                      </a:pPr>
                      <a:r>
                        <a:rPr lang="en-US" sz="800" dirty="0">
                          <a:solidFill>
                            <a:srgbClr val="1C2B3A"/>
                          </a:solidFill>
                          <a:latin typeface="Calibri" pitchFamily="34" charset="0"/>
                          <a:ea typeface="Calibri" pitchFamily="34" charset="-122"/>
                          <a:cs typeface="Calibri" pitchFamily="34" charset="-120"/>
                        </a:rPr>
                        <a:t>63.3%</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4F2EC"/>
                    </a:solidFill>
                  </a:tcPr>
                </a:tc>
                <a:extLst>
                  <a:ext uri="{0D108BD9-81ED-4DB2-BD59-A6C34878D82A}">
                    <a16:rowId xmlns:a16="http://schemas.microsoft.com/office/drawing/2014/main" val="10010"/>
                  </a:ext>
                </a:extLst>
              </a:tr>
              <a:tr h="205740">
                <a:tc>
                  <a:txBody>
                    <a:bodyPr/>
                    <a:lstStyle/>
                    <a:p>
                      <a:pPr marL="0" indent="0" algn="l">
                        <a:buNone/>
                      </a:pPr>
                      <a:r>
                        <a:rPr lang="en-US" sz="800" dirty="0">
                          <a:solidFill>
                            <a:srgbClr val="1C2B3A"/>
                          </a:solidFill>
                          <a:latin typeface="Calibri" pitchFamily="34" charset="0"/>
                          <a:ea typeface="Calibri" pitchFamily="34" charset="-122"/>
                          <a:cs typeface="Calibri" pitchFamily="34" charset="-120"/>
                        </a:rPr>
                        <a:t>30 random object classes</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C2B3A"/>
                          </a:solidFill>
                          <a:latin typeface="Calibri" pitchFamily="34" charset="0"/>
                          <a:ea typeface="Calibri" pitchFamily="34" charset="-122"/>
                          <a:cs typeface="Calibri" pitchFamily="34" charset="-120"/>
                        </a:rPr>
                        <a:t>66.8%</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C2B3A"/>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50800" marR="50800" marT="25400" marB="254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name="Slide 4">
    <p:bg>
      <p:bgPr>
        <a:solidFill>
          <a:srgbClr val="F7F4EE"/>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B3A5C"/>
          </a:solidFill>
          <a:ln w="12700">
            <a:solidFill>
              <a:srgbClr val="1B3A5C"/>
            </a:solidFill>
            <a:prstDash val="solid"/>
          </a:ln>
        </p:spPr>
        <p:txBody>
          <a:bodyPr/>
          <a:lstStyle/>
          <a:p>
            <a:endParaRPr lang="en-MT"/>
          </a:p>
        </p:txBody>
      </p:sp>
      <p:sp>
        <p:nvSpPr>
          <p:cNvPr id="3" name="Text 1"/>
          <p:cNvSpPr/>
          <p:nvPr/>
        </p:nvSpPr>
        <p:spPr>
          <a:xfrm>
            <a:off x="411480" y="0"/>
            <a:ext cx="8229600" cy="713232"/>
          </a:xfrm>
          <a:prstGeom prst="rect">
            <a:avLst/>
          </a:prstGeom>
          <a:noFill/>
          <a:ln/>
        </p:spPr>
        <p:txBody>
          <a:bodyPr wrap="square" rtlCol="0" anchor="ctr"/>
          <a:lstStyle/>
          <a:p>
            <a:pPr marL="0" indent="0">
              <a:buNone/>
            </a:pPr>
            <a:r>
              <a:rPr lang="en-US" sz="1600" b="1" dirty="0">
                <a:solidFill>
                  <a:srgbClr val="FFFFFF"/>
                </a:solidFill>
                <a:latin typeface="Georgia" pitchFamily="34" charset="0"/>
                <a:ea typeface="Georgia" pitchFamily="34" charset="-122"/>
                <a:cs typeface="Georgia" pitchFamily="34" charset="-120"/>
              </a:rPr>
              <a:t>BACKGROUND &amp; LITERATURE REVIEW  ·  THE GAP</a:t>
            </a:r>
            <a:endParaRPr lang="en-US" sz="1600" dirty="0"/>
          </a:p>
        </p:txBody>
      </p:sp>
      <p:grpSp>
        <p:nvGrpSpPr>
          <p:cNvPr id="35" name="Group 34">
            <a:extLst>
              <a:ext uri="{FF2B5EF4-FFF2-40B4-BE49-F238E27FC236}">
                <a16:creationId xmlns:a16="http://schemas.microsoft.com/office/drawing/2014/main" id="{F256F53D-61A8-0B33-B011-B3400E80130B}"/>
              </a:ext>
            </a:extLst>
          </p:cNvPr>
          <p:cNvGrpSpPr/>
          <p:nvPr/>
        </p:nvGrpSpPr>
        <p:grpSpPr>
          <a:xfrm>
            <a:off x="274320" y="822960"/>
            <a:ext cx="3931920" cy="1772222"/>
            <a:chOff x="274320" y="822960"/>
            <a:chExt cx="3931920" cy="1772222"/>
          </a:xfrm>
        </p:grpSpPr>
        <p:grpSp>
          <p:nvGrpSpPr>
            <p:cNvPr id="33" name="Group 32">
              <a:extLst>
                <a:ext uri="{FF2B5EF4-FFF2-40B4-BE49-F238E27FC236}">
                  <a16:creationId xmlns:a16="http://schemas.microsoft.com/office/drawing/2014/main" id="{05B27967-8DCB-863F-F630-9D4DEA2F8E34}"/>
                </a:ext>
              </a:extLst>
            </p:cNvPr>
            <p:cNvGrpSpPr/>
            <p:nvPr/>
          </p:nvGrpSpPr>
          <p:grpSpPr>
            <a:xfrm>
              <a:off x="347472" y="822960"/>
              <a:ext cx="1737360" cy="292608"/>
              <a:chOff x="347472" y="822960"/>
              <a:chExt cx="1737360" cy="292608"/>
            </a:xfrm>
          </p:grpSpPr>
          <p:sp>
            <p:nvSpPr>
              <p:cNvPr id="4" name="Shape 2"/>
              <p:cNvSpPr/>
              <p:nvPr/>
            </p:nvSpPr>
            <p:spPr>
              <a:xfrm>
                <a:off x="347472" y="822960"/>
                <a:ext cx="1737360" cy="292608"/>
              </a:xfrm>
              <a:prstGeom prst="roundRect">
                <a:avLst>
                  <a:gd name="adj" fmla="val 15625"/>
                </a:avLst>
              </a:prstGeom>
              <a:solidFill>
                <a:srgbClr val="1B3A5C"/>
              </a:solidFill>
              <a:ln w="12700">
                <a:solidFill>
                  <a:srgbClr val="1B3A5C"/>
                </a:solidFill>
                <a:prstDash val="solid"/>
              </a:ln>
            </p:spPr>
            <p:txBody>
              <a:bodyPr/>
              <a:lstStyle/>
              <a:p>
                <a:endParaRPr lang="en-MT"/>
              </a:p>
            </p:txBody>
          </p:sp>
          <p:sp>
            <p:nvSpPr>
              <p:cNvPr id="5" name="Text 3"/>
              <p:cNvSpPr/>
              <p:nvPr/>
            </p:nvSpPr>
            <p:spPr>
              <a:xfrm>
                <a:off x="347472" y="822960"/>
                <a:ext cx="1737360" cy="292608"/>
              </a:xfrm>
              <a:prstGeom prst="rect">
                <a:avLst/>
              </a:prstGeom>
              <a:noFill/>
              <a:ln/>
            </p:spPr>
            <p:txBody>
              <a:bodyPr wrap="square" lIns="0" tIns="0" rIns="0" bIns="0" rtlCol="0" anchor="ctr"/>
              <a:lstStyle/>
              <a:p>
                <a:pPr marL="0" indent="0" algn="ctr">
                  <a:buNone/>
                </a:pPr>
                <a:r>
                  <a:rPr lang="en-US" sz="900" b="1" dirty="0">
                    <a:solidFill>
                      <a:srgbClr val="FFFFFF"/>
                    </a:solidFill>
                  </a:rPr>
                  <a:t>WHAT PRIOR WORK ESTABLISHED</a:t>
                </a:r>
                <a:endParaRPr lang="en-US" sz="900" dirty="0"/>
              </a:p>
            </p:txBody>
          </p:sp>
        </p:grpSp>
        <p:sp>
          <p:nvSpPr>
            <p:cNvPr id="7" name="Text 5"/>
            <p:cNvSpPr/>
            <p:nvPr/>
          </p:nvSpPr>
          <p:spPr>
            <a:xfrm>
              <a:off x="274320" y="1232222"/>
              <a:ext cx="3931920" cy="1362960"/>
            </a:xfrm>
            <a:prstGeom prst="rect">
              <a:avLst/>
            </a:prstGeom>
            <a:noFill/>
            <a:ln/>
          </p:spPr>
          <p:txBody>
            <a:bodyPr wrap="square" rtlCol="0" anchor="ctr"/>
            <a:lstStyle/>
            <a:p>
              <a:pPr marL="171450" indent="-171450">
                <a:lnSpc>
                  <a:spcPct val="120000"/>
                </a:lnSpc>
                <a:buFont typeface="Arial" panose="020B0604020202020204" pitchFamily="34" charset="0"/>
                <a:buChar char="•"/>
              </a:pPr>
              <a:r>
                <a:rPr lang="en-US" sz="950" b="1" dirty="0">
                  <a:solidFill>
                    <a:srgbClr val="1C2B3A"/>
                  </a:solidFill>
                  <a:latin typeface="Calibri" pitchFamily="34" charset="0"/>
                  <a:ea typeface="Calibri" pitchFamily="34" charset="-122"/>
                  <a:cs typeface="Calibri" pitchFamily="34" charset="-120"/>
                </a:rPr>
                <a:t>Bianchi et al. (FAccT '23) &amp; Luccioni et al. (2023):</a:t>
              </a:r>
              <a:r>
                <a:rPr lang="en-US" sz="950" dirty="0">
                  <a:solidFill>
                    <a:srgbClr val="1C2B3A"/>
                  </a:solidFill>
                  <a:latin typeface="Calibri" pitchFamily="34" charset="0"/>
                  <a:ea typeface="Calibri" pitchFamily="34" charset="-122"/>
                  <a:cs typeface="Calibri" pitchFamily="34" charset="-120"/>
                </a:rPr>
                <a:t> T2I models amplify occupational stereotypes — generated distributions are more extreme than real-world </a:t>
              </a:r>
              <a:r>
                <a:rPr lang="en-US" sz="950" dirty="0" err="1">
                  <a:solidFill>
                    <a:srgbClr val="1C2B3A"/>
                  </a:solidFill>
                  <a:latin typeface="Calibri" pitchFamily="34" charset="0"/>
                  <a:ea typeface="Calibri" pitchFamily="34" charset="-122"/>
                  <a:cs typeface="Calibri" pitchFamily="34" charset="-120"/>
                </a:rPr>
                <a:t>labour</a:t>
              </a:r>
              <a:r>
                <a:rPr lang="en-US" sz="950" dirty="0">
                  <a:solidFill>
                    <a:srgbClr val="1C2B3A"/>
                  </a:solidFill>
                  <a:latin typeface="Calibri" pitchFamily="34" charset="0"/>
                  <a:ea typeface="Calibri" pitchFamily="34" charset="-122"/>
                  <a:cs typeface="Calibri" pitchFamily="34" charset="-120"/>
                </a:rPr>
                <a:t> statistics</a:t>
              </a:r>
            </a:p>
            <a:p>
              <a:pPr marL="171450" indent="-171450">
                <a:lnSpc>
                  <a:spcPct val="120000"/>
                </a:lnSpc>
                <a:buFont typeface="Arial" panose="020B0604020202020204" pitchFamily="34" charset="0"/>
                <a:buChar char="•"/>
              </a:pPr>
              <a:r>
                <a:rPr lang="en-US" sz="950" b="1" dirty="0">
                  <a:solidFill>
                    <a:srgbClr val="1C2B3A"/>
                  </a:solidFill>
                  <a:latin typeface="Calibri" pitchFamily="34" charset="0"/>
                  <a:ea typeface="Calibri" pitchFamily="34" charset="-122"/>
                  <a:cs typeface="Calibri" pitchFamily="34" charset="-120"/>
                </a:rPr>
                <a:t>Meister et al.:</a:t>
              </a:r>
              <a:r>
                <a:rPr lang="en-US" sz="950" dirty="0">
                  <a:solidFill>
                    <a:srgbClr val="1C2B3A"/>
                  </a:solidFill>
                  <a:latin typeface="Calibri" pitchFamily="34" charset="0"/>
                  <a:ea typeface="Calibri" pitchFamily="34" charset="-122"/>
                  <a:cs typeface="Calibri" pitchFamily="34" charset="-120"/>
                </a:rPr>
                <a:t> Gender artifacts are pervasive; fairness-through-blindness approaches leave demographic signal intact</a:t>
              </a:r>
            </a:p>
            <a:p>
              <a:pPr marL="171450" indent="-171450">
                <a:lnSpc>
                  <a:spcPct val="120000"/>
                </a:lnSpc>
                <a:buFont typeface="Arial" panose="020B0604020202020204" pitchFamily="34" charset="0"/>
                <a:buChar char="•"/>
              </a:pPr>
              <a:r>
                <a:rPr lang="en-US" sz="950" b="1" dirty="0">
                  <a:solidFill>
                    <a:srgbClr val="1C2B3A"/>
                  </a:solidFill>
                  <a:latin typeface="Calibri" pitchFamily="34" charset="0"/>
                  <a:ea typeface="Calibri" pitchFamily="34" charset="-122"/>
                  <a:cs typeface="Calibri" pitchFamily="34" charset="-120"/>
                </a:rPr>
                <a:t>Zeng et al.:</a:t>
              </a:r>
              <a:r>
                <a:rPr lang="en-US" sz="950" dirty="0">
                  <a:solidFill>
                    <a:srgbClr val="1C2B3A"/>
                  </a:solidFill>
                  <a:latin typeface="Calibri" pitchFamily="34" charset="0"/>
                  <a:ea typeface="Calibri" pitchFamily="34" charset="-122"/>
                  <a:cs typeface="Calibri" pitchFamily="34" charset="-120"/>
                </a:rPr>
                <a:t> Dataset-level spurious features are measurable via transformation-based classification</a:t>
              </a:r>
              <a:endParaRPr lang="en-US" sz="950" dirty="0"/>
            </a:p>
            <a:p>
              <a:pPr marL="171450" indent="-171450">
                <a:lnSpc>
                  <a:spcPct val="120000"/>
                </a:lnSpc>
                <a:buFont typeface="Arial" panose="020B0604020202020204" pitchFamily="34" charset="0"/>
                <a:buChar char="•"/>
              </a:pPr>
              <a:endParaRPr lang="en-US" sz="950" dirty="0"/>
            </a:p>
          </p:txBody>
        </p:sp>
      </p:grpSp>
      <p:sp>
        <p:nvSpPr>
          <p:cNvPr id="9" name="Text 7"/>
          <p:cNvSpPr/>
          <p:nvPr/>
        </p:nvSpPr>
        <p:spPr>
          <a:xfrm>
            <a:off x="530352" y="1828800"/>
            <a:ext cx="3931920" cy="594360"/>
          </a:xfrm>
          <a:prstGeom prst="rect">
            <a:avLst/>
          </a:prstGeom>
          <a:noFill/>
          <a:ln/>
        </p:spPr>
        <p:txBody>
          <a:bodyPr wrap="square" rtlCol="0" anchor="ctr"/>
          <a:lstStyle/>
          <a:p>
            <a:pPr marL="0" indent="0">
              <a:lnSpc>
                <a:spcPct val="120000"/>
              </a:lnSpc>
              <a:buNone/>
            </a:pPr>
            <a:endParaRPr lang="en-US" sz="950" dirty="0"/>
          </a:p>
        </p:txBody>
      </p:sp>
      <p:sp>
        <p:nvSpPr>
          <p:cNvPr id="12" name="Shape 10"/>
          <p:cNvSpPr/>
          <p:nvPr/>
        </p:nvSpPr>
        <p:spPr>
          <a:xfrm>
            <a:off x="347472" y="2670048"/>
            <a:ext cx="4023360" cy="0"/>
          </a:xfrm>
          <a:prstGeom prst="line">
            <a:avLst/>
          </a:prstGeom>
          <a:noFill/>
          <a:ln w="12700">
            <a:solidFill>
              <a:srgbClr val="E8E4DC"/>
            </a:solidFill>
            <a:prstDash val="dash"/>
          </a:ln>
        </p:spPr>
        <p:txBody>
          <a:bodyPr/>
          <a:lstStyle/>
          <a:p>
            <a:endParaRPr lang="en-MT"/>
          </a:p>
        </p:txBody>
      </p:sp>
      <p:grpSp>
        <p:nvGrpSpPr>
          <p:cNvPr id="34" name="Group 33">
            <a:extLst>
              <a:ext uri="{FF2B5EF4-FFF2-40B4-BE49-F238E27FC236}">
                <a16:creationId xmlns:a16="http://schemas.microsoft.com/office/drawing/2014/main" id="{53F455BC-A9B2-690F-A1F3-FA4E24BFB9BE}"/>
              </a:ext>
            </a:extLst>
          </p:cNvPr>
          <p:cNvGrpSpPr/>
          <p:nvPr/>
        </p:nvGrpSpPr>
        <p:grpSpPr>
          <a:xfrm>
            <a:off x="283464" y="2995422"/>
            <a:ext cx="3840480" cy="1842643"/>
            <a:chOff x="283464" y="2652522"/>
            <a:chExt cx="3840480" cy="1842643"/>
          </a:xfrm>
        </p:grpSpPr>
        <p:grpSp>
          <p:nvGrpSpPr>
            <p:cNvPr id="32" name="Group 31">
              <a:extLst>
                <a:ext uri="{FF2B5EF4-FFF2-40B4-BE49-F238E27FC236}">
                  <a16:creationId xmlns:a16="http://schemas.microsoft.com/office/drawing/2014/main" id="{D52739E0-E4BD-37DA-FD39-30B565F63B30}"/>
                </a:ext>
              </a:extLst>
            </p:cNvPr>
            <p:cNvGrpSpPr/>
            <p:nvPr/>
          </p:nvGrpSpPr>
          <p:grpSpPr>
            <a:xfrm>
              <a:off x="347472" y="2652522"/>
              <a:ext cx="1737360" cy="292608"/>
              <a:chOff x="347472" y="3319272"/>
              <a:chExt cx="1737360" cy="292608"/>
            </a:xfrm>
          </p:grpSpPr>
          <p:sp>
            <p:nvSpPr>
              <p:cNvPr id="13" name="Shape 11"/>
              <p:cNvSpPr/>
              <p:nvPr/>
            </p:nvSpPr>
            <p:spPr>
              <a:xfrm>
                <a:off x="347472" y="3319272"/>
                <a:ext cx="1737360" cy="292608"/>
              </a:xfrm>
              <a:prstGeom prst="roundRect">
                <a:avLst>
                  <a:gd name="adj" fmla="val 15625"/>
                </a:avLst>
              </a:prstGeom>
              <a:solidFill>
                <a:srgbClr val="1B3A5C"/>
              </a:solidFill>
              <a:ln w="12700">
                <a:solidFill>
                  <a:srgbClr val="1B3A5C"/>
                </a:solidFill>
                <a:prstDash val="solid"/>
              </a:ln>
            </p:spPr>
            <p:txBody>
              <a:bodyPr/>
              <a:lstStyle/>
              <a:p>
                <a:endParaRPr lang="en-MT"/>
              </a:p>
            </p:txBody>
          </p:sp>
          <p:sp>
            <p:nvSpPr>
              <p:cNvPr id="14" name="Text 12"/>
              <p:cNvSpPr/>
              <p:nvPr/>
            </p:nvSpPr>
            <p:spPr>
              <a:xfrm>
                <a:off x="347472" y="3319272"/>
                <a:ext cx="1737360" cy="292608"/>
              </a:xfrm>
              <a:prstGeom prst="rect">
                <a:avLst/>
              </a:prstGeom>
              <a:noFill/>
              <a:ln/>
            </p:spPr>
            <p:txBody>
              <a:bodyPr wrap="square" lIns="0" tIns="0" rIns="0" bIns="0" rtlCol="0" anchor="ctr"/>
              <a:lstStyle/>
              <a:p>
                <a:pPr marL="0" indent="0" algn="ctr">
                  <a:buNone/>
                </a:pPr>
                <a:r>
                  <a:rPr lang="en-US" sz="900" b="1" dirty="0">
                    <a:solidFill>
                      <a:srgbClr val="FFFFFF"/>
                    </a:solidFill>
                  </a:rPr>
                  <a:t>WHAT WAS STILL MISSING</a:t>
                </a:r>
                <a:endParaRPr lang="en-US" sz="900" dirty="0"/>
              </a:p>
            </p:txBody>
          </p:sp>
        </p:grpSp>
        <p:sp>
          <p:nvSpPr>
            <p:cNvPr id="16" name="Text 14"/>
            <p:cNvSpPr/>
            <p:nvPr/>
          </p:nvSpPr>
          <p:spPr>
            <a:xfrm>
              <a:off x="283464" y="3059811"/>
              <a:ext cx="3840480" cy="1435354"/>
            </a:xfrm>
            <a:prstGeom prst="rect">
              <a:avLst/>
            </a:prstGeom>
            <a:noFill/>
            <a:ln/>
          </p:spPr>
          <p:txBody>
            <a:bodyPr wrap="square" rtlCol="0" anchor="ctr"/>
            <a:lstStyle/>
            <a:p>
              <a:pPr marL="171450" indent="-171450">
                <a:lnSpc>
                  <a:spcPct val="120000"/>
                </a:lnSpc>
                <a:buFont typeface="Arial" panose="020B0604020202020204" pitchFamily="34" charset="0"/>
                <a:buChar char="•"/>
              </a:pPr>
              <a:r>
                <a:rPr lang="en-US" sz="950" dirty="0">
                  <a:solidFill>
                    <a:srgbClr val="1C2B3A"/>
                  </a:solidFill>
                  <a:latin typeface="Calibri" pitchFamily="34" charset="0"/>
                  <a:ea typeface="Calibri" pitchFamily="34" charset="-122"/>
                  <a:cs typeface="Calibri" pitchFamily="34" charset="-120"/>
                </a:rPr>
                <a:t>Neither Bianchi nor Luccioni identify which low-level features carry bias — both treat the model as a black box</a:t>
              </a:r>
            </a:p>
            <a:p>
              <a:pPr marL="171450" indent="-171450">
                <a:lnSpc>
                  <a:spcPct val="120000"/>
                </a:lnSpc>
                <a:buFont typeface="Arial" panose="020B0604020202020204" pitchFamily="34" charset="0"/>
                <a:buChar char="•"/>
              </a:pPr>
              <a:r>
                <a:rPr lang="en-US" sz="950" dirty="0">
                  <a:solidFill>
                    <a:srgbClr val="1C2B3A"/>
                  </a:solidFill>
                  <a:latin typeface="Calibri" pitchFamily="34" charset="0"/>
                  <a:ea typeface="Calibri" pitchFamily="34" charset="-122"/>
                  <a:cs typeface="Calibri" pitchFamily="34" charset="-120"/>
                </a:rPr>
                <a:t>Meister et al. limited to COCO &amp; </a:t>
              </a:r>
              <a:r>
                <a:rPr lang="en-US" sz="950" dirty="0" err="1">
                  <a:solidFill>
                    <a:srgbClr val="1C2B3A"/>
                  </a:solidFill>
                  <a:latin typeface="Calibri" pitchFamily="34" charset="0"/>
                  <a:ea typeface="Calibri" pitchFamily="34" charset="-122"/>
                  <a:cs typeface="Calibri" pitchFamily="34" charset="-120"/>
                </a:rPr>
                <a:t>OpenImages</a:t>
              </a:r>
              <a:r>
                <a:rPr lang="en-US" sz="950" dirty="0">
                  <a:solidFill>
                    <a:srgbClr val="1C2B3A"/>
                  </a:solidFill>
                  <a:latin typeface="Calibri" pitchFamily="34" charset="0"/>
                  <a:ea typeface="Calibri" pitchFamily="34" charset="-122"/>
                  <a:cs typeface="Calibri" pitchFamily="34" charset="-120"/>
                </a:rPr>
                <a:t>; gender only — no skin tone, no generative corpora</a:t>
              </a:r>
            </a:p>
            <a:p>
              <a:pPr marL="171450" indent="-171450">
                <a:lnSpc>
                  <a:spcPct val="120000"/>
                </a:lnSpc>
                <a:buFont typeface="Arial" panose="020B0604020202020204" pitchFamily="34" charset="0"/>
                <a:buChar char="•"/>
              </a:pPr>
              <a:r>
                <a:rPr lang="en-US" sz="950" dirty="0">
                  <a:solidFill>
                    <a:srgbClr val="1C2B3A"/>
                  </a:solidFill>
                  <a:latin typeface="Calibri" pitchFamily="34" charset="0"/>
                  <a:ea typeface="Calibri" pitchFamily="34" charset="-122"/>
                  <a:cs typeface="Calibri" pitchFamily="34" charset="-120"/>
                </a:rPr>
                <a:t>No spurious feature analysis of Re-LAION-5B; no pre-computed embeddings made retrieval non-trivial</a:t>
              </a:r>
            </a:p>
            <a:p>
              <a:pPr marL="171450" indent="-171450">
                <a:lnSpc>
                  <a:spcPct val="120000"/>
                </a:lnSpc>
                <a:buFont typeface="Arial" panose="020B0604020202020204" pitchFamily="34" charset="0"/>
                <a:buChar char="•"/>
              </a:pPr>
              <a:r>
                <a:rPr lang="en-US" sz="950" dirty="0">
                  <a:solidFill>
                    <a:srgbClr val="1C2B3A"/>
                  </a:solidFill>
                  <a:latin typeface="Calibri" pitchFamily="34" charset="0"/>
                  <a:ea typeface="Calibri" pitchFamily="34" charset="-122"/>
                  <a:cs typeface="Calibri" pitchFamily="34" charset="-120"/>
                </a:rPr>
                <a:t>SDv1.5 is uniquely auditable — SDXL &amp; SD3 rely on proprietary training corpora</a:t>
              </a:r>
              <a:endParaRPr lang="en-US" sz="950" dirty="0"/>
            </a:p>
          </p:txBody>
        </p:sp>
      </p:grpSp>
      <p:sp>
        <p:nvSpPr>
          <p:cNvPr id="18" name="Text 16"/>
          <p:cNvSpPr/>
          <p:nvPr/>
        </p:nvSpPr>
        <p:spPr>
          <a:xfrm>
            <a:off x="548640" y="4187952"/>
            <a:ext cx="3840480" cy="502920"/>
          </a:xfrm>
          <a:prstGeom prst="rect">
            <a:avLst/>
          </a:prstGeom>
          <a:noFill/>
          <a:ln/>
        </p:spPr>
        <p:txBody>
          <a:bodyPr wrap="square" rtlCol="0" anchor="ctr"/>
          <a:lstStyle/>
          <a:p>
            <a:pPr marL="0" indent="0">
              <a:lnSpc>
                <a:spcPct val="120000"/>
              </a:lnSpc>
              <a:buNone/>
            </a:pPr>
            <a:endParaRPr lang="en-US" sz="950" dirty="0"/>
          </a:p>
        </p:txBody>
      </p:sp>
      <p:sp>
        <p:nvSpPr>
          <p:cNvPr id="20" name="Text 18"/>
          <p:cNvSpPr/>
          <p:nvPr/>
        </p:nvSpPr>
        <p:spPr>
          <a:xfrm>
            <a:off x="548640" y="4718304"/>
            <a:ext cx="3840480" cy="502920"/>
          </a:xfrm>
          <a:prstGeom prst="rect">
            <a:avLst/>
          </a:prstGeom>
          <a:noFill/>
          <a:ln/>
        </p:spPr>
        <p:txBody>
          <a:bodyPr wrap="square" rtlCol="0" anchor="ctr"/>
          <a:lstStyle/>
          <a:p>
            <a:pPr marL="0" indent="0">
              <a:lnSpc>
                <a:spcPct val="120000"/>
              </a:lnSpc>
              <a:buNone/>
            </a:pPr>
            <a:endParaRPr lang="en-US" sz="950" dirty="0"/>
          </a:p>
        </p:txBody>
      </p:sp>
      <p:sp>
        <p:nvSpPr>
          <p:cNvPr id="22" name="Text 20"/>
          <p:cNvSpPr/>
          <p:nvPr/>
        </p:nvSpPr>
        <p:spPr>
          <a:xfrm>
            <a:off x="548640" y="5248656"/>
            <a:ext cx="3840480" cy="502920"/>
          </a:xfrm>
          <a:prstGeom prst="rect">
            <a:avLst/>
          </a:prstGeom>
          <a:noFill/>
          <a:ln/>
        </p:spPr>
        <p:txBody>
          <a:bodyPr wrap="square" rtlCol="0" anchor="ctr"/>
          <a:lstStyle/>
          <a:p>
            <a:pPr marL="0" indent="0">
              <a:lnSpc>
                <a:spcPct val="120000"/>
              </a:lnSpc>
              <a:buNone/>
            </a:pPr>
            <a:endParaRPr lang="en-US" sz="950" dirty="0"/>
          </a:p>
        </p:txBody>
      </p:sp>
      <p:sp>
        <p:nvSpPr>
          <p:cNvPr id="23" name="Shape 21"/>
          <p:cNvSpPr/>
          <p:nvPr/>
        </p:nvSpPr>
        <p:spPr>
          <a:xfrm>
            <a:off x="4709160" y="822960"/>
            <a:ext cx="4160520" cy="4069080"/>
          </a:xfrm>
          <a:prstGeom prst="rect">
            <a:avLst/>
          </a:prstGeom>
          <a:solidFill>
            <a:srgbClr val="1B3A5C"/>
          </a:solidFill>
          <a:ln w="12700">
            <a:solidFill>
              <a:srgbClr val="1B3A5C"/>
            </a:solidFill>
            <a:prstDash val="solid"/>
          </a:ln>
          <a:effectLst>
            <a:outerShdw blurRad="63500" dist="25400" dir="8100000" algn="bl" rotWithShape="0">
              <a:srgbClr val="000000">
                <a:alpha val="10000"/>
              </a:srgbClr>
            </a:outerShdw>
          </a:effectLst>
        </p:spPr>
        <p:txBody>
          <a:bodyPr/>
          <a:lstStyle/>
          <a:p>
            <a:endParaRPr lang="en-MT"/>
          </a:p>
        </p:txBody>
      </p:sp>
      <p:sp>
        <p:nvSpPr>
          <p:cNvPr id="24" name="Shape 22"/>
          <p:cNvSpPr/>
          <p:nvPr/>
        </p:nvSpPr>
        <p:spPr>
          <a:xfrm>
            <a:off x="4709160" y="822960"/>
            <a:ext cx="4160520" cy="64008"/>
          </a:xfrm>
          <a:prstGeom prst="rect">
            <a:avLst/>
          </a:prstGeom>
          <a:solidFill>
            <a:srgbClr val="C9A84C"/>
          </a:solidFill>
          <a:ln w="12700">
            <a:solidFill>
              <a:srgbClr val="C9A84C"/>
            </a:solidFill>
            <a:prstDash val="solid"/>
          </a:ln>
        </p:spPr>
        <p:txBody>
          <a:bodyPr/>
          <a:lstStyle/>
          <a:p>
            <a:endParaRPr lang="en-MT"/>
          </a:p>
        </p:txBody>
      </p:sp>
      <p:sp>
        <p:nvSpPr>
          <p:cNvPr id="25" name="Text 23"/>
          <p:cNvSpPr/>
          <p:nvPr/>
        </p:nvSpPr>
        <p:spPr>
          <a:xfrm>
            <a:off x="4846320" y="932688"/>
            <a:ext cx="3840480" cy="256032"/>
          </a:xfrm>
          <a:prstGeom prst="rect">
            <a:avLst/>
          </a:prstGeom>
          <a:noFill/>
          <a:ln/>
        </p:spPr>
        <p:txBody>
          <a:bodyPr wrap="square" rtlCol="0" anchor="ctr"/>
          <a:lstStyle/>
          <a:p>
            <a:pPr marL="0" indent="0">
              <a:buNone/>
            </a:pPr>
            <a:r>
              <a:rPr lang="en-US" sz="900" b="1" kern="0" spc="150" dirty="0">
                <a:solidFill>
                  <a:srgbClr val="C9A84C"/>
                </a:solidFill>
                <a:latin typeface="Calibri" pitchFamily="34" charset="0"/>
                <a:ea typeface="Calibri" pitchFamily="34" charset="-122"/>
                <a:cs typeface="Calibri" pitchFamily="34" charset="-120"/>
              </a:rPr>
              <a:t>THIS THESIS CONTRIBUTES</a:t>
            </a:r>
            <a:endParaRPr lang="en-US" sz="900" dirty="0"/>
          </a:p>
        </p:txBody>
      </p:sp>
      <p:sp>
        <p:nvSpPr>
          <p:cNvPr id="26" name="Text 24"/>
          <p:cNvSpPr/>
          <p:nvPr/>
        </p:nvSpPr>
        <p:spPr>
          <a:xfrm>
            <a:off x="4846320" y="1261872"/>
            <a:ext cx="3794760" cy="548640"/>
          </a:xfrm>
          <a:prstGeom prst="rect">
            <a:avLst/>
          </a:prstGeom>
          <a:noFill/>
          <a:ln/>
        </p:spPr>
        <p:txBody>
          <a:bodyPr wrap="square" rtlCol="0" anchor="ctr"/>
          <a:lstStyle/>
          <a:p>
            <a:pPr marL="0" indent="0">
              <a:lnSpc>
                <a:spcPct val="120000"/>
              </a:lnSpc>
              <a:buNone/>
            </a:pPr>
            <a:r>
              <a:rPr lang="en-US" sz="1000" b="1" dirty="0">
                <a:solidFill>
                  <a:srgbClr val="C9A84C"/>
                </a:solidFill>
                <a:latin typeface="Calibri" pitchFamily="34" charset="0"/>
                <a:ea typeface="Calibri" pitchFamily="34" charset="-122"/>
                <a:cs typeface="Calibri" pitchFamily="34" charset="-120"/>
              </a:rPr>
              <a:t>▸  </a:t>
            </a:r>
            <a:r>
              <a:rPr lang="en-US" sz="1000" dirty="0">
                <a:solidFill>
                  <a:srgbClr val="D8E8F0"/>
                </a:solidFill>
                <a:latin typeface="Calibri" pitchFamily="34" charset="0"/>
                <a:ea typeface="Calibri" pitchFamily="34" charset="-122"/>
                <a:cs typeface="Calibri" pitchFamily="34" charset="-120"/>
              </a:rPr>
              <a:t>First spurious feature analysis of Re-LAION-5B and SDv1.5 as a matched training-corpus/model pair</a:t>
            </a:r>
            <a:endParaRPr lang="en-US" sz="1000" dirty="0"/>
          </a:p>
        </p:txBody>
      </p:sp>
      <p:sp>
        <p:nvSpPr>
          <p:cNvPr id="27" name="Text 25"/>
          <p:cNvSpPr/>
          <p:nvPr/>
        </p:nvSpPr>
        <p:spPr>
          <a:xfrm>
            <a:off x="4846320" y="1828800"/>
            <a:ext cx="3794760" cy="548640"/>
          </a:xfrm>
          <a:prstGeom prst="rect">
            <a:avLst/>
          </a:prstGeom>
          <a:noFill/>
          <a:ln/>
        </p:spPr>
        <p:txBody>
          <a:bodyPr wrap="square" rtlCol="0" anchor="ctr"/>
          <a:lstStyle/>
          <a:p>
            <a:pPr marL="0" indent="0">
              <a:lnSpc>
                <a:spcPct val="120000"/>
              </a:lnSpc>
              <a:buNone/>
            </a:pPr>
            <a:r>
              <a:rPr lang="en-US" sz="1000" b="1" dirty="0">
                <a:solidFill>
                  <a:srgbClr val="C9A84C"/>
                </a:solidFill>
                <a:latin typeface="Calibri" pitchFamily="34" charset="0"/>
                <a:ea typeface="Calibri" pitchFamily="34" charset="-122"/>
                <a:cs typeface="Calibri" pitchFamily="34" charset="-120"/>
              </a:rPr>
              <a:t>▸  </a:t>
            </a:r>
            <a:r>
              <a:rPr lang="en-US" sz="1000" dirty="0">
                <a:solidFill>
                  <a:srgbClr val="D8E8F0"/>
                </a:solidFill>
                <a:latin typeface="Calibri" pitchFamily="34" charset="0"/>
                <a:ea typeface="Calibri" pitchFamily="34" charset="-122"/>
                <a:cs typeface="Calibri" pitchFamily="34" charset="-120"/>
              </a:rPr>
              <a:t>Extended demographic probing from gender-only to include skin tone (MST 1–10 scale)</a:t>
            </a:r>
            <a:endParaRPr lang="en-US" sz="1000" dirty="0"/>
          </a:p>
        </p:txBody>
      </p:sp>
      <p:sp>
        <p:nvSpPr>
          <p:cNvPr id="28" name="Text 26"/>
          <p:cNvSpPr/>
          <p:nvPr/>
        </p:nvSpPr>
        <p:spPr>
          <a:xfrm>
            <a:off x="4846320" y="2395728"/>
            <a:ext cx="3794760" cy="548640"/>
          </a:xfrm>
          <a:prstGeom prst="rect">
            <a:avLst/>
          </a:prstGeom>
          <a:noFill/>
          <a:ln/>
        </p:spPr>
        <p:txBody>
          <a:bodyPr wrap="square" rtlCol="0" anchor="ctr"/>
          <a:lstStyle/>
          <a:p>
            <a:pPr marL="0" indent="0">
              <a:lnSpc>
                <a:spcPct val="120000"/>
              </a:lnSpc>
              <a:buNone/>
            </a:pPr>
            <a:r>
              <a:rPr lang="en-US" sz="1000" b="1" dirty="0">
                <a:solidFill>
                  <a:srgbClr val="C9A84C"/>
                </a:solidFill>
                <a:latin typeface="Calibri" pitchFamily="34" charset="0"/>
                <a:ea typeface="Calibri" pitchFamily="34" charset="-122"/>
                <a:cs typeface="Calibri" pitchFamily="34" charset="-120"/>
              </a:rPr>
              <a:t>▸  </a:t>
            </a:r>
            <a:r>
              <a:rPr lang="en-US" sz="1000" dirty="0">
                <a:solidFill>
                  <a:srgbClr val="D8E8F0"/>
                </a:solidFill>
                <a:latin typeface="Calibri" pitchFamily="34" charset="0"/>
                <a:ea typeface="Calibri" pitchFamily="34" charset="-122"/>
                <a:cs typeface="Calibri" pitchFamily="34" charset="-120"/>
              </a:rPr>
              <a:t>200 ISCO-08-aligned occupation categories — 200,000 images per dataset</a:t>
            </a:r>
            <a:endParaRPr lang="en-US" sz="1000" dirty="0"/>
          </a:p>
        </p:txBody>
      </p:sp>
      <p:sp>
        <p:nvSpPr>
          <p:cNvPr id="29" name="Text 27"/>
          <p:cNvSpPr/>
          <p:nvPr/>
        </p:nvSpPr>
        <p:spPr>
          <a:xfrm>
            <a:off x="4846320" y="2962656"/>
            <a:ext cx="3794760" cy="548640"/>
          </a:xfrm>
          <a:prstGeom prst="rect">
            <a:avLst/>
          </a:prstGeom>
          <a:noFill/>
          <a:ln/>
        </p:spPr>
        <p:txBody>
          <a:bodyPr wrap="square" rtlCol="0" anchor="ctr"/>
          <a:lstStyle/>
          <a:p>
            <a:pPr marL="0" indent="0">
              <a:lnSpc>
                <a:spcPct val="120000"/>
              </a:lnSpc>
              <a:buNone/>
            </a:pPr>
            <a:r>
              <a:rPr lang="en-US" sz="1000" b="1" dirty="0">
                <a:solidFill>
                  <a:srgbClr val="C9A84C"/>
                </a:solidFill>
                <a:latin typeface="Calibri" pitchFamily="34" charset="0"/>
                <a:ea typeface="Calibri" pitchFamily="34" charset="-122"/>
                <a:cs typeface="Calibri" pitchFamily="34" charset="-120"/>
              </a:rPr>
              <a:t>▸  </a:t>
            </a:r>
            <a:r>
              <a:rPr lang="en-US" sz="1000" dirty="0">
                <a:solidFill>
                  <a:srgbClr val="D8E8F0"/>
                </a:solidFill>
                <a:latin typeface="Calibri" pitchFamily="34" charset="0"/>
                <a:ea typeface="Calibri" pitchFamily="34" charset="-122"/>
                <a:cs typeface="Calibri" pitchFamily="34" charset="-120"/>
              </a:rPr>
              <a:t>15-transformation classification pipeline isolating semantic, structural &amp; low-level signals</a:t>
            </a:r>
            <a:endParaRPr lang="en-US" sz="1000" dirty="0"/>
          </a:p>
        </p:txBody>
      </p:sp>
      <p:sp>
        <p:nvSpPr>
          <p:cNvPr id="30" name="Text 28"/>
          <p:cNvSpPr/>
          <p:nvPr/>
        </p:nvSpPr>
        <p:spPr>
          <a:xfrm>
            <a:off x="4846320" y="3529584"/>
            <a:ext cx="3794760" cy="548640"/>
          </a:xfrm>
          <a:prstGeom prst="rect">
            <a:avLst/>
          </a:prstGeom>
          <a:noFill/>
          <a:ln/>
        </p:spPr>
        <p:txBody>
          <a:bodyPr wrap="square" rtlCol="0" anchor="ctr"/>
          <a:lstStyle/>
          <a:p>
            <a:pPr marL="0" indent="0">
              <a:lnSpc>
                <a:spcPct val="120000"/>
              </a:lnSpc>
              <a:buNone/>
            </a:pPr>
            <a:r>
              <a:rPr lang="en-US" sz="1000" b="1" dirty="0">
                <a:solidFill>
                  <a:srgbClr val="C9A84C"/>
                </a:solidFill>
                <a:latin typeface="Calibri" pitchFamily="34" charset="0"/>
                <a:ea typeface="Calibri" pitchFamily="34" charset="-122"/>
                <a:cs typeface="Calibri" pitchFamily="34" charset="-120"/>
              </a:rPr>
              <a:t>▸  </a:t>
            </a:r>
            <a:r>
              <a:rPr lang="en-US" sz="1000" dirty="0">
                <a:solidFill>
                  <a:srgbClr val="D8E8F0"/>
                </a:solidFill>
                <a:latin typeface="Calibri" pitchFamily="34" charset="0"/>
                <a:ea typeface="Calibri" pitchFamily="34" charset="-122"/>
                <a:cs typeface="Calibri" pitchFamily="34" charset="-120"/>
              </a:rPr>
              <a:t>Inference-time debiasing pipeline (ITI-GEN + ControlNet + Chamfer alignment) evaluated against the spurious feature profile</a:t>
            </a:r>
            <a:endParaRPr lang="en-US" sz="1000" dirty="0"/>
          </a:p>
        </p:txBody>
      </p:sp>
      <p:sp>
        <p:nvSpPr>
          <p:cNvPr id="31" name="Text 29"/>
          <p:cNvSpPr/>
          <p:nvPr/>
        </p:nvSpPr>
        <p:spPr>
          <a:xfrm>
            <a:off x="4846320" y="4096512"/>
            <a:ext cx="3794760" cy="548640"/>
          </a:xfrm>
          <a:prstGeom prst="rect">
            <a:avLst/>
          </a:prstGeom>
          <a:noFill/>
          <a:ln/>
        </p:spPr>
        <p:txBody>
          <a:bodyPr wrap="square" rtlCol="0" anchor="ctr"/>
          <a:lstStyle/>
          <a:p>
            <a:pPr marL="0" indent="0">
              <a:lnSpc>
                <a:spcPct val="120000"/>
              </a:lnSpc>
              <a:buNone/>
            </a:pPr>
            <a:r>
              <a:rPr lang="en-US" sz="1000" b="1" dirty="0">
                <a:solidFill>
                  <a:srgbClr val="C9A84C"/>
                </a:solidFill>
                <a:latin typeface="Calibri" pitchFamily="34" charset="0"/>
                <a:ea typeface="Calibri" pitchFamily="34" charset="-122"/>
                <a:cs typeface="Calibri" pitchFamily="34" charset="-120"/>
              </a:rPr>
              <a:t>▸  </a:t>
            </a:r>
            <a:r>
              <a:rPr lang="en-US" sz="1000" dirty="0">
                <a:solidFill>
                  <a:srgbClr val="D8E8F0"/>
                </a:solidFill>
                <a:latin typeface="Calibri" pitchFamily="34" charset="0"/>
                <a:ea typeface="Calibri" pitchFamily="34" charset="-122"/>
                <a:cs typeface="Calibri" pitchFamily="34" charset="-120"/>
              </a:rPr>
              <a:t>Findings directly linked to training data properties — uniquely possible with SDv1.5's open lineage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E"/>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B3A5C"/>
          </a:solidFill>
          <a:ln w="12700">
            <a:solidFill>
              <a:srgbClr val="1B3A5C"/>
            </a:solidFill>
            <a:prstDash val="solid"/>
          </a:ln>
        </p:spPr>
        <p:txBody>
          <a:bodyPr/>
          <a:lstStyle/>
          <a:p>
            <a:endParaRPr lang="en-MT"/>
          </a:p>
        </p:txBody>
      </p:sp>
      <p:sp>
        <p:nvSpPr>
          <p:cNvPr id="3" name="Text 1"/>
          <p:cNvSpPr/>
          <p:nvPr/>
        </p:nvSpPr>
        <p:spPr>
          <a:xfrm>
            <a:off x="411480" y="0"/>
            <a:ext cx="8229600" cy="713232"/>
          </a:xfrm>
          <a:prstGeom prst="rect">
            <a:avLst/>
          </a:prstGeom>
          <a:noFill/>
          <a:ln/>
        </p:spPr>
        <p:txBody>
          <a:bodyPr wrap="square"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METHODOLOGY  ·  OVERVIEW</a:t>
            </a:r>
            <a:endParaRPr lang="en-US" sz="2000" dirty="0"/>
          </a:p>
        </p:txBody>
      </p:sp>
      <p:sp>
        <p:nvSpPr>
          <p:cNvPr id="4" name="Shape 2"/>
          <p:cNvSpPr/>
          <p:nvPr/>
        </p:nvSpPr>
        <p:spPr>
          <a:xfrm>
            <a:off x="310896" y="969264"/>
            <a:ext cx="1536192" cy="1417320"/>
          </a:xfrm>
          <a:prstGeom prst="rect">
            <a:avLst/>
          </a:prstGeom>
          <a:solidFill>
            <a:srgbClr val="D0CCC2"/>
          </a:solidFill>
          <a:ln w="12700">
            <a:solidFill>
              <a:srgbClr val="D0CCC2"/>
            </a:solidFill>
            <a:prstDash val="solid"/>
          </a:ln>
        </p:spPr>
        <p:txBody>
          <a:bodyPr/>
          <a:lstStyle/>
          <a:p>
            <a:endParaRPr lang="en-MT"/>
          </a:p>
        </p:txBody>
      </p:sp>
      <p:sp>
        <p:nvSpPr>
          <p:cNvPr id="5" name="Shape 3"/>
          <p:cNvSpPr/>
          <p:nvPr/>
        </p:nvSpPr>
        <p:spPr>
          <a:xfrm>
            <a:off x="256032" y="914400"/>
            <a:ext cx="1536192" cy="1417320"/>
          </a:xfrm>
          <a:prstGeom prst="rect">
            <a:avLst/>
          </a:prstGeom>
          <a:solidFill>
            <a:srgbClr val="0D7A8A"/>
          </a:solidFill>
          <a:ln w="12700">
            <a:solidFill>
              <a:srgbClr val="0D7A8A"/>
            </a:solidFill>
            <a:prstDash val="solid"/>
          </a:ln>
        </p:spPr>
        <p:txBody>
          <a:bodyPr/>
          <a:lstStyle/>
          <a:p>
            <a:endParaRPr lang="en-MT"/>
          </a:p>
        </p:txBody>
      </p:sp>
      <p:sp>
        <p:nvSpPr>
          <p:cNvPr id="6" name="Text 4"/>
          <p:cNvSpPr/>
          <p:nvPr/>
        </p:nvSpPr>
        <p:spPr>
          <a:xfrm>
            <a:off x="256032" y="1005840"/>
            <a:ext cx="1536192" cy="502920"/>
          </a:xfrm>
          <a:prstGeom prst="rect">
            <a:avLst/>
          </a:prstGeom>
          <a:noFill/>
          <a:ln/>
        </p:spPr>
        <p:txBody>
          <a:bodyPr wrap="square" rtlCol="0" anchor="t"/>
          <a:lstStyle/>
          <a:p>
            <a:pPr marL="0" indent="0" algn="ctr">
              <a:buNone/>
            </a:pPr>
            <a:r>
              <a:rPr lang="en-US" sz="950" b="1" dirty="0">
                <a:solidFill>
                  <a:srgbClr val="FFFFFF"/>
                </a:solidFill>
                <a:latin typeface="Calibri" pitchFamily="34" charset="0"/>
                <a:ea typeface="Calibri" pitchFamily="34" charset="-122"/>
                <a:cs typeface="Calibri" pitchFamily="34" charset="-120"/>
              </a:rPr>
              <a:t>1. DATA</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ACQUISITION</a:t>
            </a:r>
            <a:endParaRPr lang="en-US" sz="950" dirty="0"/>
          </a:p>
        </p:txBody>
      </p:sp>
      <p:sp>
        <p:nvSpPr>
          <p:cNvPr id="7" name="Shape 5"/>
          <p:cNvSpPr/>
          <p:nvPr/>
        </p:nvSpPr>
        <p:spPr>
          <a:xfrm>
            <a:off x="365760" y="1508760"/>
            <a:ext cx="1316736" cy="27432"/>
          </a:xfrm>
          <a:prstGeom prst="rect">
            <a:avLst/>
          </a:prstGeom>
          <a:solidFill>
            <a:srgbClr val="FFFFFF"/>
          </a:solidFill>
          <a:ln w="12700">
            <a:solidFill>
              <a:srgbClr val="FFFFFF"/>
            </a:solidFill>
            <a:prstDash val="solid"/>
          </a:ln>
        </p:spPr>
        <p:txBody>
          <a:bodyPr/>
          <a:lstStyle/>
          <a:p>
            <a:endParaRPr lang="en-MT"/>
          </a:p>
        </p:txBody>
      </p:sp>
      <p:sp>
        <p:nvSpPr>
          <p:cNvPr id="8" name="Text 6"/>
          <p:cNvSpPr/>
          <p:nvPr/>
        </p:nvSpPr>
        <p:spPr>
          <a:xfrm>
            <a:off x="256032" y="1572768"/>
            <a:ext cx="1536192" cy="694944"/>
          </a:xfrm>
          <a:prstGeom prst="rect">
            <a:avLst/>
          </a:prstGeom>
          <a:noFill/>
          <a:ln/>
        </p:spPr>
        <p:txBody>
          <a:bodyPr wrap="square" rtlCol="0" anchor="t"/>
          <a:lstStyle/>
          <a:p>
            <a:pPr marL="0" indent="0" algn="ctr">
              <a:lnSpc>
                <a:spcPct val="140000"/>
              </a:lnSpc>
              <a:buNone/>
            </a:pPr>
            <a:r>
              <a:rPr lang="en-US" sz="800" dirty="0">
                <a:solidFill>
                  <a:srgbClr val="E0EEF2"/>
                </a:solidFill>
                <a:latin typeface="Calibri" pitchFamily="34" charset="0"/>
                <a:ea typeface="Calibri" pitchFamily="34" charset="-122"/>
                <a:cs typeface="Calibri" pitchFamily="34" charset="-120"/>
              </a:rPr>
              <a:t>Re-LAION-5B retrieval</a:t>
            </a:r>
            <a:endParaRPr lang="en-US" sz="800" dirty="0"/>
          </a:p>
          <a:p>
            <a:pPr marL="0" indent="0" algn="ctr">
              <a:lnSpc>
                <a:spcPct val="140000"/>
              </a:lnSpc>
              <a:buNone/>
            </a:pPr>
            <a:r>
              <a:rPr lang="en-US" sz="800" dirty="0">
                <a:solidFill>
                  <a:srgbClr val="E0EEF2"/>
                </a:solidFill>
                <a:latin typeface="Calibri" pitchFamily="34" charset="0"/>
                <a:ea typeface="Calibri" pitchFamily="34" charset="-122"/>
                <a:cs typeface="Calibri" pitchFamily="34" charset="-120"/>
              </a:rPr>
              <a:t>&amp; SDv1.5 generation</a:t>
            </a:r>
            <a:endParaRPr lang="en-US" sz="800" dirty="0"/>
          </a:p>
          <a:p>
            <a:pPr marL="0" indent="0" algn="ctr">
              <a:lnSpc>
                <a:spcPct val="140000"/>
              </a:lnSpc>
              <a:buNone/>
            </a:pPr>
            <a:r>
              <a:rPr lang="en-US" sz="800" dirty="0">
                <a:solidFill>
                  <a:srgbClr val="E0EEF2"/>
                </a:solidFill>
                <a:latin typeface="Calibri" pitchFamily="34" charset="0"/>
                <a:ea typeface="Calibri" pitchFamily="34" charset="-122"/>
                <a:cs typeface="Calibri" pitchFamily="34" charset="-120"/>
              </a:rPr>
              <a:t>200K images each</a:t>
            </a:r>
            <a:endParaRPr lang="en-US" sz="800" dirty="0"/>
          </a:p>
        </p:txBody>
      </p:sp>
      <p:sp>
        <p:nvSpPr>
          <p:cNvPr id="9" name="Shape 7"/>
          <p:cNvSpPr/>
          <p:nvPr/>
        </p:nvSpPr>
        <p:spPr>
          <a:xfrm>
            <a:off x="1828800" y="1586484"/>
            <a:ext cx="128016" cy="73152"/>
          </a:xfrm>
          <a:prstGeom prst="rect">
            <a:avLst/>
          </a:prstGeom>
          <a:solidFill>
            <a:srgbClr val="C9A84C"/>
          </a:solidFill>
          <a:ln w="12700">
            <a:solidFill>
              <a:srgbClr val="C9A84C"/>
            </a:solidFill>
            <a:prstDash val="solid"/>
          </a:ln>
        </p:spPr>
        <p:txBody>
          <a:bodyPr/>
          <a:lstStyle/>
          <a:p>
            <a:endParaRPr lang="en-MT"/>
          </a:p>
        </p:txBody>
      </p:sp>
      <p:sp>
        <p:nvSpPr>
          <p:cNvPr id="10" name="Shape 8"/>
          <p:cNvSpPr/>
          <p:nvPr/>
        </p:nvSpPr>
        <p:spPr>
          <a:xfrm>
            <a:off x="1901952" y="1531620"/>
            <a:ext cx="91440" cy="182880"/>
          </a:xfrm>
          <a:prstGeom prst="rect">
            <a:avLst/>
          </a:prstGeom>
          <a:solidFill>
            <a:srgbClr val="C9A84C"/>
          </a:solidFill>
          <a:ln w="12700">
            <a:solidFill>
              <a:srgbClr val="C9A84C"/>
            </a:solidFill>
            <a:prstDash val="solid"/>
          </a:ln>
        </p:spPr>
        <p:txBody>
          <a:bodyPr/>
          <a:lstStyle/>
          <a:p>
            <a:endParaRPr lang="en-MT"/>
          </a:p>
        </p:txBody>
      </p:sp>
      <p:sp>
        <p:nvSpPr>
          <p:cNvPr id="11" name="Shape 9"/>
          <p:cNvSpPr/>
          <p:nvPr/>
        </p:nvSpPr>
        <p:spPr>
          <a:xfrm>
            <a:off x="2048256" y="969264"/>
            <a:ext cx="1536192" cy="1417320"/>
          </a:xfrm>
          <a:prstGeom prst="rect">
            <a:avLst/>
          </a:prstGeom>
          <a:solidFill>
            <a:srgbClr val="D0CCC2"/>
          </a:solidFill>
          <a:ln w="12700">
            <a:solidFill>
              <a:srgbClr val="D0CCC2"/>
            </a:solidFill>
            <a:prstDash val="solid"/>
          </a:ln>
        </p:spPr>
        <p:txBody>
          <a:bodyPr/>
          <a:lstStyle/>
          <a:p>
            <a:endParaRPr lang="en-MT"/>
          </a:p>
        </p:txBody>
      </p:sp>
      <p:sp>
        <p:nvSpPr>
          <p:cNvPr id="12" name="Shape 10"/>
          <p:cNvSpPr/>
          <p:nvPr/>
        </p:nvSpPr>
        <p:spPr>
          <a:xfrm>
            <a:off x="1993392" y="914400"/>
            <a:ext cx="1536192" cy="1417320"/>
          </a:xfrm>
          <a:prstGeom prst="rect">
            <a:avLst/>
          </a:prstGeom>
          <a:solidFill>
            <a:srgbClr val="1B3A5C"/>
          </a:solidFill>
          <a:ln w="12700">
            <a:solidFill>
              <a:srgbClr val="1B3A5C"/>
            </a:solidFill>
            <a:prstDash val="solid"/>
          </a:ln>
        </p:spPr>
        <p:txBody>
          <a:bodyPr/>
          <a:lstStyle/>
          <a:p>
            <a:endParaRPr lang="en-MT"/>
          </a:p>
        </p:txBody>
      </p:sp>
      <p:sp>
        <p:nvSpPr>
          <p:cNvPr id="13" name="Text 11"/>
          <p:cNvSpPr/>
          <p:nvPr/>
        </p:nvSpPr>
        <p:spPr>
          <a:xfrm>
            <a:off x="1993392" y="1005840"/>
            <a:ext cx="1536192" cy="502920"/>
          </a:xfrm>
          <a:prstGeom prst="rect">
            <a:avLst/>
          </a:prstGeom>
          <a:noFill/>
          <a:ln/>
        </p:spPr>
        <p:txBody>
          <a:bodyPr wrap="square" rtlCol="0" anchor="t"/>
          <a:lstStyle/>
          <a:p>
            <a:pPr marL="0" indent="0" algn="ctr">
              <a:buNone/>
            </a:pPr>
            <a:r>
              <a:rPr lang="en-US" sz="950" b="1" dirty="0">
                <a:solidFill>
                  <a:srgbClr val="FFFFFF"/>
                </a:solidFill>
                <a:latin typeface="Calibri" pitchFamily="34" charset="0"/>
                <a:ea typeface="Calibri" pitchFamily="34" charset="-122"/>
                <a:cs typeface="Calibri" pitchFamily="34" charset="-120"/>
              </a:rPr>
              <a:t>2. STRUCTURAL</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FILTERING</a:t>
            </a:r>
            <a:endParaRPr lang="en-US" sz="950" dirty="0"/>
          </a:p>
        </p:txBody>
      </p:sp>
      <p:sp>
        <p:nvSpPr>
          <p:cNvPr id="14" name="Shape 12"/>
          <p:cNvSpPr/>
          <p:nvPr/>
        </p:nvSpPr>
        <p:spPr>
          <a:xfrm>
            <a:off x="2103120" y="1508760"/>
            <a:ext cx="1316736" cy="27432"/>
          </a:xfrm>
          <a:prstGeom prst="rect">
            <a:avLst/>
          </a:prstGeom>
          <a:solidFill>
            <a:srgbClr val="FFFFFF"/>
          </a:solidFill>
          <a:ln w="12700">
            <a:solidFill>
              <a:srgbClr val="FFFFFF"/>
            </a:solidFill>
            <a:prstDash val="solid"/>
          </a:ln>
        </p:spPr>
        <p:txBody>
          <a:bodyPr/>
          <a:lstStyle/>
          <a:p>
            <a:endParaRPr lang="en-MT"/>
          </a:p>
        </p:txBody>
      </p:sp>
      <p:sp>
        <p:nvSpPr>
          <p:cNvPr id="15" name="Text 13"/>
          <p:cNvSpPr/>
          <p:nvPr/>
        </p:nvSpPr>
        <p:spPr>
          <a:xfrm>
            <a:off x="1993392" y="1572768"/>
            <a:ext cx="1536192" cy="694944"/>
          </a:xfrm>
          <a:prstGeom prst="rect">
            <a:avLst/>
          </a:prstGeom>
          <a:noFill/>
          <a:ln/>
        </p:spPr>
        <p:txBody>
          <a:bodyPr wrap="square" rtlCol="0" anchor="t"/>
          <a:lstStyle/>
          <a:p>
            <a:pPr marL="0" indent="0" algn="ctr">
              <a:lnSpc>
                <a:spcPct val="140000"/>
              </a:lnSpc>
              <a:buNone/>
            </a:pPr>
            <a:r>
              <a:rPr lang="en-US" sz="800" dirty="0">
                <a:solidFill>
                  <a:srgbClr val="E0EEF2"/>
                </a:solidFill>
                <a:latin typeface="Calibri" pitchFamily="34" charset="0"/>
                <a:ea typeface="Calibri" pitchFamily="34" charset="-122"/>
                <a:cs typeface="Calibri" pitchFamily="34" charset="-120"/>
              </a:rPr>
              <a:t>YOLOv12l-Face</a:t>
            </a:r>
            <a:endParaRPr lang="en-US" sz="800" dirty="0"/>
          </a:p>
          <a:p>
            <a:pPr marL="0" indent="0" algn="ctr">
              <a:lnSpc>
                <a:spcPct val="140000"/>
              </a:lnSpc>
              <a:buNone/>
            </a:pPr>
            <a:r>
              <a:rPr lang="en-US" sz="800" dirty="0">
                <a:solidFill>
                  <a:srgbClr val="E0EEF2"/>
                </a:solidFill>
                <a:latin typeface="Calibri" pitchFamily="34" charset="0"/>
                <a:ea typeface="Calibri" pitchFamily="34" charset="-122"/>
                <a:cs typeface="Calibri" pitchFamily="34" charset="-120"/>
              </a:rPr>
              <a:t>MediaPipe FaceMesh</a:t>
            </a:r>
            <a:endParaRPr lang="en-US" sz="800" dirty="0"/>
          </a:p>
          <a:p>
            <a:pPr marL="0" indent="0" algn="ctr">
              <a:lnSpc>
                <a:spcPct val="140000"/>
              </a:lnSpc>
              <a:buNone/>
            </a:pPr>
            <a:r>
              <a:rPr lang="en-US" sz="800" dirty="0">
                <a:solidFill>
                  <a:srgbClr val="E0EEF2"/>
                </a:solidFill>
                <a:latin typeface="Calibri" pitchFamily="34" charset="0"/>
                <a:ea typeface="Calibri" pitchFamily="34" charset="-122"/>
                <a:cs typeface="Calibri" pitchFamily="34" charset="-120"/>
              </a:rPr>
              <a:t>Face–person validation</a:t>
            </a:r>
            <a:endParaRPr lang="en-US" sz="800" dirty="0"/>
          </a:p>
        </p:txBody>
      </p:sp>
      <p:sp>
        <p:nvSpPr>
          <p:cNvPr id="16" name="Shape 14"/>
          <p:cNvSpPr/>
          <p:nvPr/>
        </p:nvSpPr>
        <p:spPr>
          <a:xfrm>
            <a:off x="3566160" y="1586484"/>
            <a:ext cx="128016" cy="73152"/>
          </a:xfrm>
          <a:prstGeom prst="rect">
            <a:avLst/>
          </a:prstGeom>
          <a:solidFill>
            <a:srgbClr val="C9A84C"/>
          </a:solidFill>
          <a:ln w="12700">
            <a:solidFill>
              <a:srgbClr val="C9A84C"/>
            </a:solidFill>
            <a:prstDash val="solid"/>
          </a:ln>
        </p:spPr>
        <p:txBody>
          <a:bodyPr/>
          <a:lstStyle/>
          <a:p>
            <a:endParaRPr lang="en-MT"/>
          </a:p>
        </p:txBody>
      </p:sp>
      <p:sp>
        <p:nvSpPr>
          <p:cNvPr id="17" name="Shape 15"/>
          <p:cNvSpPr/>
          <p:nvPr/>
        </p:nvSpPr>
        <p:spPr>
          <a:xfrm>
            <a:off x="3639312" y="1531620"/>
            <a:ext cx="91440" cy="182880"/>
          </a:xfrm>
          <a:prstGeom prst="rect">
            <a:avLst/>
          </a:prstGeom>
          <a:solidFill>
            <a:srgbClr val="C9A84C"/>
          </a:solidFill>
          <a:ln w="12700">
            <a:solidFill>
              <a:srgbClr val="C9A84C"/>
            </a:solidFill>
            <a:prstDash val="solid"/>
          </a:ln>
        </p:spPr>
        <p:txBody>
          <a:bodyPr/>
          <a:lstStyle/>
          <a:p>
            <a:endParaRPr lang="en-MT"/>
          </a:p>
        </p:txBody>
      </p:sp>
      <p:sp>
        <p:nvSpPr>
          <p:cNvPr id="18" name="Shape 16"/>
          <p:cNvSpPr/>
          <p:nvPr/>
        </p:nvSpPr>
        <p:spPr>
          <a:xfrm>
            <a:off x="3785616" y="969264"/>
            <a:ext cx="1536192" cy="1417320"/>
          </a:xfrm>
          <a:prstGeom prst="rect">
            <a:avLst/>
          </a:prstGeom>
          <a:solidFill>
            <a:srgbClr val="D0CCC2"/>
          </a:solidFill>
          <a:ln w="12700">
            <a:solidFill>
              <a:srgbClr val="D0CCC2"/>
            </a:solidFill>
            <a:prstDash val="solid"/>
          </a:ln>
        </p:spPr>
        <p:txBody>
          <a:bodyPr/>
          <a:lstStyle/>
          <a:p>
            <a:endParaRPr lang="en-MT"/>
          </a:p>
        </p:txBody>
      </p:sp>
      <p:sp>
        <p:nvSpPr>
          <p:cNvPr id="19" name="Shape 17"/>
          <p:cNvSpPr/>
          <p:nvPr/>
        </p:nvSpPr>
        <p:spPr>
          <a:xfrm>
            <a:off x="3730752" y="914400"/>
            <a:ext cx="1536192" cy="1417320"/>
          </a:xfrm>
          <a:prstGeom prst="rect">
            <a:avLst/>
          </a:prstGeom>
          <a:solidFill>
            <a:srgbClr val="0D6B7A"/>
          </a:solidFill>
          <a:ln w="12700">
            <a:solidFill>
              <a:srgbClr val="0D6B7A"/>
            </a:solidFill>
            <a:prstDash val="solid"/>
          </a:ln>
        </p:spPr>
        <p:txBody>
          <a:bodyPr/>
          <a:lstStyle/>
          <a:p>
            <a:endParaRPr lang="en-MT"/>
          </a:p>
        </p:txBody>
      </p:sp>
      <p:sp>
        <p:nvSpPr>
          <p:cNvPr id="20" name="Text 18"/>
          <p:cNvSpPr/>
          <p:nvPr/>
        </p:nvSpPr>
        <p:spPr>
          <a:xfrm>
            <a:off x="3730752" y="1005840"/>
            <a:ext cx="1536192" cy="502920"/>
          </a:xfrm>
          <a:prstGeom prst="rect">
            <a:avLst/>
          </a:prstGeom>
          <a:noFill/>
          <a:ln/>
        </p:spPr>
        <p:txBody>
          <a:bodyPr wrap="square" rtlCol="0" anchor="t"/>
          <a:lstStyle/>
          <a:p>
            <a:pPr marL="0" indent="0" algn="ctr">
              <a:buNone/>
            </a:pPr>
            <a:r>
              <a:rPr lang="en-US" sz="950" b="1" dirty="0">
                <a:solidFill>
                  <a:srgbClr val="FFFFFF"/>
                </a:solidFill>
                <a:latin typeface="Calibri" pitchFamily="34" charset="0"/>
                <a:ea typeface="Calibri" pitchFamily="34" charset="-122"/>
                <a:cs typeface="Calibri" pitchFamily="34" charset="-120"/>
              </a:rPr>
              <a:t>3. DEMOGRAPHIC</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ANNOTATION</a:t>
            </a:r>
            <a:endParaRPr lang="en-US" sz="950" dirty="0"/>
          </a:p>
        </p:txBody>
      </p:sp>
      <p:sp>
        <p:nvSpPr>
          <p:cNvPr id="21" name="Shape 19"/>
          <p:cNvSpPr/>
          <p:nvPr/>
        </p:nvSpPr>
        <p:spPr>
          <a:xfrm>
            <a:off x="3840480" y="1508760"/>
            <a:ext cx="1316736" cy="27432"/>
          </a:xfrm>
          <a:prstGeom prst="rect">
            <a:avLst/>
          </a:prstGeom>
          <a:solidFill>
            <a:srgbClr val="FFFFFF"/>
          </a:solidFill>
          <a:ln w="12700">
            <a:solidFill>
              <a:srgbClr val="FFFFFF"/>
            </a:solidFill>
            <a:prstDash val="solid"/>
          </a:ln>
        </p:spPr>
        <p:txBody>
          <a:bodyPr/>
          <a:lstStyle/>
          <a:p>
            <a:endParaRPr lang="en-MT"/>
          </a:p>
        </p:txBody>
      </p:sp>
      <p:sp>
        <p:nvSpPr>
          <p:cNvPr id="22" name="Text 20"/>
          <p:cNvSpPr/>
          <p:nvPr/>
        </p:nvSpPr>
        <p:spPr>
          <a:xfrm>
            <a:off x="3730752" y="1572768"/>
            <a:ext cx="1536192" cy="694944"/>
          </a:xfrm>
          <a:prstGeom prst="rect">
            <a:avLst/>
          </a:prstGeom>
          <a:noFill/>
          <a:ln/>
        </p:spPr>
        <p:txBody>
          <a:bodyPr wrap="square" rtlCol="0" anchor="t"/>
          <a:lstStyle/>
          <a:p>
            <a:pPr marL="0" indent="0" algn="ctr">
              <a:lnSpc>
                <a:spcPct val="140000"/>
              </a:lnSpc>
              <a:buNone/>
            </a:pPr>
            <a:r>
              <a:rPr lang="en-US" sz="800" dirty="0">
                <a:solidFill>
                  <a:srgbClr val="E0EEF2"/>
                </a:solidFill>
                <a:latin typeface="Calibri" pitchFamily="34" charset="0"/>
                <a:ea typeface="Calibri" pitchFamily="34" charset="-122"/>
                <a:cs typeface="Calibri" pitchFamily="34" charset="-120"/>
              </a:rPr>
              <a:t>Gender: Realistic GC</a:t>
            </a:r>
            <a:endParaRPr lang="en-US" sz="800" dirty="0"/>
          </a:p>
          <a:p>
            <a:pPr marL="0" indent="0" algn="ctr">
              <a:lnSpc>
                <a:spcPct val="140000"/>
              </a:lnSpc>
              <a:buNone/>
            </a:pPr>
            <a:r>
              <a:rPr lang="en-US" sz="800" dirty="0">
                <a:solidFill>
                  <a:srgbClr val="E0EEF2"/>
                </a:solidFill>
                <a:latin typeface="Calibri" pitchFamily="34" charset="0"/>
                <a:ea typeface="Calibri" pitchFamily="34" charset="-122"/>
                <a:cs typeface="Calibri" pitchFamily="34" charset="-120"/>
              </a:rPr>
              <a:t>Skin Tone: VGG-16 MST10</a:t>
            </a:r>
            <a:endParaRPr lang="en-US" sz="800" dirty="0"/>
          </a:p>
          <a:p>
            <a:pPr marL="0" indent="0" algn="ctr">
              <a:lnSpc>
                <a:spcPct val="140000"/>
              </a:lnSpc>
              <a:buNone/>
            </a:pPr>
            <a:r>
              <a:rPr lang="en-US" sz="800" dirty="0">
                <a:solidFill>
                  <a:srgbClr val="E0EEF2"/>
                </a:solidFill>
                <a:latin typeface="Calibri" pitchFamily="34" charset="0"/>
                <a:ea typeface="Calibri" pitchFamily="34" charset="-122"/>
                <a:cs typeface="Calibri" pitchFamily="34" charset="-120"/>
              </a:rPr>
              <a:t>200,000 labels each</a:t>
            </a:r>
            <a:endParaRPr lang="en-US" sz="800" dirty="0"/>
          </a:p>
        </p:txBody>
      </p:sp>
      <p:sp>
        <p:nvSpPr>
          <p:cNvPr id="23" name="Shape 21"/>
          <p:cNvSpPr/>
          <p:nvPr/>
        </p:nvSpPr>
        <p:spPr>
          <a:xfrm>
            <a:off x="5303520" y="1586484"/>
            <a:ext cx="128016" cy="73152"/>
          </a:xfrm>
          <a:prstGeom prst="rect">
            <a:avLst/>
          </a:prstGeom>
          <a:solidFill>
            <a:srgbClr val="C9A84C"/>
          </a:solidFill>
          <a:ln w="12700">
            <a:solidFill>
              <a:srgbClr val="C9A84C"/>
            </a:solidFill>
            <a:prstDash val="solid"/>
          </a:ln>
        </p:spPr>
        <p:txBody>
          <a:bodyPr/>
          <a:lstStyle/>
          <a:p>
            <a:endParaRPr lang="en-MT"/>
          </a:p>
        </p:txBody>
      </p:sp>
      <p:sp>
        <p:nvSpPr>
          <p:cNvPr id="24" name="Shape 22"/>
          <p:cNvSpPr/>
          <p:nvPr/>
        </p:nvSpPr>
        <p:spPr>
          <a:xfrm>
            <a:off x="5376672" y="1531620"/>
            <a:ext cx="91440" cy="182880"/>
          </a:xfrm>
          <a:prstGeom prst="rect">
            <a:avLst/>
          </a:prstGeom>
          <a:solidFill>
            <a:srgbClr val="C9A84C"/>
          </a:solidFill>
          <a:ln w="12700">
            <a:solidFill>
              <a:srgbClr val="C9A84C"/>
            </a:solidFill>
            <a:prstDash val="solid"/>
          </a:ln>
        </p:spPr>
        <p:txBody>
          <a:bodyPr/>
          <a:lstStyle/>
          <a:p>
            <a:endParaRPr lang="en-MT"/>
          </a:p>
        </p:txBody>
      </p:sp>
      <p:sp>
        <p:nvSpPr>
          <p:cNvPr id="25" name="Shape 23"/>
          <p:cNvSpPr/>
          <p:nvPr/>
        </p:nvSpPr>
        <p:spPr>
          <a:xfrm>
            <a:off x="5522976" y="969264"/>
            <a:ext cx="1536192" cy="1417320"/>
          </a:xfrm>
          <a:prstGeom prst="rect">
            <a:avLst/>
          </a:prstGeom>
          <a:solidFill>
            <a:srgbClr val="D0CCC2"/>
          </a:solidFill>
          <a:ln w="12700">
            <a:solidFill>
              <a:srgbClr val="D0CCC2"/>
            </a:solidFill>
            <a:prstDash val="solid"/>
          </a:ln>
        </p:spPr>
        <p:txBody>
          <a:bodyPr/>
          <a:lstStyle/>
          <a:p>
            <a:endParaRPr lang="en-MT"/>
          </a:p>
        </p:txBody>
      </p:sp>
      <p:sp>
        <p:nvSpPr>
          <p:cNvPr id="26" name="Shape 24"/>
          <p:cNvSpPr/>
          <p:nvPr/>
        </p:nvSpPr>
        <p:spPr>
          <a:xfrm>
            <a:off x="5468112" y="914400"/>
            <a:ext cx="1536192" cy="1417320"/>
          </a:xfrm>
          <a:prstGeom prst="rect">
            <a:avLst/>
          </a:prstGeom>
          <a:solidFill>
            <a:srgbClr val="1B3A5C"/>
          </a:solidFill>
          <a:ln w="12700">
            <a:solidFill>
              <a:srgbClr val="1B3A5C"/>
            </a:solidFill>
            <a:prstDash val="solid"/>
          </a:ln>
        </p:spPr>
        <p:txBody>
          <a:bodyPr/>
          <a:lstStyle/>
          <a:p>
            <a:endParaRPr lang="en-MT"/>
          </a:p>
        </p:txBody>
      </p:sp>
      <p:sp>
        <p:nvSpPr>
          <p:cNvPr id="27" name="Text 25"/>
          <p:cNvSpPr/>
          <p:nvPr/>
        </p:nvSpPr>
        <p:spPr>
          <a:xfrm>
            <a:off x="5468112" y="1005840"/>
            <a:ext cx="1536192" cy="502920"/>
          </a:xfrm>
          <a:prstGeom prst="rect">
            <a:avLst/>
          </a:prstGeom>
          <a:noFill/>
          <a:ln/>
        </p:spPr>
        <p:txBody>
          <a:bodyPr wrap="square" rtlCol="0" anchor="t"/>
          <a:lstStyle/>
          <a:p>
            <a:pPr marL="0" indent="0" algn="ctr">
              <a:buNone/>
            </a:pPr>
            <a:r>
              <a:rPr lang="en-US" sz="950" b="1" dirty="0">
                <a:solidFill>
                  <a:srgbClr val="FFFFFF"/>
                </a:solidFill>
                <a:latin typeface="Calibri" pitchFamily="34" charset="0"/>
                <a:ea typeface="Calibri" pitchFamily="34" charset="-122"/>
                <a:cs typeface="Calibri" pitchFamily="34" charset="-120"/>
              </a:rPr>
              <a:t>4. TRANSFORMATION</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PIPELINE</a:t>
            </a:r>
            <a:endParaRPr lang="en-US" sz="950" dirty="0"/>
          </a:p>
        </p:txBody>
      </p:sp>
      <p:sp>
        <p:nvSpPr>
          <p:cNvPr id="28" name="Shape 26"/>
          <p:cNvSpPr/>
          <p:nvPr/>
        </p:nvSpPr>
        <p:spPr>
          <a:xfrm>
            <a:off x="5577840" y="1508760"/>
            <a:ext cx="1316736" cy="27432"/>
          </a:xfrm>
          <a:prstGeom prst="rect">
            <a:avLst/>
          </a:prstGeom>
          <a:solidFill>
            <a:srgbClr val="FFFFFF"/>
          </a:solidFill>
          <a:ln w="12700">
            <a:solidFill>
              <a:srgbClr val="FFFFFF"/>
            </a:solidFill>
            <a:prstDash val="solid"/>
          </a:ln>
        </p:spPr>
        <p:txBody>
          <a:bodyPr/>
          <a:lstStyle/>
          <a:p>
            <a:endParaRPr lang="en-MT"/>
          </a:p>
        </p:txBody>
      </p:sp>
      <p:sp>
        <p:nvSpPr>
          <p:cNvPr id="29" name="Text 27"/>
          <p:cNvSpPr/>
          <p:nvPr/>
        </p:nvSpPr>
        <p:spPr>
          <a:xfrm>
            <a:off x="5468112" y="1572768"/>
            <a:ext cx="1536192" cy="694944"/>
          </a:xfrm>
          <a:prstGeom prst="rect">
            <a:avLst/>
          </a:prstGeom>
          <a:noFill/>
          <a:ln/>
        </p:spPr>
        <p:txBody>
          <a:bodyPr wrap="square" rtlCol="0" anchor="t"/>
          <a:lstStyle/>
          <a:p>
            <a:pPr marL="0" indent="0" algn="ctr">
              <a:lnSpc>
                <a:spcPct val="140000"/>
              </a:lnSpc>
              <a:buNone/>
            </a:pPr>
            <a:r>
              <a:rPr lang="en-US" sz="800" dirty="0">
                <a:solidFill>
                  <a:srgbClr val="E0EEF2"/>
                </a:solidFill>
                <a:latin typeface="Calibri" pitchFamily="34" charset="0"/>
                <a:ea typeface="Calibri" pitchFamily="34" charset="-122"/>
                <a:cs typeface="Calibri" pitchFamily="34" charset="-120"/>
              </a:rPr>
              <a:t>15 transformations</a:t>
            </a:r>
            <a:endParaRPr lang="en-US" sz="800" dirty="0"/>
          </a:p>
          <a:p>
            <a:pPr marL="0" indent="0" algn="ctr">
              <a:lnSpc>
                <a:spcPct val="140000"/>
              </a:lnSpc>
              <a:buNone/>
            </a:pPr>
            <a:r>
              <a:rPr lang="en-US" sz="800" dirty="0">
                <a:solidFill>
                  <a:srgbClr val="E0EEF2"/>
                </a:solidFill>
                <a:latin typeface="Calibri" pitchFamily="34" charset="0"/>
                <a:ea typeface="Calibri" pitchFamily="34" charset="-122"/>
                <a:cs typeface="Calibri" pitchFamily="34" charset="-120"/>
              </a:rPr>
              <a:t>5 feature families</a:t>
            </a:r>
            <a:endParaRPr lang="en-US" sz="800" dirty="0"/>
          </a:p>
        </p:txBody>
      </p:sp>
      <p:sp>
        <p:nvSpPr>
          <p:cNvPr id="30" name="Shape 28"/>
          <p:cNvSpPr/>
          <p:nvPr/>
        </p:nvSpPr>
        <p:spPr>
          <a:xfrm>
            <a:off x="7040880" y="1586484"/>
            <a:ext cx="128016" cy="73152"/>
          </a:xfrm>
          <a:prstGeom prst="rect">
            <a:avLst/>
          </a:prstGeom>
          <a:solidFill>
            <a:srgbClr val="C9A84C"/>
          </a:solidFill>
          <a:ln w="12700">
            <a:solidFill>
              <a:srgbClr val="C9A84C"/>
            </a:solidFill>
            <a:prstDash val="solid"/>
          </a:ln>
        </p:spPr>
        <p:txBody>
          <a:bodyPr/>
          <a:lstStyle/>
          <a:p>
            <a:endParaRPr lang="en-MT"/>
          </a:p>
        </p:txBody>
      </p:sp>
      <p:sp>
        <p:nvSpPr>
          <p:cNvPr id="31" name="Shape 29"/>
          <p:cNvSpPr/>
          <p:nvPr/>
        </p:nvSpPr>
        <p:spPr>
          <a:xfrm>
            <a:off x="7114032" y="1531620"/>
            <a:ext cx="91440" cy="182880"/>
          </a:xfrm>
          <a:prstGeom prst="rect">
            <a:avLst/>
          </a:prstGeom>
          <a:solidFill>
            <a:srgbClr val="C9A84C"/>
          </a:solidFill>
          <a:ln w="12700">
            <a:solidFill>
              <a:srgbClr val="C9A84C"/>
            </a:solidFill>
            <a:prstDash val="solid"/>
          </a:ln>
        </p:spPr>
        <p:txBody>
          <a:bodyPr/>
          <a:lstStyle/>
          <a:p>
            <a:endParaRPr lang="en-MT"/>
          </a:p>
        </p:txBody>
      </p:sp>
      <p:sp>
        <p:nvSpPr>
          <p:cNvPr id="32" name="Shape 30"/>
          <p:cNvSpPr/>
          <p:nvPr/>
        </p:nvSpPr>
        <p:spPr>
          <a:xfrm>
            <a:off x="7260336" y="969264"/>
            <a:ext cx="1536192" cy="1417320"/>
          </a:xfrm>
          <a:prstGeom prst="rect">
            <a:avLst/>
          </a:prstGeom>
          <a:solidFill>
            <a:srgbClr val="D0CCC2"/>
          </a:solidFill>
          <a:ln w="12700">
            <a:solidFill>
              <a:srgbClr val="D0CCC2"/>
            </a:solidFill>
            <a:prstDash val="solid"/>
          </a:ln>
        </p:spPr>
        <p:txBody>
          <a:bodyPr/>
          <a:lstStyle/>
          <a:p>
            <a:endParaRPr lang="en-MT"/>
          </a:p>
        </p:txBody>
      </p:sp>
      <p:sp>
        <p:nvSpPr>
          <p:cNvPr id="33" name="Shape 31"/>
          <p:cNvSpPr/>
          <p:nvPr/>
        </p:nvSpPr>
        <p:spPr>
          <a:xfrm>
            <a:off x="7205472" y="914400"/>
            <a:ext cx="1536192" cy="1417320"/>
          </a:xfrm>
          <a:prstGeom prst="rect">
            <a:avLst/>
          </a:prstGeom>
          <a:solidFill>
            <a:srgbClr val="0D7A8A"/>
          </a:solidFill>
          <a:ln w="12700">
            <a:solidFill>
              <a:srgbClr val="0D7A8A"/>
            </a:solidFill>
            <a:prstDash val="solid"/>
          </a:ln>
        </p:spPr>
        <p:txBody>
          <a:bodyPr/>
          <a:lstStyle/>
          <a:p>
            <a:endParaRPr lang="en-MT"/>
          </a:p>
        </p:txBody>
      </p:sp>
      <p:sp>
        <p:nvSpPr>
          <p:cNvPr id="34" name="Text 32"/>
          <p:cNvSpPr/>
          <p:nvPr/>
        </p:nvSpPr>
        <p:spPr>
          <a:xfrm>
            <a:off x="7205472" y="1005840"/>
            <a:ext cx="1536192" cy="502920"/>
          </a:xfrm>
          <a:prstGeom prst="rect">
            <a:avLst/>
          </a:prstGeom>
          <a:noFill/>
          <a:ln/>
        </p:spPr>
        <p:txBody>
          <a:bodyPr wrap="square" rtlCol="0" anchor="t"/>
          <a:lstStyle/>
          <a:p>
            <a:pPr marL="0" indent="0" algn="ctr">
              <a:buNone/>
            </a:pPr>
            <a:r>
              <a:rPr lang="en-US" sz="950" b="1" dirty="0">
                <a:solidFill>
                  <a:srgbClr val="FFFFFF"/>
                </a:solidFill>
                <a:latin typeface="Calibri" pitchFamily="34" charset="0"/>
                <a:ea typeface="Calibri" pitchFamily="34" charset="-122"/>
                <a:cs typeface="Calibri" pitchFamily="34" charset="-120"/>
              </a:rPr>
              <a:t>5. PROBING &amp;</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DEBIASING</a:t>
            </a:r>
            <a:endParaRPr lang="en-US" sz="950" dirty="0"/>
          </a:p>
        </p:txBody>
      </p:sp>
      <p:sp>
        <p:nvSpPr>
          <p:cNvPr id="35" name="Shape 33"/>
          <p:cNvSpPr/>
          <p:nvPr/>
        </p:nvSpPr>
        <p:spPr>
          <a:xfrm>
            <a:off x="7315200" y="1508760"/>
            <a:ext cx="1316736" cy="27432"/>
          </a:xfrm>
          <a:prstGeom prst="rect">
            <a:avLst/>
          </a:prstGeom>
          <a:solidFill>
            <a:srgbClr val="FFFFFF"/>
          </a:solidFill>
          <a:ln w="12700">
            <a:solidFill>
              <a:srgbClr val="FFFFFF"/>
            </a:solidFill>
            <a:prstDash val="solid"/>
          </a:ln>
        </p:spPr>
        <p:txBody>
          <a:bodyPr/>
          <a:lstStyle/>
          <a:p>
            <a:endParaRPr lang="en-MT"/>
          </a:p>
        </p:txBody>
      </p:sp>
      <p:sp>
        <p:nvSpPr>
          <p:cNvPr id="36" name="Text 34"/>
          <p:cNvSpPr/>
          <p:nvPr/>
        </p:nvSpPr>
        <p:spPr>
          <a:xfrm>
            <a:off x="7205472" y="1572768"/>
            <a:ext cx="1536192" cy="694944"/>
          </a:xfrm>
          <a:prstGeom prst="rect">
            <a:avLst/>
          </a:prstGeom>
          <a:noFill/>
          <a:ln/>
        </p:spPr>
        <p:txBody>
          <a:bodyPr wrap="square" rtlCol="0" anchor="t"/>
          <a:lstStyle/>
          <a:p>
            <a:pPr marL="0" indent="0" algn="ctr">
              <a:lnSpc>
                <a:spcPct val="140000"/>
              </a:lnSpc>
              <a:buNone/>
            </a:pPr>
            <a:r>
              <a:rPr lang="en-US" sz="800" dirty="0">
                <a:solidFill>
                  <a:srgbClr val="E0EEF2"/>
                </a:solidFill>
                <a:latin typeface="Calibri" pitchFamily="34" charset="0"/>
                <a:ea typeface="Calibri" pitchFamily="34" charset="-122"/>
                <a:cs typeface="Calibri" pitchFamily="34" charset="-120"/>
              </a:rPr>
              <a:t>AUC-based gender &amp;</a:t>
            </a:r>
            <a:endParaRPr lang="en-US" sz="800" dirty="0"/>
          </a:p>
          <a:p>
            <a:pPr marL="0" indent="0" algn="ctr">
              <a:lnSpc>
                <a:spcPct val="140000"/>
              </a:lnSpc>
              <a:buNone/>
            </a:pPr>
            <a:r>
              <a:rPr lang="en-US" sz="800" dirty="0">
                <a:solidFill>
                  <a:srgbClr val="E0EEF2"/>
                </a:solidFill>
                <a:latin typeface="Calibri" pitchFamily="34" charset="0"/>
                <a:ea typeface="Calibri" pitchFamily="34" charset="-122"/>
                <a:cs typeface="Calibri" pitchFamily="34" charset="-120"/>
              </a:rPr>
              <a:t>skin tone probing</a:t>
            </a:r>
            <a:endParaRPr lang="en-US" sz="800" dirty="0"/>
          </a:p>
          <a:p>
            <a:pPr marL="0" indent="0" algn="ctr">
              <a:lnSpc>
                <a:spcPct val="140000"/>
              </a:lnSpc>
              <a:buNone/>
            </a:pPr>
            <a:r>
              <a:rPr lang="en-US" sz="800" dirty="0">
                <a:solidFill>
                  <a:srgbClr val="E0EEF2"/>
                </a:solidFill>
                <a:latin typeface="Calibri" pitchFamily="34" charset="0"/>
                <a:ea typeface="Calibri" pitchFamily="34" charset="-122"/>
                <a:cs typeface="Calibri" pitchFamily="34" charset="-120"/>
              </a:rPr>
              <a:t>ITI-GEN + ControlNet</a:t>
            </a:r>
            <a:endParaRPr lang="en-US" sz="800" dirty="0"/>
          </a:p>
        </p:txBody>
      </p:sp>
      <p:sp>
        <p:nvSpPr>
          <p:cNvPr id="37" name="Shape 35"/>
          <p:cNvSpPr/>
          <p:nvPr/>
        </p:nvSpPr>
        <p:spPr>
          <a:xfrm>
            <a:off x="256032" y="2487168"/>
            <a:ext cx="8631936" cy="594360"/>
          </a:xfrm>
          <a:prstGeom prst="rect">
            <a:avLst/>
          </a:prstGeom>
          <a:solidFill>
            <a:srgbClr val="FFFFFF"/>
          </a:solidFill>
          <a:ln w="12700">
            <a:solidFill>
              <a:srgbClr val="E8E4DC"/>
            </a:solidFill>
            <a:prstDash val="solid"/>
          </a:ln>
          <a:effectLst>
            <a:outerShdw blurRad="63500" dist="25400" dir="8100000" algn="bl" rotWithShape="0">
              <a:srgbClr val="000000">
                <a:alpha val="10000"/>
              </a:srgbClr>
            </a:outerShdw>
          </a:effectLst>
        </p:spPr>
        <p:txBody>
          <a:bodyPr/>
          <a:lstStyle/>
          <a:p>
            <a:endParaRPr lang="en-MT"/>
          </a:p>
        </p:txBody>
      </p:sp>
      <p:sp>
        <p:nvSpPr>
          <p:cNvPr id="38" name="Shape 36"/>
          <p:cNvSpPr/>
          <p:nvPr/>
        </p:nvSpPr>
        <p:spPr>
          <a:xfrm>
            <a:off x="256032" y="2487168"/>
            <a:ext cx="64008" cy="594360"/>
          </a:xfrm>
          <a:prstGeom prst="rect">
            <a:avLst/>
          </a:prstGeom>
          <a:solidFill>
            <a:srgbClr val="C9A84C"/>
          </a:solidFill>
          <a:ln w="12700">
            <a:solidFill>
              <a:srgbClr val="C9A84C"/>
            </a:solidFill>
            <a:prstDash val="solid"/>
          </a:ln>
        </p:spPr>
        <p:txBody>
          <a:bodyPr/>
          <a:lstStyle/>
          <a:p>
            <a:endParaRPr lang="en-MT"/>
          </a:p>
        </p:txBody>
      </p:sp>
      <p:sp>
        <p:nvSpPr>
          <p:cNvPr id="39" name="Text 37"/>
          <p:cNvSpPr/>
          <p:nvPr/>
        </p:nvSpPr>
        <p:spPr>
          <a:xfrm>
            <a:off x="402336" y="2523744"/>
            <a:ext cx="8412480" cy="521208"/>
          </a:xfrm>
          <a:prstGeom prst="rect">
            <a:avLst/>
          </a:prstGeom>
          <a:noFill/>
          <a:ln/>
        </p:spPr>
        <p:txBody>
          <a:bodyPr wrap="square" rtlCol="0" anchor="ctr"/>
          <a:lstStyle/>
          <a:p>
            <a:pPr marL="0" indent="0">
              <a:buNone/>
            </a:pPr>
            <a:r>
              <a:rPr lang="en-US" sz="1000" b="1" dirty="0">
                <a:solidFill>
                  <a:srgbClr val="1B3A5C"/>
                </a:solidFill>
                <a:latin typeface="Calibri" pitchFamily="34" charset="0"/>
                <a:ea typeface="Calibri" pitchFamily="34" charset="-122"/>
                <a:cs typeface="Calibri" pitchFamily="34" charset="-120"/>
              </a:rPr>
              <a:t>Scope:  </a:t>
            </a:r>
            <a:r>
              <a:rPr lang="en-US" sz="1000" dirty="0">
                <a:solidFill>
                  <a:srgbClr val="1C2B3A"/>
                </a:solidFill>
                <a:latin typeface="Calibri" pitchFamily="34" charset="0"/>
                <a:ea typeface="Calibri" pitchFamily="34" charset="-122"/>
                <a:cs typeface="Calibri" pitchFamily="34" charset="-120"/>
              </a:rPr>
              <a:t>200 ISCO-08-aligned occupations  ·  200,000 images per dataset  ·  Re-LAION-5B (retrieved) vs Stable Diffusion v1.5 (generated)  ·  COCO included as structural reference class for dataset classification</a:t>
            </a:r>
            <a:endParaRPr lang="en-US" sz="1000" dirty="0"/>
          </a:p>
        </p:txBody>
      </p:sp>
      <p:sp>
        <p:nvSpPr>
          <p:cNvPr id="40" name="Text 38"/>
          <p:cNvSpPr/>
          <p:nvPr/>
        </p:nvSpPr>
        <p:spPr>
          <a:xfrm>
            <a:off x="347472" y="3246120"/>
            <a:ext cx="8503920" cy="347472"/>
          </a:xfrm>
          <a:prstGeom prst="rect">
            <a:avLst/>
          </a:prstGeom>
          <a:noFill/>
          <a:ln/>
        </p:spPr>
        <p:txBody>
          <a:bodyPr wrap="square" rtlCol="0" anchor="ctr"/>
          <a:lstStyle/>
          <a:p>
            <a:pPr marL="0" indent="0">
              <a:lnSpc>
                <a:spcPct val="120000"/>
              </a:lnSpc>
              <a:buNone/>
            </a:pPr>
            <a:r>
              <a:rPr lang="en-US" sz="950" b="1" dirty="0">
                <a:solidFill>
                  <a:srgbClr val="0D7A8A"/>
                </a:solidFill>
                <a:latin typeface="Calibri" pitchFamily="34" charset="0"/>
                <a:ea typeface="Calibri" pitchFamily="34" charset="-122"/>
                <a:cs typeface="Calibri" pitchFamily="34" charset="-120"/>
              </a:rPr>
              <a:t>▸  </a:t>
            </a:r>
            <a:r>
              <a:rPr lang="en-US" sz="950" dirty="0">
                <a:solidFill>
                  <a:srgbClr val="1C2B3A"/>
                </a:solidFill>
                <a:latin typeface="Calibri" pitchFamily="34" charset="0"/>
                <a:ea typeface="Calibri" pitchFamily="34" charset="-122"/>
                <a:cs typeface="Calibri" pitchFamily="34" charset="-120"/>
              </a:rPr>
              <a:t>Gender-neutral prompts throughout — no demographic priors injected at query or generation stage</a:t>
            </a:r>
            <a:endParaRPr lang="en-US" sz="950" dirty="0"/>
          </a:p>
        </p:txBody>
      </p:sp>
      <p:sp>
        <p:nvSpPr>
          <p:cNvPr id="41" name="Text 39"/>
          <p:cNvSpPr/>
          <p:nvPr/>
        </p:nvSpPr>
        <p:spPr>
          <a:xfrm>
            <a:off x="347472" y="3630168"/>
            <a:ext cx="8503920" cy="347472"/>
          </a:xfrm>
          <a:prstGeom prst="rect">
            <a:avLst/>
          </a:prstGeom>
          <a:noFill/>
          <a:ln/>
        </p:spPr>
        <p:txBody>
          <a:bodyPr wrap="square" rtlCol="0" anchor="ctr"/>
          <a:lstStyle/>
          <a:p>
            <a:pPr marL="0" indent="0">
              <a:lnSpc>
                <a:spcPct val="120000"/>
              </a:lnSpc>
              <a:buNone/>
            </a:pPr>
            <a:r>
              <a:rPr lang="en-US" sz="950" b="1" dirty="0">
                <a:solidFill>
                  <a:srgbClr val="0D7A8A"/>
                </a:solidFill>
                <a:latin typeface="Calibri" pitchFamily="34" charset="0"/>
                <a:ea typeface="Calibri" pitchFamily="34" charset="-122"/>
                <a:cs typeface="Calibri" pitchFamily="34" charset="-120"/>
              </a:rPr>
              <a:t>▸  </a:t>
            </a:r>
            <a:r>
              <a:rPr lang="en-US" sz="950" dirty="0">
                <a:solidFill>
                  <a:srgbClr val="1C2B3A"/>
                </a:solidFill>
                <a:latin typeface="Calibri" pitchFamily="34" charset="0"/>
                <a:ea typeface="Calibri" pitchFamily="34" charset="-122"/>
                <a:cs typeface="Calibri" pitchFamily="34" charset="-120"/>
              </a:rPr>
              <a:t>Guidance scale s = 1.0 — conservative lower bound; production bias would be stronger at s = 7</a:t>
            </a:r>
            <a:endParaRPr lang="en-US" sz="950" dirty="0"/>
          </a:p>
        </p:txBody>
      </p:sp>
      <p:sp>
        <p:nvSpPr>
          <p:cNvPr id="42" name="Text 40"/>
          <p:cNvSpPr/>
          <p:nvPr/>
        </p:nvSpPr>
        <p:spPr>
          <a:xfrm>
            <a:off x="347472" y="4014216"/>
            <a:ext cx="8503920" cy="347472"/>
          </a:xfrm>
          <a:prstGeom prst="rect">
            <a:avLst/>
          </a:prstGeom>
          <a:noFill/>
          <a:ln/>
        </p:spPr>
        <p:txBody>
          <a:bodyPr wrap="square" rtlCol="0" anchor="ctr"/>
          <a:lstStyle/>
          <a:p>
            <a:pPr marL="0" indent="0">
              <a:lnSpc>
                <a:spcPct val="120000"/>
              </a:lnSpc>
              <a:buNone/>
            </a:pPr>
            <a:r>
              <a:rPr lang="en-US" sz="950" b="1" dirty="0">
                <a:solidFill>
                  <a:srgbClr val="0D7A8A"/>
                </a:solidFill>
                <a:latin typeface="Calibri" pitchFamily="34" charset="0"/>
                <a:ea typeface="Calibri" pitchFamily="34" charset="-122"/>
                <a:cs typeface="Calibri" pitchFamily="34" charset="-120"/>
              </a:rPr>
              <a:t>▸  </a:t>
            </a:r>
            <a:r>
              <a:rPr lang="en-US" sz="950" dirty="0">
                <a:solidFill>
                  <a:srgbClr val="1C2B3A"/>
                </a:solidFill>
                <a:latin typeface="Calibri" pitchFamily="34" charset="0"/>
                <a:ea typeface="Calibri" pitchFamily="34" charset="-122"/>
                <a:cs typeface="Calibri" pitchFamily="34" charset="-120"/>
              </a:rPr>
              <a:t>Fixed labels across all transformations — representation changes, annotation does not</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E"/>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B3A5C"/>
          </a:solidFill>
          <a:ln w="12700">
            <a:solidFill>
              <a:srgbClr val="1B3A5C"/>
            </a:solidFill>
            <a:prstDash val="solid"/>
          </a:ln>
        </p:spPr>
        <p:txBody>
          <a:bodyPr/>
          <a:lstStyle/>
          <a:p>
            <a:endParaRPr lang="en-MT"/>
          </a:p>
        </p:txBody>
      </p:sp>
      <p:sp>
        <p:nvSpPr>
          <p:cNvPr id="3" name="Text 1"/>
          <p:cNvSpPr/>
          <p:nvPr/>
        </p:nvSpPr>
        <p:spPr>
          <a:xfrm>
            <a:off x="411480" y="0"/>
            <a:ext cx="8321040" cy="713232"/>
          </a:xfrm>
          <a:prstGeom prst="rect">
            <a:avLst/>
          </a:prstGeom>
          <a:noFill/>
          <a:ln/>
        </p:spPr>
        <p:txBody>
          <a:bodyPr wrap="square"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METHODOLOGY  ·  DATA ACQUISITION &amp; STRUCTURAL FILTERING</a:t>
            </a:r>
            <a:endParaRPr lang="en-US" sz="1500" dirty="0"/>
          </a:p>
        </p:txBody>
      </p:sp>
      <p:sp>
        <p:nvSpPr>
          <p:cNvPr id="4" name="Shape 2"/>
          <p:cNvSpPr/>
          <p:nvPr/>
        </p:nvSpPr>
        <p:spPr>
          <a:xfrm>
            <a:off x="256032" y="841248"/>
            <a:ext cx="4160520" cy="4078224"/>
          </a:xfrm>
          <a:prstGeom prst="rect">
            <a:avLst/>
          </a:prstGeom>
          <a:solidFill>
            <a:srgbClr val="FFFFFF"/>
          </a:solidFill>
          <a:ln w="12700">
            <a:solidFill>
              <a:srgbClr val="E8E4DC"/>
            </a:solidFill>
            <a:prstDash val="solid"/>
          </a:ln>
          <a:effectLst>
            <a:outerShdw blurRad="63500" dist="25400" dir="8100000" algn="bl" rotWithShape="0">
              <a:srgbClr val="000000">
                <a:alpha val="10000"/>
              </a:srgbClr>
            </a:outerShdw>
          </a:effectLst>
        </p:spPr>
        <p:txBody>
          <a:bodyPr/>
          <a:lstStyle/>
          <a:p>
            <a:endParaRPr lang="en-MT"/>
          </a:p>
        </p:txBody>
      </p:sp>
      <p:sp>
        <p:nvSpPr>
          <p:cNvPr id="5" name="Shape 3"/>
          <p:cNvSpPr/>
          <p:nvPr/>
        </p:nvSpPr>
        <p:spPr>
          <a:xfrm>
            <a:off x="256032" y="841248"/>
            <a:ext cx="4160520" cy="64008"/>
          </a:xfrm>
          <a:prstGeom prst="rect">
            <a:avLst/>
          </a:prstGeom>
          <a:solidFill>
            <a:srgbClr val="0D7A8A"/>
          </a:solidFill>
          <a:ln w="12700">
            <a:solidFill>
              <a:srgbClr val="0D7A8A"/>
            </a:solidFill>
            <a:prstDash val="solid"/>
          </a:ln>
        </p:spPr>
        <p:txBody>
          <a:bodyPr/>
          <a:lstStyle/>
          <a:p>
            <a:endParaRPr lang="en-MT"/>
          </a:p>
        </p:txBody>
      </p:sp>
      <p:sp>
        <p:nvSpPr>
          <p:cNvPr id="6" name="Text 4"/>
          <p:cNvSpPr/>
          <p:nvPr/>
        </p:nvSpPr>
        <p:spPr>
          <a:xfrm>
            <a:off x="384048" y="932688"/>
            <a:ext cx="3931920" cy="201168"/>
          </a:xfrm>
          <a:prstGeom prst="rect">
            <a:avLst/>
          </a:prstGeom>
          <a:noFill/>
          <a:ln/>
        </p:spPr>
        <p:txBody>
          <a:bodyPr wrap="square" rtlCol="0" anchor="ctr"/>
          <a:lstStyle/>
          <a:p>
            <a:pPr marL="0" indent="0">
              <a:buNone/>
            </a:pPr>
            <a:r>
              <a:rPr lang="en-US" sz="850" b="1" kern="0" spc="120" dirty="0">
                <a:solidFill>
                  <a:srgbClr val="0D7A8A"/>
                </a:solidFill>
                <a:latin typeface="Calibri" pitchFamily="34" charset="0"/>
                <a:ea typeface="Calibri" pitchFamily="34" charset="-122"/>
                <a:cs typeface="Calibri" pitchFamily="34" charset="-120"/>
              </a:rPr>
              <a:t>RE-LAION-5B  RETRIEVAL</a:t>
            </a:r>
            <a:endParaRPr lang="en-US" sz="850" dirty="0"/>
          </a:p>
        </p:txBody>
      </p:sp>
      <p:sp>
        <p:nvSpPr>
          <p:cNvPr id="7" name="Text 5"/>
          <p:cNvSpPr/>
          <p:nvPr/>
        </p:nvSpPr>
        <p:spPr>
          <a:xfrm>
            <a:off x="384048" y="1188720"/>
            <a:ext cx="3913632" cy="448056"/>
          </a:xfrm>
          <a:prstGeom prst="rect">
            <a:avLst/>
          </a:prstGeom>
          <a:noFill/>
          <a:ln/>
        </p:spPr>
        <p:txBody>
          <a:bodyPr wrap="square" rtlCol="0" anchor="ctr"/>
          <a:lstStyle/>
          <a:p>
            <a:pPr marL="0" indent="0">
              <a:lnSpc>
                <a:spcPct val="115000"/>
              </a:lnSpc>
              <a:buNone/>
            </a:pPr>
            <a:r>
              <a:rPr lang="en-US" sz="880" b="1" dirty="0">
                <a:solidFill>
                  <a:srgbClr val="0D7A8A"/>
                </a:solidFill>
                <a:latin typeface="Calibri" pitchFamily="34" charset="0"/>
                <a:ea typeface="Calibri" pitchFamily="34" charset="-122"/>
                <a:cs typeface="Calibri" pitchFamily="34" charset="-120"/>
              </a:rPr>
              <a:t>· Subset:</a:t>
            </a:r>
            <a:r>
              <a:rPr lang="en-US" sz="880" dirty="0">
                <a:solidFill>
                  <a:srgbClr val="1C2B3A"/>
                </a:solidFill>
                <a:latin typeface="Calibri" pitchFamily="34" charset="0"/>
                <a:ea typeface="Calibri" pitchFamily="34" charset="-122"/>
                <a:cs typeface="Calibri" pitchFamily="34" charset="-120"/>
              </a:rPr>
              <a:t> 4 of 128 shards (random) → 65.5M URL-caption pairs</a:t>
            </a:r>
            <a:endParaRPr lang="en-US" sz="880" dirty="0"/>
          </a:p>
        </p:txBody>
      </p:sp>
      <p:sp>
        <p:nvSpPr>
          <p:cNvPr id="8" name="Text 6"/>
          <p:cNvSpPr/>
          <p:nvPr/>
        </p:nvSpPr>
        <p:spPr>
          <a:xfrm>
            <a:off x="384048" y="1645920"/>
            <a:ext cx="3913632" cy="448056"/>
          </a:xfrm>
          <a:prstGeom prst="rect">
            <a:avLst/>
          </a:prstGeom>
          <a:noFill/>
          <a:ln/>
        </p:spPr>
        <p:txBody>
          <a:bodyPr wrap="square" rtlCol="0" anchor="ctr"/>
          <a:lstStyle/>
          <a:p>
            <a:pPr marL="0" indent="0">
              <a:lnSpc>
                <a:spcPct val="115000"/>
              </a:lnSpc>
              <a:buNone/>
            </a:pPr>
            <a:r>
              <a:rPr lang="en-US" sz="880" b="1" dirty="0">
                <a:solidFill>
                  <a:srgbClr val="0D7A8A"/>
                </a:solidFill>
                <a:latin typeface="Calibri" pitchFamily="34" charset="0"/>
                <a:ea typeface="Calibri" pitchFamily="34" charset="-122"/>
                <a:cs typeface="Calibri" pitchFamily="34" charset="-120"/>
              </a:rPr>
              <a:t>· Download &amp; validate:</a:t>
            </a:r>
            <a:r>
              <a:rPr lang="en-US" sz="880" dirty="0">
                <a:solidFill>
                  <a:srgbClr val="1C2B3A"/>
                </a:solidFill>
                <a:latin typeface="Calibri" pitchFamily="34" charset="0"/>
                <a:ea typeface="Calibri" pitchFamily="34" charset="-122"/>
                <a:cs typeface="Calibri" pitchFamily="34" charset="-120"/>
              </a:rPr>
              <a:t> HTTP 2xx + RGB decode + embedding success → 43.5M valid (decay rate 33.7%)</a:t>
            </a:r>
            <a:endParaRPr lang="en-US" sz="880" dirty="0"/>
          </a:p>
        </p:txBody>
      </p:sp>
      <p:sp>
        <p:nvSpPr>
          <p:cNvPr id="9" name="Text 7"/>
          <p:cNvSpPr/>
          <p:nvPr/>
        </p:nvSpPr>
        <p:spPr>
          <a:xfrm>
            <a:off x="384048" y="2103120"/>
            <a:ext cx="3913632" cy="448056"/>
          </a:xfrm>
          <a:prstGeom prst="rect">
            <a:avLst/>
          </a:prstGeom>
          <a:noFill/>
          <a:ln/>
        </p:spPr>
        <p:txBody>
          <a:bodyPr wrap="square" rtlCol="0" anchor="ctr"/>
          <a:lstStyle/>
          <a:p>
            <a:pPr marL="0" indent="0">
              <a:lnSpc>
                <a:spcPct val="115000"/>
              </a:lnSpc>
              <a:buNone/>
            </a:pPr>
            <a:r>
              <a:rPr lang="en-US" sz="880" b="1" dirty="0">
                <a:solidFill>
                  <a:srgbClr val="0D7A8A"/>
                </a:solidFill>
                <a:latin typeface="Calibri" pitchFamily="34" charset="0"/>
                <a:ea typeface="Calibri" pitchFamily="34" charset="-122"/>
                <a:cs typeface="Calibri" pitchFamily="34" charset="-120"/>
              </a:rPr>
              <a:t>· Embedding:</a:t>
            </a:r>
            <a:r>
              <a:rPr lang="en-US" sz="880" dirty="0">
                <a:solidFill>
                  <a:srgbClr val="1C2B3A"/>
                </a:solidFill>
                <a:latin typeface="Calibri" pitchFamily="34" charset="0"/>
                <a:ea typeface="Calibri" pitchFamily="34" charset="-122"/>
                <a:cs typeface="Calibri" pitchFamily="34" charset="-120"/>
              </a:rPr>
              <a:t> CLIP ViT-L/14 (768-dim), L2-normalised, stored in Parquet; FAISS IndexFlatIP per shard</a:t>
            </a:r>
            <a:endParaRPr lang="en-US" sz="880" dirty="0"/>
          </a:p>
        </p:txBody>
      </p:sp>
      <p:sp>
        <p:nvSpPr>
          <p:cNvPr id="10" name="Text 8"/>
          <p:cNvSpPr/>
          <p:nvPr/>
        </p:nvSpPr>
        <p:spPr>
          <a:xfrm>
            <a:off x="384048" y="2560320"/>
            <a:ext cx="3913632" cy="448056"/>
          </a:xfrm>
          <a:prstGeom prst="rect">
            <a:avLst/>
          </a:prstGeom>
          <a:noFill/>
          <a:ln/>
        </p:spPr>
        <p:txBody>
          <a:bodyPr wrap="square" rtlCol="0" anchor="ctr"/>
          <a:lstStyle/>
          <a:p>
            <a:pPr marL="0" indent="0">
              <a:lnSpc>
                <a:spcPct val="115000"/>
              </a:lnSpc>
              <a:buNone/>
            </a:pPr>
            <a:r>
              <a:rPr lang="en-US" sz="880" b="1" dirty="0">
                <a:solidFill>
                  <a:srgbClr val="0D7A8A"/>
                </a:solidFill>
                <a:latin typeface="Calibri" pitchFamily="34" charset="0"/>
                <a:ea typeface="Calibri" pitchFamily="34" charset="-122"/>
                <a:cs typeface="Calibri" pitchFamily="34" charset="-120"/>
              </a:rPr>
              <a:t>· Profession query:</a:t>
            </a:r>
            <a:r>
              <a:rPr lang="en-US" sz="880" dirty="0">
                <a:solidFill>
                  <a:srgbClr val="1C2B3A"/>
                </a:solidFill>
                <a:latin typeface="Calibri" pitchFamily="34" charset="0"/>
                <a:ea typeface="Calibri" pitchFamily="34" charset="-122"/>
                <a:cs typeface="Calibri" pitchFamily="34" charset="-120"/>
              </a:rPr>
              <a:t> "A photo of a/an {profession}" — 200 ISCO-08 occupations, gender-neutral</a:t>
            </a:r>
            <a:endParaRPr lang="en-US" sz="880" dirty="0"/>
          </a:p>
        </p:txBody>
      </p:sp>
      <p:sp>
        <p:nvSpPr>
          <p:cNvPr id="11" name="Text 9"/>
          <p:cNvSpPr/>
          <p:nvPr/>
        </p:nvSpPr>
        <p:spPr>
          <a:xfrm>
            <a:off x="384048" y="3017520"/>
            <a:ext cx="3913632" cy="448056"/>
          </a:xfrm>
          <a:prstGeom prst="rect">
            <a:avLst/>
          </a:prstGeom>
          <a:noFill/>
          <a:ln/>
        </p:spPr>
        <p:txBody>
          <a:bodyPr wrap="square" rtlCol="0" anchor="ctr"/>
          <a:lstStyle/>
          <a:p>
            <a:pPr marL="0" indent="0">
              <a:lnSpc>
                <a:spcPct val="115000"/>
              </a:lnSpc>
              <a:buNone/>
            </a:pPr>
            <a:r>
              <a:rPr lang="en-US" sz="880" b="1" dirty="0">
                <a:solidFill>
                  <a:srgbClr val="0D7A8A"/>
                </a:solidFill>
                <a:latin typeface="Calibri" pitchFamily="34" charset="0"/>
                <a:ea typeface="Calibri" pitchFamily="34" charset="-122"/>
                <a:cs typeface="Calibri" pitchFamily="34" charset="-120"/>
              </a:rPr>
              <a:t>· Filtering stages:</a:t>
            </a:r>
            <a:r>
              <a:rPr lang="en-US" sz="880" dirty="0">
                <a:solidFill>
                  <a:srgbClr val="1C2B3A"/>
                </a:solidFill>
                <a:latin typeface="Calibri" pitchFamily="34" charset="0"/>
                <a:ea typeface="Calibri" pitchFamily="34" charset="-122"/>
                <a:cs typeface="Calibri" pitchFamily="34" charset="-120"/>
              </a:rPr>
              <a:t> Negative prompt dominance filter → embedding deduplication → cosine threshold 0.15 → top 125K candidates/shard</a:t>
            </a:r>
            <a:endParaRPr lang="en-US" sz="880" dirty="0"/>
          </a:p>
        </p:txBody>
      </p:sp>
      <p:sp>
        <p:nvSpPr>
          <p:cNvPr id="12" name="Text 10"/>
          <p:cNvSpPr/>
          <p:nvPr/>
        </p:nvSpPr>
        <p:spPr>
          <a:xfrm>
            <a:off x="384048" y="3474720"/>
            <a:ext cx="3913632" cy="448056"/>
          </a:xfrm>
          <a:prstGeom prst="rect">
            <a:avLst/>
          </a:prstGeom>
          <a:noFill/>
          <a:ln/>
        </p:spPr>
        <p:txBody>
          <a:bodyPr wrap="square" rtlCol="0" anchor="ctr"/>
          <a:lstStyle/>
          <a:p>
            <a:pPr marL="0" indent="0">
              <a:lnSpc>
                <a:spcPct val="115000"/>
              </a:lnSpc>
              <a:buNone/>
            </a:pPr>
            <a:r>
              <a:rPr lang="en-US" sz="880" b="1" dirty="0">
                <a:solidFill>
                  <a:srgbClr val="0D7A8A"/>
                </a:solidFill>
                <a:latin typeface="Calibri" pitchFamily="34" charset="0"/>
                <a:ea typeface="Calibri" pitchFamily="34" charset="-122"/>
                <a:cs typeface="Calibri" pitchFamily="34" charset="-120"/>
              </a:rPr>
              <a:t>· Structural validation:</a:t>
            </a:r>
            <a:r>
              <a:rPr lang="en-US" sz="880" dirty="0">
                <a:solidFill>
                  <a:srgbClr val="1C2B3A"/>
                </a:solidFill>
                <a:latin typeface="Calibri" pitchFamily="34" charset="0"/>
                <a:ea typeface="Calibri" pitchFamily="34" charset="-122"/>
                <a:cs typeface="Calibri" pitchFamily="34" charset="-120"/>
              </a:rPr>
              <a:t> YOLOv12l-Face (1 face, conf ≥ 0.6) + person detection + face–person spatial consistency + MediaPipe FaceMesh</a:t>
            </a:r>
            <a:endParaRPr lang="en-US" sz="880" dirty="0"/>
          </a:p>
        </p:txBody>
      </p:sp>
      <p:sp>
        <p:nvSpPr>
          <p:cNvPr id="13" name="Text 11"/>
          <p:cNvSpPr/>
          <p:nvPr/>
        </p:nvSpPr>
        <p:spPr>
          <a:xfrm>
            <a:off x="384048" y="3931920"/>
            <a:ext cx="3913632" cy="448056"/>
          </a:xfrm>
          <a:prstGeom prst="rect">
            <a:avLst/>
          </a:prstGeom>
          <a:noFill/>
          <a:ln/>
        </p:spPr>
        <p:txBody>
          <a:bodyPr wrap="square" rtlCol="0" anchor="ctr"/>
          <a:lstStyle/>
          <a:p>
            <a:pPr marL="0" indent="0">
              <a:lnSpc>
                <a:spcPct val="115000"/>
              </a:lnSpc>
              <a:buNone/>
            </a:pPr>
            <a:r>
              <a:rPr lang="en-US" sz="880" b="1" dirty="0">
                <a:solidFill>
                  <a:srgbClr val="0D7A8A"/>
                </a:solidFill>
                <a:latin typeface="Calibri" pitchFamily="34" charset="0"/>
                <a:ea typeface="Calibri" pitchFamily="34" charset="-122"/>
                <a:cs typeface="Calibri" pitchFamily="34" charset="-120"/>
              </a:rPr>
              <a:t>· Output:</a:t>
            </a:r>
            <a:r>
              <a:rPr lang="en-US" sz="880" dirty="0">
                <a:solidFill>
                  <a:srgbClr val="1C2B3A"/>
                </a:solidFill>
                <a:latin typeface="Calibri" pitchFamily="34" charset="0"/>
                <a:ea typeface="Calibri" pitchFamily="34" charset="-122"/>
                <a:cs typeface="Calibri" pitchFamily="34" charset="-120"/>
              </a:rPr>
              <a:t> Top 1,000 valid images per profession → 200,000 images total</a:t>
            </a:r>
            <a:endParaRPr lang="en-US" sz="880" dirty="0"/>
          </a:p>
        </p:txBody>
      </p:sp>
      <p:sp>
        <p:nvSpPr>
          <p:cNvPr id="14" name="Shape 12"/>
          <p:cNvSpPr/>
          <p:nvPr/>
        </p:nvSpPr>
        <p:spPr>
          <a:xfrm>
            <a:off x="329184" y="4462272"/>
            <a:ext cx="4014216" cy="402336"/>
          </a:xfrm>
          <a:prstGeom prst="rect">
            <a:avLst/>
          </a:prstGeom>
          <a:solidFill>
            <a:srgbClr val="EAF4F0"/>
          </a:solidFill>
          <a:ln w="9525">
            <a:solidFill>
              <a:srgbClr val="0D7A8A"/>
            </a:solidFill>
            <a:prstDash val="solid"/>
          </a:ln>
        </p:spPr>
        <p:txBody>
          <a:bodyPr/>
          <a:lstStyle/>
          <a:p>
            <a:endParaRPr lang="en-MT"/>
          </a:p>
        </p:txBody>
      </p:sp>
      <p:sp>
        <p:nvSpPr>
          <p:cNvPr id="15" name="Text 13"/>
          <p:cNvSpPr/>
          <p:nvPr/>
        </p:nvSpPr>
        <p:spPr>
          <a:xfrm>
            <a:off x="402336" y="4480560"/>
            <a:ext cx="3867912" cy="365760"/>
          </a:xfrm>
          <a:prstGeom prst="rect">
            <a:avLst/>
          </a:prstGeom>
          <a:noFill/>
          <a:ln/>
        </p:spPr>
        <p:txBody>
          <a:bodyPr wrap="square" rtlCol="0" anchor="ctr"/>
          <a:lstStyle/>
          <a:p>
            <a:pPr marL="0" indent="0">
              <a:buNone/>
            </a:pPr>
            <a:r>
              <a:rPr lang="en-US" sz="850" b="1" dirty="0">
                <a:solidFill>
                  <a:srgbClr val="0D7A8A"/>
                </a:solidFill>
                <a:latin typeface="Calibri" pitchFamily="34" charset="0"/>
                <a:ea typeface="Calibri" pitchFamily="34" charset="-122"/>
                <a:cs typeface="Calibri" pitchFamily="34" charset="-120"/>
              </a:rPr>
              <a:t>Acceptance rate: </a:t>
            </a:r>
            <a:r>
              <a:rPr lang="en-US" sz="850" dirty="0">
                <a:solidFill>
                  <a:srgbClr val="1C2B3A"/>
                </a:solidFill>
                <a:latin typeface="Calibri" pitchFamily="34" charset="0"/>
                <a:ea typeface="Calibri" pitchFamily="34" charset="-122"/>
                <a:cs typeface="Calibri" pitchFamily="34" charset="-120"/>
              </a:rPr>
              <a:t>Mean 33.51%  ·  Median 33.67%  ·  Min 9.55%  ·  Max 59.21%</a:t>
            </a:r>
            <a:endParaRPr lang="en-US" sz="850" dirty="0"/>
          </a:p>
        </p:txBody>
      </p:sp>
      <p:sp>
        <p:nvSpPr>
          <p:cNvPr id="16" name="Shape 14"/>
          <p:cNvSpPr/>
          <p:nvPr/>
        </p:nvSpPr>
        <p:spPr>
          <a:xfrm>
            <a:off x="4727448" y="841248"/>
            <a:ext cx="4160520" cy="4078224"/>
          </a:xfrm>
          <a:prstGeom prst="rect">
            <a:avLst/>
          </a:prstGeom>
          <a:solidFill>
            <a:srgbClr val="FFFFFF"/>
          </a:solidFill>
          <a:ln w="12700">
            <a:solidFill>
              <a:srgbClr val="E8E4DC"/>
            </a:solidFill>
            <a:prstDash val="solid"/>
          </a:ln>
          <a:effectLst>
            <a:outerShdw blurRad="63500" dist="25400" dir="8100000" algn="bl" rotWithShape="0">
              <a:srgbClr val="000000">
                <a:alpha val="10000"/>
              </a:srgbClr>
            </a:outerShdw>
          </a:effectLst>
        </p:spPr>
        <p:txBody>
          <a:bodyPr/>
          <a:lstStyle/>
          <a:p>
            <a:endParaRPr lang="en-MT"/>
          </a:p>
        </p:txBody>
      </p:sp>
      <p:sp>
        <p:nvSpPr>
          <p:cNvPr id="17" name="Shape 15"/>
          <p:cNvSpPr/>
          <p:nvPr/>
        </p:nvSpPr>
        <p:spPr>
          <a:xfrm>
            <a:off x="4727448" y="841248"/>
            <a:ext cx="4160520" cy="64008"/>
          </a:xfrm>
          <a:prstGeom prst="rect">
            <a:avLst/>
          </a:prstGeom>
          <a:solidFill>
            <a:srgbClr val="C9A84C"/>
          </a:solidFill>
          <a:ln w="12700">
            <a:solidFill>
              <a:srgbClr val="C9A84C"/>
            </a:solidFill>
            <a:prstDash val="solid"/>
          </a:ln>
        </p:spPr>
        <p:txBody>
          <a:bodyPr/>
          <a:lstStyle/>
          <a:p>
            <a:endParaRPr lang="en-MT"/>
          </a:p>
        </p:txBody>
      </p:sp>
      <p:sp>
        <p:nvSpPr>
          <p:cNvPr id="18" name="Text 16"/>
          <p:cNvSpPr/>
          <p:nvPr/>
        </p:nvSpPr>
        <p:spPr>
          <a:xfrm>
            <a:off x="4855464" y="932688"/>
            <a:ext cx="3931920" cy="201168"/>
          </a:xfrm>
          <a:prstGeom prst="rect">
            <a:avLst/>
          </a:prstGeom>
          <a:noFill/>
          <a:ln/>
        </p:spPr>
        <p:txBody>
          <a:bodyPr wrap="square" rtlCol="0" anchor="ctr"/>
          <a:lstStyle/>
          <a:p>
            <a:pPr marL="0" indent="0">
              <a:buNone/>
            </a:pPr>
            <a:r>
              <a:rPr lang="en-US" sz="850" b="1" kern="0" spc="120" dirty="0">
                <a:solidFill>
                  <a:srgbClr val="9A7D30"/>
                </a:solidFill>
                <a:latin typeface="Calibri" pitchFamily="34" charset="0"/>
                <a:ea typeface="Calibri" pitchFamily="34" charset="-122"/>
                <a:cs typeface="Calibri" pitchFamily="34" charset="-120"/>
              </a:rPr>
              <a:t>STABLE DIFFUSION v1.5  GENERATION</a:t>
            </a:r>
            <a:endParaRPr lang="en-US" sz="850" dirty="0"/>
          </a:p>
        </p:txBody>
      </p:sp>
      <p:sp>
        <p:nvSpPr>
          <p:cNvPr id="19" name="Text 17"/>
          <p:cNvSpPr/>
          <p:nvPr/>
        </p:nvSpPr>
        <p:spPr>
          <a:xfrm>
            <a:off x="4855464" y="1188720"/>
            <a:ext cx="3913632" cy="448056"/>
          </a:xfrm>
          <a:prstGeom prst="rect">
            <a:avLst/>
          </a:prstGeom>
          <a:noFill/>
          <a:ln/>
        </p:spPr>
        <p:txBody>
          <a:bodyPr wrap="square" rtlCol="0" anchor="ctr"/>
          <a:lstStyle/>
          <a:p>
            <a:pPr marL="0" indent="0">
              <a:lnSpc>
                <a:spcPct val="115000"/>
              </a:lnSpc>
              <a:buNone/>
            </a:pPr>
            <a:r>
              <a:rPr lang="en-US" sz="880" b="1" dirty="0">
                <a:solidFill>
                  <a:srgbClr val="9A7D30"/>
                </a:solidFill>
                <a:latin typeface="Calibri" pitchFamily="34" charset="0"/>
                <a:ea typeface="Calibri" pitchFamily="34" charset="-122"/>
                <a:cs typeface="Calibri" pitchFamily="34" charset="-120"/>
              </a:rPr>
              <a:t>· Model:</a:t>
            </a:r>
            <a:r>
              <a:rPr lang="en-US" sz="880" dirty="0">
                <a:solidFill>
                  <a:srgbClr val="1C2B3A"/>
                </a:solidFill>
                <a:latin typeface="Calibri" pitchFamily="34" charset="0"/>
                <a:ea typeface="Calibri" pitchFamily="34" charset="-122"/>
                <a:cs typeface="Calibri" pitchFamily="34" charset="-120"/>
              </a:rPr>
              <a:t> SDv1.5 + LCM-LoRA — only configuration satisfying traceability criterion within compute budget (1.5s vs 5.6s/image)</a:t>
            </a:r>
            <a:endParaRPr lang="en-US" sz="880" dirty="0"/>
          </a:p>
        </p:txBody>
      </p:sp>
      <p:sp>
        <p:nvSpPr>
          <p:cNvPr id="20" name="Text 18"/>
          <p:cNvSpPr/>
          <p:nvPr/>
        </p:nvSpPr>
        <p:spPr>
          <a:xfrm>
            <a:off x="4855464" y="1645920"/>
            <a:ext cx="3913632" cy="448056"/>
          </a:xfrm>
          <a:prstGeom prst="rect">
            <a:avLst/>
          </a:prstGeom>
          <a:noFill/>
          <a:ln/>
        </p:spPr>
        <p:txBody>
          <a:bodyPr wrap="square" rtlCol="0" anchor="ctr"/>
          <a:lstStyle/>
          <a:p>
            <a:pPr marL="0" indent="0">
              <a:lnSpc>
                <a:spcPct val="115000"/>
              </a:lnSpc>
              <a:buNone/>
            </a:pPr>
            <a:r>
              <a:rPr lang="en-US" sz="880" b="1" dirty="0">
                <a:solidFill>
                  <a:srgbClr val="9A7D30"/>
                </a:solidFill>
                <a:latin typeface="Calibri" pitchFamily="34" charset="0"/>
                <a:ea typeface="Calibri" pitchFamily="34" charset="-122"/>
                <a:cs typeface="Calibri" pitchFamily="34" charset="-120"/>
              </a:rPr>
              <a:t>· Prompt:</a:t>
            </a:r>
            <a:r>
              <a:rPr lang="en-US" sz="880" dirty="0">
                <a:solidFill>
                  <a:srgbClr val="1C2B3A"/>
                </a:solidFill>
                <a:latin typeface="Calibri" pitchFamily="34" charset="0"/>
                <a:ea typeface="Calibri" pitchFamily="34" charset="-122"/>
                <a:cs typeface="Calibri" pitchFamily="34" charset="-120"/>
              </a:rPr>
              <a:t> "full-body realistic photo of a {profession}, standing, centered, in a professional setting..."  ·  gender-neutral throughout</a:t>
            </a:r>
            <a:endParaRPr lang="en-US" sz="880" dirty="0"/>
          </a:p>
        </p:txBody>
      </p:sp>
      <p:sp>
        <p:nvSpPr>
          <p:cNvPr id="21" name="Text 19"/>
          <p:cNvSpPr/>
          <p:nvPr/>
        </p:nvSpPr>
        <p:spPr>
          <a:xfrm>
            <a:off x="4855464" y="2103120"/>
            <a:ext cx="3913632" cy="448056"/>
          </a:xfrm>
          <a:prstGeom prst="rect">
            <a:avLst/>
          </a:prstGeom>
          <a:noFill/>
          <a:ln/>
        </p:spPr>
        <p:txBody>
          <a:bodyPr wrap="square" rtlCol="0" anchor="ctr"/>
          <a:lstStyle/>
          <a:p>
            <a:pPr marL="0" indent="0">
              <a:lnSpc>
                <a:spcPct val="115000"/>
              </a:lnSpc>
              <a:buNone/>
            </a:pPr>
            <a:r>
              <a:rPr lang="en-US" sz="880" b="1" dirty="0">
                <a:solidFill>
                  <a:srgbClr val="9A7D30"/>
                </a:solidFill>
                <a:latin typeface="Calibri" pitchFamily="34" charset="0"/>
                <a:ea typeface="Calibri" pitchFamily="34" charset="-122"/>
                <a:cs typeface="Calibri" pitchFamily="34" charset="-120"/>
              </a:rPr>
              <a:t>· Guidance scale:</a:t>
            </a:r>
            <a:r>
              <a:rPr lang="en-US" sz="880" dirty="0">
                <a:solidFill>
                  <a:srgbClr val="1C2B3A"/>
                </a:solidFill>
                <a:latin typeface="Calibri" pitchFamily="34" charset="0"/>
                <a:ea typeface="Calibri" pitchFamily="34" charset="-122"/>
                <a:cs typeface="Calibri" pitchFamily="34" charset="-120"/>
              </a:rPr>
              <a:t> s = 1.0 — no CFG amplification; any bias detected is a conservative lower bound</a:t>
            </a:r>
            <a:endParaRPr lang="en-US" sz="880" dirty="0"/>
          </a:p>
        </p:txBody>
      </p:sp>
      <p:sp>
        <p:nvSpPr>
          <p:cNvPr id="22" name="Text 20"/>
          <p:cNvSpPr/>
          <p:nvPr/>
        </p:nvSpPr>
        <p:spPr>
          <a:xfrm>
            <a:off x="4855464" y="2560320"/>
            <a:ext cx="3913632" cy="448056"/>
          </a:xfrm>
          <a:prstGeom prst="rect">
            <a:avLst/>
          </a:prstGeom>
          <a:noFill/>
          <a:ln/>
        </p:spPr>
        <p:txBody>
          <a:bodyPr wrap="square" rtlCol="0" anchor="ctr"/>
          <a:lstStyle/>
          <a:p>
            <a:pPr marL="0" indent="0">
              <a:lnSpc>
                <a:spcPct val="115000"/>
              </a:lnSpc>
              <a:buNone/>
            </a:pPr>
            <a:r>
              <a:rPr lang="en-US" sz="880" b="1" dirty="0">
                <a:solidFill>
                  <a:srgbClr val="9A7D30"/>
                </a:solidFill>
                <a:latin typeface="Calibri" pitchFamily="34" charset="0"/>
                <a:ea typeface="Calibri" pitchFamily="34" charset="-122"/>
                <a:cs typeface="Calibri" pitchFamily="34" charset="-120"/>
              </a:rPr>
              <a:t>· Inference:</a:t>
            </a:r>
            <a:r>
              <a:rPr lang="en-US" sz="880" dirty="0">
                <a:solidFill>
                  <a:srgbClr val="1C2B3A"/>
                </a:solidFill>
                <a:latin typeface="Calibri" pitchFamily="34" charset="0"/>
                <a:ea typeface="Calibri" pitchFamily="34" charset="-122"/>
                <a:cs typeface="Calibri" pitchFamily="34" charset="-120"/>
              </a:rPr>
              <a:t> 4-step LCM schedule  ·  512×512  ·  FP16  ·  NVIDIA RTX 3060 Ti</a:t>
            </a:r>
            <a:endParaRPr lang="en-US" sz="880" dirty="0"/>
          </a:p>
        </p:txBody>
      </p:sp>
      <p:sp>
        <p:nvSpPr>
          <p:cNvPr id="23" name="Text 21"/>
          <p:cNvSpPr/>
          <p:nvPr/>
        </p:nvSpPr>
        <p:spPr>
          <a:xfrm>
            <a:off x="4855464" y="3017520"/>
            <a:ext cx="3913632" cy="448056"/>
          </a:xfrm>
          <a:prstGeom prst="rect">
            <a:avLst/>
          </a:prstGeom>
          <a:noFill/>
          <a:ln/>
        </p:spPr>
        <p:txBody>
          <a:bodyPr wrap="square" rtlCol="0" anchor="ctr"/>
          <a:lstStyle/>
          <a:p>
            <a:pPr marL="0" indent="0">
              <a:lnSpc>
                <a:spcPct val="115000"/>
              </a:lnSpc>
              <a:buNone/>
            </a:pPr>
            <a:r>
              <a:rPr lang="en-US" sz="880" b="1" dirty="0">
                <a:solidFill>
                  <a:srgbClr val="9A7D30"/>
                </a:solidFill>
                <a:latin typeface="Calibri" pitchFamily="34" charset="0"/>
                <a:ea typeface="Calibri" pitchFamily="34" charset="-122"/>
                <a:cs typeface="Calibri" pitchFamily="34" charset="-120"/>
              </a:rPr>
              <a:t>· Structural validation:</a:t>
            </a:r>
            <a:r>
              <a:rPr lang="en-US" sz="880" dirty="0">
                <a:solidFill>
                  <a:srgbClr val="1C2B3A"/>
                </a:solidFill>
                <a:latin typeface="Calibri" pitchFamily="34" charset="0"/>
                <a:ea typeface="Calibri" pitchFamily="34" charset="-122"/>
                <a:cs typeface="Calibri" pitchFamily="34" charset="-120"/>
              </a:rPr>
              <a:t> Same YOLOv12l-Face + FaceMesh pipeline; additionally: aesthetic score ≥ 3.0 (CLIP ViT-L/14)</a:t>
            </a:r>
            <a:endParaRPr lang="en-US" sz="880" dirty="0"/>
          </a:p>
        </p:txBody>
      </p:sp>
      <p:sp>
        <p:nvSpPr>
          <p:cNvPr id="24" name="Text 22"/>
          <p:cNvSpPr/>
          <p:nvPr/>
        </p:nvSpPr>
        <p:spPr>
          <a:xfrm>
            <a:off x="4855464" y="3474720"/>
            <a:ext cx="3913632" cy="448056"/>
          </a:xfrm>
          <a:prstGeom prst="rect">
            <a:avLst/>
          </a:prstGeom>
          <a:noFill/>
          <a:ln/>
        </p:spPr>
        <p:txBody>
          <a:bodyPr wrap="square" rtlCol="0" anchor="ctr"/>
          <a:lstStyle/>
          <a:p>
            <a:pPr marL="0" indent="0">
              <a:lnSpc>
                <a:spcPct val="115000"/>
              </a:lnSpc>
              <a:buNone/>
            </a:pPr>
            <a:r>
              <a:rPr lang="en-US" sz="880" b="1" dirty="0">
                <a:solidFill>
                  <a:srgbClr val="9A7D30"/>
                </a:solidFill>
                <a:latin typeface="Calibri" pitchFamily="34" charset="0"/>
                <a:ea typeface="Calibri" pitchFamily="34" charset="-122"/>
                <a:cs typeface="Calibri" pitchFamily="34" charset="-120"/>
              </a:rPr>
              <a:t>· Asynchronous pipeline:</a:t>
            </a:r>
            <a:r>
              <a:rPr lang="en-US" sz="880" dirty="0">
                <a:solidFill>
                  <a:srgbClr val="1C2B3A"/>
                </a:solidFill>
                <a:latin typeface="Calibri" pitchFamily="34" charset="0"/>
                <a:ea typeface="Calibri" pitchFamily="34" charset="-122"/>
                <a:cs typeface="Calibri" pitchFamily="34" charset="-120"/>
              </a:rPr>
              <a:t> ValidationWorker pool decoupled GPU generation from CPU validation; per-profession resumability</a:t>
            </a:r>
            <a:endParaRPr lang="en-US" sz="880" dirty="0"/>
          </a:p>
        </p:txBody>
      </p:sp>
      <p:sp>
        <p:nvSpPr>
          <p:cNvPr id="25" name="Text 23"/>
          <p:cNvSpPr/>
          <p:nvPr/>
        </p:nvSpPr>
        <p:spPr>
          <a:xfrm>
            <a:off x="4855464" y="3931920"/>
            <a:ext cx="3913632" cy="448056"/>
          </a:xfrm>
          <a:prstGeom prst="rect">
            <a:avLst/>
          </a:prstGeom>
          <a:noFill/>
          <a:ln/>
        </p:spPr>
        <p:txBody>
          <a:bodyPr wrap="square" rtlCol="0" anchor="ctr"/>
          <a:lstStyle/>
          <a:p>
            <a:pPr marL="0" indent="0">
              <a:lnSpc>
                <a:spcPct val="115000"/>
              </a:lnSpc>
              <a:buNone/>
            </a:pPr>
            <a:r>
              <a:rPr lang="en-US" sz="880" b="1" dirty="0">
                <a:solidFill>
                  <a:srgbClr val="9A7D30"/>
                </a:solidFill>
                <a:latin typeface="Calibri" pitchFamily="34" charset="0"/>
                <a:ea typeface="Calibri" pitchFamily="34" charset="-122"/>
                <a:cs typeface="Calibri" pitchFamily="34" charset="-120"/>
              </a:rPr>
              <a:t>· Output:</a:t>
            </a:r>
            <a:r>
              <a:rPr lang="en-US" sz="880" dirty="0">
                <a:solidFill>
                  <a:srgbClr val="1C2B3A"/>
                </a:solidFill>
                <a:latin typeface="Calibri" pitchFamily="34" charset="0"/>
                <a:ea typeface="Calibri" pitchFamily="34" charset="-122"/>
                <a:cs typeface="Calibri" pitchFamily="34" charset="-120"/>
              </a:rPr>
              <a:t> 1,000 valid images per profession → 200,000 images total</a:t>
            </a:r>
            <a:endParaRPr lang="en-US" sz="880" dirty="0"/>
          </a:p>
        </p:txBody>
      </p:sp>
      <p:sp>
        <p:nvSpPr>
          <p:cNvPr id="26" name="Shape 24"/>
          <p:cNvSpPr/>
          <p:nvPr/>
        </p:nvSpPr>
        <p:spPr>
          <a:xfrm>
            <a:off x="4800600" y="4462272"/>
            <a:ext cx="4014216" cy="402336"/>
          </a:xfrm>
          <a:prstGeom prst="rect">
            <a:avLst/>
          </a:prstGeom>
          <a:solidFill>
            <a:srgbClr val="FEF9EC"/>
          </a:solidFill>
          <a:ln w="9525">
            <a:solidFill>
              <a:srgbClr val="C9A84C"/>
            </a:solidFill>
            <a:prstDash val="solid"/>
          </a:ln>
        </p:spPr>
        <p:txBody>
          <a:bodyPr/>
          <a:lstStyle/>
          <a:p>
            <a:endParaRPr lang="en-MT"/>
          </a:p>
        </p:txBody>
      </p:sp>
      <p:sp>
        <p:nvSpPr>
          <p:cNvPr id="27" name="Text 25"/>
          <p:cNvSpPr/>
          <p:nvPr/>
        </p:nvSpPr>
        <p:spPr>
          <a:xfrm>
            <a:off x="4873752" y="4480560"/>
            <a:ext cx="3867912" cy="365760"/>
          </a:xfrm>
          <a:prstGeom prst="rect">
            <a:avLst/>
          </a:prstGeom>
          <a:noFill/>
          <a:ln/>
        </p:spPr>
        <p:txBody>
          <a:bodyPr wrap="square" rtlCol="0" anchor="ctr"/>
          <a:lstStyle/>
          <a:p>
            <a:pPr marL="0" indent="0">
              <a:buNone/>
            </a:pPr>
            <a:r>
              <a:rPr lang="en-US" sz="850" b="1" dirty="0">
                <a:solidFill>
                  <a:srgbClr val="9A7D30"/>
                </a:solidFill>
                <a:latin typeface="Calibri" pitchFamily="34" charset="0"/>
                <a:ea typeface="Calibri" pitchFamily="34" charset="-122"/>
                <a:cs typeface="Calibri" pitchFamily="34" charset="-120"/>
              </a:rPr>
              <a:t>Acceptance rate: </a:t>
            </a:r>
            <a:r>
              <a:rPr lang="en-US" sz="850" dirty="0">
                <a:solidFill>
                  <a:srgbClr val="1C2B3A"/>
                </a:solidFill>
                <a:latin typeface="Calibri" pitchFamily="34" charset="0"/>
                <a:ea typeface="Calibri" pitchFamily="34" charset="-122"/>
                <a:cs typeface="Calibri" pitchFamily="34" charset="-120"/>
              </a:rPr>
              <a:t>Mean 66.38%  ·  Median 71.00%  ·  substantially higher than retrieval (prompt engineering effect)</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F20B6669-1173-0155-85B8-8D93156ED725}"/>
              </a:ext>
            </a:extLst>
          </p:cNvPr>
          <p:cNvGrpSpPr/>
          <p:nvPr/>
        </p:nvGrpSpPr>
        <p:grpSpPr>
          <a:xfrm>
            <a:off x="4681124" y="1277922"/>
            <a:ext cx="4320001" cy="3141159"/>
            <a:chOff x="4681124" y="1506522"/>
            <a:chExt cx="4320001" cy="3141159"/>
          </a:xfrm>
        </p:grpSpPr>
        <p:sp>
          <p:nvSpPr>
            <p:cNvPr id="3" name="TextBox 2"/>
            <p:cNvSpPr txBox="1"/>
            <p:nvPr/>
          </p:nvSpPr>
          <p:spPr>
            <a:xfrm>
              <a:off x="4681124" y="4186016"/>
              <a:ext cx="4320001" cy="461665"/>
            </a:xfrm>
            <a:prstGeom prst="rect">
              <a:avLst/>
            </a:prstGeom>
            <a:noFill/>
          </p:spPr>
          <p:txBody>
            <a:bodyPr wrap="square">
              <a:spAutoFit/>
            </a:bodyPr>
            <a:lstStyle/>
            <a:p>
              <a:r>
                <a:rPr lang="en-GB" sz="800" dirty="0"/>
                <a:t>Figure 2: </a:t>
              </a:r>
              <a:r>
                <a:rPr lang="en-US" sz="800" dirty="0"/>
                <a:t>Distribution of structural acceptance rates across 200 professions for Stable Diffusion v1.5 generated images. The distribution is left‐skewed with a mean of 66.38% and median of 71.00%, substantially higher than the Re‐LAION‐5B retrieval acceptance rate of 33.51%.</a:t>
              </a:r>
              <a:endParaRPr sz="800" dirty="0"/>
            </a:p>
          </p:txBody>
        </p:sp>
        <p:pic>
          <p:nvPicPr>
            <p:cNvPr id="4" name="Picture 3" descr="SD-Distribution.png"/>
            <p:cNvPicPr>
              <a:picLocks noChangeAspect="1"/>
            </p:cNvPicPr>
            <p:nvPr/>
          </p:nvPicPr>
          <p:blipFill>
            <a:blip r:embed="rId2"/>
            <a:stretch>
              <a:fillRect/>
            </a:stretch>
          </p:blipFill>
          <p:spPr>
            <a:xfrm>
              <a:off x="4681125" y="1506522"/>
              <a:ext cx="4320000" cy="2679494"/>
            </a:xfrm>
            <a:prstGeom prst="rect">
              <a:avLst/>
            </a:prstGeom>
            <a:ln>
              <a:solidFill>
                <a:schemeClr val="tx1"/>
              </a:solidFill>
            </a:ln>
          </p:spPr>
        </p:pic>
      </p:grpSp>
      <p:grpSp>
        <p:nvGrpSpPr>
          <p:cNvPr id="8" name="Group 7">
            <a:extLst>
              <a:ext uri="{FF2B5EF4-FFF2-40B4-BE49-F238E27FC236}">
                <a16:creationId xmlns:a16="http://schemas.microsoft.com/office/drawing/2014/main" id="{D00F4C5C-CE7A-FD1E-DD14-927392E38242}"/>
              </a:ext>
            </a:extLst>
          </p:cNvPr>
          <p:cNvGrpSpPr/>
          <p:nvPr/>
        </p:nvGrpSpPr>
        <p:grpSpPr>
          <a:xfrm>
            <a:off x="142875" y="1277922"/>
            <a:ext cx="4320000" cy="3264268"/>
            <a:chOff x="142875" y="1506522"/>
            <a:chExt cx="4320000" cy="3264268"/>
          </a:xfrm>
        </p:grpSpPr>
        <p:pic>
          <p:nvPicPr>
            <p:cNvPr id="2" name="Picture 1" descr="ReLaion-Distribution.png"/>
            <p:cNvPicPr>
              <a:picLocks noChangeAspect="1"/>
            </p:cNvPicPr>
            <p:nvPr/>
          </p:nvPicPr>
          <p:blipFill>
            <a:blip r:embed="rId3"/>
            <a:stretch>
              <a:fillRect/>
            </a:stretch>
          </p:blipFill>
          <p:spPr>
            <a:xfrm>
              <a:off x="142875" y="1506522"/>
              <a:ext cx="4320000" cy="2679493"/>
            </a:xfrm>
            <a:prstGeom prst="rect">
              <a:avLst/>
            </a:prstGeom>
            <a:ln>
              <a:solidFill>
                <a:schemeClr val="tx1"/>
              </a:solidFill>
            </a:ln>
          </p:spPr>
        </p:pic>
        <p:sp>
          <p:nvSpPr>
            <p:cNvPr id="5" name="TextBox 4"/>
            <p:cNvSpPr txBox="1"/>
            <p:nvPr/>
          </p:nvSpPr>
          <p:spPr>
            <a:xfrm>
              <a:off x="142875" y="4186015"/>
              <a:ext cx="4320000" cy="584775"/>
            </a:xfrm>
            <a:prstGeom prst="rect">
              <a:avLst/>
            </a:prstGeom>
            <a:noFill/>
          </p:spPr>
          <p:txBody>
            <a:bodyPr wrap="square">
              <a:spAutoFit/>
            </a:bodyPr>
            <a:lstStyle/>
            <a:p>
              <a:r>
                <a:rPr lang="en-GB" sz="800" dirty="0"/>
                <a:t>Figure 1: </a:t>
              </a:r>
              <a:r>
                <a:rPr lang="en-US" sz="800" dirty="0"/>
                <a:t>Distribution of structural acceptance rates across 200 professions following CLIP retrieval and YOLO‐based structural filtering of Re‐LAION‐5B images. The distribution is approximately unimodal with a mean of 33.51% and median of 33.67%, with a visible left tail reflecting professions whose online visual representation is dominated by non‐person content</a:t>
              </a:r>
              <a:endParaRPr sz="800" dirty="0"/>
            </a:p>
          </p:txBody>
        </p:sp>
      </p:grpSp>
      <p:sp>
        <p:nvSpPr>
          <p:cNvPr id="6" name="Shape 0">
            <a:extLst>
              <a:ext uri="{FF2B5EF4-FFF2-40B4-BE49-F238E27FC236}">
                <a16:creationId xmlns:a16="http://schemas.microsoft.com/office/drawing/2014/main" id="{93477351-EBF8-6F03-2C3D-68815CB4F566}"/>
              </a:ext>
            </a:extLst>
          </p:cNvPr>
          <p:cNvSpPr/>
          <p:nvPr/>
        </p:nvSpPr>
        <p:spPr>
          <a:xfrm>
            <a:off x="0" y="0"/>
            <a:ext cx="9144000" cy="713232"/>
          </a:xfrm>
          <a:prstGeom prst="rect">
            <a:avLst/>
          </a:prstGeom>
          <a:solidFill>
            <a:srgbClr val="1B3A5C"/>
          </a:solidFill>
          <a:ln w="12700">
            <a:solidFill>
              <a:srgbClr val="1B3A5C"/>
            </a:solidFill>
            <a:prstDash val="solid"/>
          </a:ln>
        </p:spPr>
        <p:txBody>
          <a:bodyPr/>
          <a:lstStyle/>
          <a:p>
            <a:endParaRPr lang="en-MT"/>
          </a:p>
        </p:txBody>
      </p:sp>
      <p:sp>
        <p:nvSpPr>
          <p:cNvPr id="7" name="Text 1">
            <a:extLst>
              <a:ext uri="{FF2B5EF4-FFF2-40B4-BE49-F238E27FC236}">
                <a16:creationId xmlns:a16="http://schemas.microsoft.com/office/drawing/2014/main" id="{84972A94-E04E-3563-5E54-3A576188EFA8}"/>
              </a:ext>
            </a:extLst>
          </p:cNvPr>
          <p:cNvSpPr/>
          <p:nvPr/>
        </p:nvSpPr>
        <p:spPr>
          <a:xfrm>
            <a:off x="411480" y="0"/>
            <a:ext cx="8321040" cy="713232"/>
          </a:xfrm>
          <a:prstGeom prst="rect">
            <a:avLst/>
          </a:prstGeom>
          <a:noFill/>
          <a:ln/>
        </p:spPr>
        <p:txBody>
          <a:bodyPr wrap="square"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METHODOLOGY  ·  DATA ACQUISITION &amp; STRUCTURAL FILTERING FIGURES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7F4EE"/>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B3A5C"/>
          </a:solidFill>
          <a:ln w="12700">
            <a:solidFill>
              <a:srgbClr val="1B3A5C"/>
            </a:solidFill>
            <a:prstDash val="solid"/>
          </a:ln>
        </p:spPr>
        <p:txBody>
          <a:bodyPr/>
          <a:lstStyle/>
          <a:p>
            <a:endParaRPr lang="en-MT"/>
          </a:p>
        </p:txBody>
      </p:sp>
      <p:sp>
        <p:nvSpPr>
          <p:cNvPr id="3" name="Text 1"/>
          <p:cNvSpPr/>
          <p:nvPr/>
        </p:nvSpPr>
        <p:spPr>
          <a:xfrm>
            <a:off x="411480" y="0"/>
            <a:ext cx="8229600" cy="713232"/>
          </a:xfrm>
          <a:prstGeom prst="rect">
            <a:avLst/>
          </a:prstGeom>
          <a:noFill/>
          <a:ln/>
        </p:spPr>
        <p:txBody>
          <a:bodyPr wrap="square"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METHODOLOGY  ·  MODEL SELECTION</a:t>
            </a:r>
            <a:endParaRPr lang="en-US" sz="2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256032" y="804672"/>
          <a:ext cx="8631936" cy="3950208"/>
        </p:xfrm>
        <a:graphic>
          <a:graphicData uri="http://schemas.openxmlformats.org/drawingml/2006/table">
            <a:tbl>
              <a:tblPr/>
              <a:tblGrid>
                <a:gridCol w="13258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3877056">
                  <a:extLst>
                    <a:ext uri="{9D8B030D-6E8A-4147-A177-3AD203B41FA5}">
                      <a16:colId xmlns:a16="http://schemas.microsoft.com/office/drawing/2014/main" val="20003"/>
                    </a:ext>
                  </a:extLst>
                </a:gridCol>
              </a:tblGrid>
              <a:tr h="438912">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Component</a:t>
                      </a:r>
                      <a:endParaRPr lang="en-US" sz="850" dirty="0">
                        <a:latin typeface="Calibri" charset="0"/>
                        <a:ea typeface="Calibri" charset="0"/>
                        <a:cs typeface="Calibri" charset="0"/>
                      </a:endParaRPr>
                    </a:p>
                  </a:txBody>
                  <a:tcPr marL="76200" marR="762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Alternatives Tested</a:t>
                      </a:r>
                      <a:endParaRPr lang="en-US" sz="850" dirty="0">
                        <a:latin typeface="Calibri" charset="0"/>
                        <a:ea typeface="Calibri" charset="0"/>
                        <a:cs typeface="Calibri" charset="0"/>
                      </a:endParaRPr>
                    </a:p>
                  </a:txBody>
                  <a:tcPr marL="76200" marR="762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Selected</a:t>
                      </a:r>
                      <a:endParaRPr lang="en-US" sz="850" dirty="0">
                        <a:latin typeface="Calibri" charset="0"/>
                        <a:ea typeface="Calibri" charset="0"/>
                        <a:cs typeface="Calibri" charset="0"/>
                      </a:endParaRPr>
                    </a:p>
                  </a:txBody>
                  <a:tcPr marL="76200" marR="762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Decisive Criterion</a:t>
                      </a:r>
                      <a:endParaRPr lang="en-US" sz="850" dirty="0">
                        <a:latin typeface="Calibri" charset="0"/>
                        <a:ea typeface="Calibri" charset="0"/>
                        <a:cs typeface="Calibri" charset="0"/>
                      </a:endParaRPr>
                    </a:p>
                  </a:txBody>
                  <a:tcPr marL="76200" marR="762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extLst>
                  <a:ext uri="{0D108BD9-81ED-4DB2-BD59-A6C34878D82A}">
                    <a16:rowId xmlns:a16="http://schemas.microsoft.com/office/drawing/2014/main" val="10000"/>
                  </a:ext>
                </a:extLst>
              </a:tr>
              <a:tr h="438912">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Face Detection</a:t>
                      </a:r>
                      <a:endParaRPr lang="en-US" sz="850" dirty="0">
                        <a:latin typeface="Calibri" charset="0"/>
                        <a:ea typeface="Calibri" charset="0"/>
                        <a:cs typeface="Calibri" charset="0"/>
                      </a:endParaRPr>
                    </a:p>
                  </a:txBody>
                  <a:tcPr marL="76200" marR="762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0"/>
                    </a:solidFill>
                  </a:tcPr>
                </a:tc>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MediaPipe, RetinaFace†, SCRFD</a:t>
                      </a:r>
                      <a:endParaRPr lang="en-US" sz="850" dirty="0">
                        <a:latin typeface="Calibri" charset="0"/>
                        <a:ea typeface="Calibri" charset="0"/>
                        <a:cs typeface="Calibri" charset="0"/>
                      </a:endParaRPr>
                    </a:p>
                  </a:txBody>
                  <a:tcPr marL="76200" marR="762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0"/>
                    </a:solidFill>
                  </a:tcPr>
                </a:tc>
                <a:tc>
                  <a:txBody>
                    <a:bodyPr/>
                    <a:lstStyle/>
                    <a:p>
                      <a:pPr marL="0" indent="0" algn="l">
                        <a:buNone/>
                      </a:pPr>
                      <a:r>
                        <a:rPr lang="en-US" sz="850" b="1" dirty="0">
                          <a:solidFill>
                            <a:srgbClr val="0D7A8A"/>
                          </a:solidFill>
                          <a:latin typeface="Calibri" pitchFamily="34" charset="0"/>
                          <a:ea typeface="Calibri" pitchFamily="34" charset="-122"/>
                          <a:cs typeface="Calibri" pitchFamily="34" charset="-120"/>
                        </a:rPr>
                        <a:t>YOLOv12l-Face</a:t>
                      </a:r>
                      <a:endParaRPr lang="en-US" sz="850" dirty="0">
                        <a:latin typeface="Calibri" charset="0"/>
                        <a:ea typeface="Calibri" charset="0"/>
                        <a:cs typeface="Calibri" charset="0"/>
                      </a:endParaRPr>
                    </a:p>
                  </a:txBody>
                  <a:tcPr marL="76200" marR="762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0"/>
                    </a:solidFill>
                  </a:tcPr>
                </a:tc>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Highest AP@0.5 (0.905) + widest high-precision recall range; filtering bias risk</a:t>
                      </a:r>
                      <a:endParaRPr lang="en-US" sz="850" dirty="0">
                        <a:latin typeface="Calibri" charset="0"/>
                        <a:ea typeface="Calibri" charset="0"/>
                        <a:cs typeface="Calibri" charset="0"/>
                      </a:endParaRPr>
                    </a:p>
                  </a:txBody>
                  <a:tcPr marL="76200" marR="762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0"/>
                    </a:solidFill>
                  </a:tcPr>
                </a:tc>
                <a:extLst>
                  <a:ext uri="{0D108BD9-81ED-4DB2-BD59-A6C34878D82A}">
                    <a16:rowId xmlns:a16="http://schemas.microsoft.com/office/drawing/2014/main" val="10001"/>
                  </a:ext>
                </a:extLst>
              </a:tr>
              <a:tr h="438912">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Generative Model</a:t>
                      </a:r>
                      <a:endParaRPr lang="en-US" sz="850" dirty="0">
                        <a:latin typeface="Calibri" charset="0"/>
                        <a:ea typeface="Calibri" charset="0"/>
                        <a:cs typeface="Calibri" charset="0"/>
                      </a:endParaRPr>
                    </a:p>
                  </a:txBody>
                  <a:tcPr marL="76200" marR="762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SDv1.2, SDv1.5, SDv1.5+LCM-LoRA</a:t>
                      </a:r>
                      <a:endParaRPr lang="en-US" sz="850" dirty="0">
                        <a:latin typeface="Calibri" charset="0"/>
                        <a:ea typeface="Calibri" charset="0"/>
                        <a:cs typeface="Calibri" charset="0"/>
                      </a:endParaRPr>
                    </a:p>
                  </a:txBody>
                  <a:tcPr marL="76200" marR="762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50" b="1" dirty="0">
                          <a:solidFill>
                            <a:srgbClr val="0D7A8A"/>
                          </a:solidFill>
                          <a:latin typeface="Calibri" pitchFamily="34" charset="0"/>
                          <a:ea typeface="Calibri" pitchFamily="34" charset="-122"/>
                          <a:cs typeface="Calibri" pitchFamily="34" charset="-120"/>
                        </a:rPr>
                        <a:t>SDv1.5 + LCM-LoRA</a:t>
                      </a:r>
                      <a:endParaRPr lang="en-US" sz="850" dirty="0">
                        <a:latin typeface="Calibri" charset="0"/>
                        <a:ea typeface="Calibri" charset="0"/>
                        <a:cs typeface="Calibri" charset="0"/>
                      </a:endParaRPr>
                    </a:p>
                  </a:txBody>
                  <a:tcPr marL="76200" marR="762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Only option satisfying LAION traceability criterion within compute budget (1.5s vs 5.6s/img)</a:t>
                      </a:r>
                      <a:endParaRPr lang="en-US" sz="850" dirty="0">
                        <a:latin typeface="Calibri" charset="0"/>
                        <a:ea typeface="Calibri" charset="0"/>
                        <a:cs typeface="Calibri" charset="0"/>
                      </a:endParaRPr>
                    </a:p>
                  </a:txBody>
                  <a:tcPr marL="76200" marR="762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38912">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Gender Annotation</a:t>
                      </a:r>
                      <a:endParaRPr lang="en-US" sz="850" dirty="0">
                        <a:latin typeface="Calibri" charset="0"/>
                        <a:ea typeface="Calibri" charset="0"/>
                        <a:cs typeface="Calibri" charset="0"/>
                      </a:endParaRPr>
                    </a:p>
                  </a:txBody>
                  <a:tcPr marL="76200" marR="762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0"/>
                    </a:solidFill>
                  </a:tcPr>
                </a:tc>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HuggingFace GC, DeepFace, FairFace</a:t>
                      </a:r>
                      <a:endParaRPr lang="en-US" sz="850" dirty="0">
                        <a:latin typeface="Calibri" charset="0"/>
                        <a:ea typeface="Calibri" charset="0"/>
                        <a:cs typeface="Calibri" charset="0"/>
                      </a:endParaRPr>
                    </a:p>
                  </a:txBody>
                  <a:tcPr marL="76200" marR="762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0"/>
                    </a:solidFill>
                  </a:tcPr>
                </a:tc>
                <a:tc>
                  <a:txBody>
                    <a:bodyPr/>
                    <a:lstStyle/>
                    <a:p>
                      <a:pPr marL="0" indent="0" algn="l">
                        <a:buNone/>
                      </a:pPr>
                      <a:r>
                        <a:rPr lang="en-US" sz="850" b="1" dirty="0">
                          <a:solidFill>
                            <a:srgbClr val="0D7A8A"/>
                          </a:solidFill>
                          <a:latin typeface="Calibri" pitchFamily="34" charset="0"/>
                          <a:ea typeface="Calibri" pitchFamily="34" charset="-122"/>
                          <a:cs typeface="Calibri" pitchFamily="34" charset="-120"/>
                        </a:rPr>
                        <a:t>Realistic GC (SigLIP)</a:t>
                      </a:r>
                      <a:endParaRPr lang="en-US" sz="850" dirty="0">
                        <a:latin typeface="Calibri" charset="0"/>
                        <a:ea typeface="Calibri" charset="0"/>
                        <a:cs typeface="Calibri" charset="0"/>
                      </a:endParaRPr>
                    </a:p>
                  </a:txBody>
                  <a:tcPr marL="76200" marR="762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0"/>
                    </a:solidFill>
                  </a:tcPr>
                </a:tc>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Best CCv2 face-only accuracy + strongest M/F subgroup balance on FACET</a:t>
                      </a:r>
                      <a:endParaRPr lang="en-US" sz="850" dirty="0">
                        <a:latin typeface="Calibri" charset="0"/>
                        <a:ea typeface="Calibri" charset="0"/>
                        <a:cs typeface="Calibri" charset="0"/>
                      </a:endParaRPr>
                    </a:p>
                  </a:txBody>
                  <a:tcPr marL="76200" marR="762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0"/>
                    </a:solidFill>
                  </a:tcPr>
                </a:tc>
                <a:extLst>
                  <a:ext uri="{0D108BD9-81ED-4DB2-BD59-A6C34878D82A}">
                    <a16:rowId xmlns:a16="http://schemas.microsoft.com/office/drawing/2014/main" val="10003"/>
                  </a:ext>
                </a:extLst>
              </a:tr>
              <a:tr h="438912">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Skin Tone Annotation</a:t>
                      </a:r>
                      <a:endParaRPr lang="en-US" sz="850" dirty="0">
                        <a:latin typeface="Calibri" charset="0"/>
                        <a:ea typeface="Calibri" charset="0"/>
                        <a:cs typeface="Calibri" charset="0"/>
                      </a:endParaRPr>
                    </a:p>
                  </a:txBody>
                  <a:tcPr marL="76200" marR="762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VGG-16 MST10/MST3 variants, baselines</a:t>
                      </a:r>
                      <a:endParaRPr lang="en-US" sz="850" dirty="0">
                        <a:latin typeface="Calibri" charset="0"/>
                        <a:ea typeface="Calibri" charset="0"/>
                        <a:cs typeface="Calibri" charset="0"/>
                      </a:endParaRPr>
                    </a:p>
                  </a:txBody>
                  <a:tcPr marL="76200" marR="762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50" b="1" dirty="0">
                          <a:solidFill>
                            <a:srgbClr val="0D7A8A"/>
                          </a:solidFill>
                          <a:latin typeface="Calibri" pitchFamily="34" charset="0"/>
                          <a:ea typeface="Calibri" pitchFamily="34" charset="-122"/>
                          <a:cs typeface="Calibri" pitchFamily="34" charset="-120"/>
                        </a:rPr>
                        <a:t>VGG-16 MST10 Reg. (Black BG)</a:t>
                      </a:r>
                      <a:endParaRPr lang="en-US" sz="850" dirty="0">
                        <a:latin typeface="Calibri" charset="0"/>
                        <a:ea typeface="Calibri" charset="0"/>
                        <a:cs typeface="Calibri" charset="0"/>
                      </a:endParaRPr>
                    </a:p>
                  </a:txBody>
                  <a:tcPr marL="76200" marR="762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Best exact + within-one accuracy on CCv2, MSTE &amp; FACET; full 10-point MST scale</a:t>
                      </a:r>
                      <a:endParaRPr lang="en-US" sz="850" dirty="0">
                        <a:latin typeface="Calibri" charset="0"/>
                        <a:ea typeface="Calibri" charset="0"/>
                        <a:cs typeface="Calibri" charset="0"/>
                      </a:endParaRPr>
                    </a:p>
                  </a:txBody>
                  <a:tcPr marL="76200" marR="762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38912">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Image Captioning</a:t>
                      </a:r>
                      <a:endParaRPr lang="en-US" sz="850" dirty="0">
                        <a:latin typeface="Calibri" charset="0"/>
                        <a:ea typeface="Calibri" charset="0"/>
                        <a:cs typeface="Calibri" charset="0"/>
                      </a:endParaRPr>
                    </a:p>
                  </a:txBody>
                  <a:tcPr marL="76200" marR="762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0"/>
                    </a:solidFill>
                  </a:tcPr>
                </a:tc>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Multiple models (throughput vs quality)</a:t>
                      </a:r>
                      <a:endParaRPr lang="en-US" sz="850" dirty="0">
                        <a:latin typeface="Calibri" charset="0"/>
                        <a:ea typeface="Calibri" charset="0"/>
                        <a:cs typeface="Calibri" charset="0"/>
                      </a:endParaRPr>
                    </a:p>
                  </a:txBody>
                  <a:tcPr marL="76200" marR="762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0"/>
                    </a:solidFill>
                  </a:tcPr>
                </a:tc>
                <a:tc>
                  <a:txBody>
                    <a:bodyPr/>
                    <a:lstStyle/>
                    <a:p>
                      <a:pPr marL="0" indent="0" algn="l">
                        <a:buNone/>
                      </a:pPr>
                      <a:r>
                        <a:rPr lang="en-US" sz="850" b="1" dirty="0">
                          <a:solidFill>
                            <a:srgbClr val="0D7A8A"/>
                          </a:solidFill>
                          <a:latin typeface="Calibri" pitchFamily="34" charset="0"/>
                          <a:ea typeface="Calibri" pitchFamily="34" charset="-122"/>
                          <a:cs typeface="Calibri" pitchFamily="34" charset="-120"/>
                        </a:rPr>
                        <a:t>BLIP Large</a:t>
                      </a:r>
                      <a:endParaRPr lang="en-US" sz="850" dirty="0">
                        <a:latin typeface="Calibri" charset="0"/>
                        <a:ea typeface="Calibri" charset="0"/>
                        <a:cs typeface="Calibri" charset="0"/>
                      </a:endParaRPr>
                    </a:p>
                  </a:txBody>
                  <a:tcPr marL="76200" marR="762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0"/>
                    </a:solidFill>
                  </a:tcPr>
                </a:tc>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Best RefCLIP-S on COCO/Flickr30k; avoids template degeneration seen in faster models</a:t>
                      </a:r>
                      <a:endParaRPr lang="en-US" sz="850" dirty="0">
                        <a:latin typeface="Calibri" charset="0"/>
                        <a:ea typeface="Calibri" charset="0"/>
                        <a:cs typeface="Calibri" charset="0"/>
                      </a:endParaRPr>
                    </a:p>
                  </a:txBody>
                  <a:tcPr marL="76200" marR="762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0"/>
                    </a:solidFill>
                  </a:tcPr>
                </a:tc>
                <a:extLst>
                  <a:ext uri="{0D108BD9-81ED-4DB2-BD59-A6C34878D82A}">
                    <a16:rowId xmlns:a16="http://schemas.microsoft.com/office/drawing/2014/main" val="10005"/>
                  </a:ext>
                </a:extLst>
              </a:tr>
              <a:tr h="438912">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Object Detection</a:t>
                      </a:r>
                      <a:endParaRPr lang="en-US" sz="850" dirty="0">
                        <a:latin typeface="Calibri" charset="0"/>
                        <a:ea typeface="Calibri" charset="0"/>
                        <a:cs typeface="Calibri" charset="0"/>
                      </a:endParaRPr>
                    </a:p>
                  </a:txBody>
                  <a:tcPr marL="76200" marR="762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Multiple YOLOv8 variants + weight sets</a:t>
                      </a:r>
                      <a:endParaRPr lang="en-US" sz="850" dirty="0">
                        <a:latin typeface="Calibri" charset="0"/>
                        <a:ea typeface="Calibri" charset="0"/>
                        <a:cs typeface="Calibri" charset="0"/>
                      </a:endParaRPr>
                    </a:p>
                  </a:txBody>
                  <a:tcPr marL="76200" marR="762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50" b="1" dirty="0">
                          <a:solidFill>
                            <a:srgbClr val="0D7A8A"/>
                          </a:solidFill>
                          <a:latin typeface="Calibri" pitchFamily="34" charset="0"/>
                          <a:ea typeface="Calibri" pitchFamily="34" charset="-122"/>
                          <a:cs typeface="Calibri" pitchFamily="34" charset="-120"/>
                        </a:rPr>
                        <a:t>YOLOv8x / OpenImages V7</a:t>
                      </a:r>
                      <a:endParaRPr lang="en-US" sz="850" dirty="0">
                        <a:latin typeface="Calibri" charset="0"/>
                        <a:ea typeface="Calibri" charset="0"/>
                        <a:cs typeface="Calibri" charset="0"/>
                      </a:endParaRPr>
                    </a:p>
                  </a:txBody>
                  <a:tcPr marL="76200" marR="762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Highest detection performance on OpenImages V7 val; best inference/accuracy tradeoff</a:t>
                      </a:r>
                      <a:endParaRPr lang="en-US" sz="850" dirty="0">
                        <a:latin typeface="Calibri" charset="0"/>
                        <a:ea typeface="Calibri" charset="0"/>
                        <a:cs typeface="Calibri" charset="0"/>
                      </a:endParaRPr>
                    </a:p>
                  </a:txBody>
                  <a:tcPr marL="76200" marR="762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38912">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Pose Estimation</a:t>
                      </a:r>
                      <a:endParaRPr lang="en-US" sz="850" dirty="0">
                        <a:latin typeface="Calibri" charset="0"/>
                        <a:ea typeface="Calibri" charset="0"/>
                        <a:cs typeface="Calibri" charset="0"/>
                      </a:endParaRPr>
                    </a:p>
                  </a:txBody>
                  <a:tcPr marL="76200" marR="762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0"/>
                    </a:solidFill>
                  </a:tcPr>
                </a:tc>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Multiple pose models (standard + oracle)</a:t>
                      </a:r>
                      <a:endParaRPr lang="en-US" sz="850" dirty="0">
                        <a:latin typeface="Calibri" charset="0"/>
                        <a:ea typeface="Calibri" charset="0"/>
                        <a:cs typeface="Calibri" charset="0"/>
                      </a:endParaRPr>
                    </a:p>
                  </a:txBody>
                  <a:tcPr marL="76200" marR="762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0"/>
                    </a:solidFill>
                  </a:tcPr>
                </a:tc>
                <a:tc>
                  <a:txBody>
                    <a:bodyPr/>
                    <a:lstStyle/>
                    <a:p>
                      <a:pPr marL="0" indent="0" algn="l">
                        <a:buNone/>
                      </a:pPr>
                      <a:r>
                        <a:rPr lang="en-US" sz="850" b="1" dirty="0">
                          <a:solidFill>
                            <a:srgbClr val="0D7A8A"/>
                          </a:solidFill>
                          <a:latin typeface="Calibri" pitchFamily="34" charset="0"/>
                          <a:ea typeface="Calibri" pitchFamily="34" charset="-122"/>
                          <a:cs typeface="Calibri" pitchFamily="34" charset="-120"/>
                        </a:rPr>
                        <a:t>YOLOv8l-Pose</a:t>
                      </a:r>
                      <a:endParaRPr lang="en-US" sz="850" dirty="0">
                        <a:latin typeface="Calibri" charset="0"/>
                        <a:ea typeface="Calibri" charset="0"/>
                        <a:cs typeface="Calibri" charset="0"/>
                      </a:endParaRPr>
                    </a:p>
                  </a:txBody>
                  <a:tcPr marL="76200" marR="762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0"/>
                    </a:solidFill>
                  </a:tcPr>
                </a:tc>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Best COCO-17 keypoint AP in oracle mode; sufficient FPS for pipeline scale</a:t>
                      </a:r>
                      <a:endParaRPr lang="en-US" sz="850" dirty="0">
                        <a:latin typeface="Calibri" charset="0"/>
                        <a:ea typeface="Calibri" charset="0"/>
                        <a:cs typeface="Calibri" charset="0"/>
                      </a:endParaRPr>
                    </a:p>
                  </a:txBody>
                  <a:tcPr marL="76200" marR="762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0"/>
                    </a:solidFill>
                  </a:tcPr>
                </a:tc>
                <a:extLst>
                  <a:ext uri="{0D108BD9-81ED-4DB2-BD59-A6C34878D82A}">
                    <a16:rowId xmlns:a16="http://schemas.microsoft.com/office/drawing/2014/main" val="10007"/>
                  </a:ext>
                </a:extLst>
              </a:tr>
              <a:tr h="438912">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Segmentation / Occlusion</a:t>
                      </a:r>
                      <a:endParaRPr lang="en-US" sz="850" dirty="0">
                        <a:latin typeface="Calibri" charset="0"/>
                        <a:ea typeface="Calibri" charset="0"/>
                        <a:cs typeface="Calibri" charset="0"/>
                      </a:endParaRPr>
                    </a:p>
                  </a:txBody>
                  <a:tcPr marL="76200" marR="762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Multiple models on COCO 2017 val</a:t>
                      </a:r>
                      <a:endParaRPr lang="en-US" sz="850" dirty="0">
                        <a:latin typeface="Calibri" charset="0"/>
                        <a:ea typeface="Calibri" charset="0"/>
                        <a:cs typeface="Calibri" charset="0"/>
                      </a:endParaRPr>
                    </a:p>
                  </a:txBody>
                  <a:tcPr marL="76200" marR="762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50" b="1" dirty="0">
                          <a:solidFill>
                            <a:srgbClr val="0D7A8A"/>
                          </a:solidFill>
                          <a:latin typeface="Calibri" pitchFamily="34" charset="0"/>
                          <a:ea typeface="Calibri" pitchFamily="34" charset="-122"/>
                          <a:cs typeface="Calibri" pitchFamily="34" charset="-120"/>
                        </a:rPr>
                        <a:t>Mask2Former (Swin-L)</a:t>
                      </a:r>
                      <a:endParaRPr lang="en-US" sz="850" dirty="0">
                        <a:latin typeface="Calibri" charset="0"/>
                        <a:ea typeface="Calibri" charset="0"/>
                        <a:cs typeface="Calibri" charset="0"/>
                      </a:endParaRPr>
                    </a:p>
                  </a:txBody>
                  <a:tcPr marL="76200" marR="762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Best single-person mIoU on COCO 2017 val; precise person masks for occlusion protocol</a:t>
                      </a:r>
                      <a:endParaRPr lang="en-US" sz="850" dirty="0">
                        <a:latin typeface="Calibri" charset="0"/>
                        <a:ea typeface="Calibri" charset="0"/>
                        <a:cs typeface="Calibri" charset="0"/>
                      </a:endParaRPr>
                    </a:p>
                  </a:txBody>
                  <a:tcPr marL="76200" marR="762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5" name="Shape 2"/>
          <p:cNvSpPr/>
          <p:nvPr/>
        </p:nvSpPr>
        <p:spPr>
          <a:xfrm>
            <a:off x="256032" y="4736592"/>
            <a:ext cx="8631936" cy="292608"/>
          </a:xfrm>
          <a:prstGeom prst="rect">
            <a:avLst/>
          </a:prstGeom>
          <a:solidFill>
            <a:srgbClr val="F4F2EC"/>
          </a:solidFill>
          <a:ln w="6350">
            <a:solidFill>
              <a:srgbClr val="E8E4DC"/>
            </a:solidFill>
            <a:prstDash val="solid"/>
          </a:ln>
        </p:spPr>
        <p:txBody>
          <a:bodyPr/>
          <a:lstStyle/>
          <a:p>
            <a:endParaRPr lang="en-MT"/>
          </a:p>
        </p:txBody>
      </p:sp>
      <p:sp>
        <p:nvSpPr>
          <p:cNvPr id="6" name="Text 3"/>
          <p:cNvSpPr/>
          <p:nvPr/>
        </p:nvSpPr>
        <p:spPr>
          <a:xfrm>
            <a:off x="329184" y="4754880"/>
            <a:ext cx="8485632" cy="274320"/>
          </a:xfrm>
          <a:prstGeom prst="rect">
            <a:avLst/>
          </a:prstGeom>
          <a:noFill/>
          <a:ln/>
        </p:spPr>
        <p:txBody>
          <a:bodyPr wrap="square" rtlCol="0" anchor="ctr"/>
          <a:lstStyle/>
          <a:p>
            <a:pPr marL="0" indent="0">
              <a:buNone/>
            </a:pPr>
            <a:r>
              <a:rPr lang="en-US" sz="750" b="1" dirty="0">
                <a:solidFill>
                  <a:srgbClr val="4A6274"/>
                </a:solidFill>
                <a:latin typeface="Calibri" pitchFamily="34" charset="0"/>
                <a:ea typeface="Calibri" pitchFamily="34" charset="-122"/>
                <a:cs typeface="Calibri" pitchFamily="34" charset="-120"/>
              </a:rPr>
              <a:t>† </a:t>
            </a:r>
            <a:r>
              <a:rPr lang="en-US" sz="750" i="1" dirty="0">
                <a:solidFill>
                  <a:srgbClr val="4A6274"/>
                </a:solidFill>
                <a:latin typeface="Calibri" pitchFamily="34" charset="0"/>
                <a:ea typeface="Calibri" pitchFamily="34" charset="-122"/>
                <a:cs typeface="Calibri" pitchFamily="34" charset="-120"/>
              </a:rPr>
              <a:t>RetinaFace evaluated via batch_face library — AP@0.5 0.319; reflects deployment configuration, not published capability.  </a:t>
            </a:r>
            <a:r>
              <a:rPr lang="en-US" sz="750" b="1" dirty="0">
                <a:solidFill>
                  <a:srgbClr val="4A6274"/>
                </a:solidFill>
                <a:latin typeface="Calibri" pitchFamily="34" charset="0"/>
                <a:ea typeface="Calibri" pitchFamily="34" charset="-122"/>
                <a:cs typeface="Calibri" pitchFamily="34" charset="-120"/>
              </a:rPr>
              <a:t>Canny edge, frequency filters, pixel/patch shuffle, mean RGB, VAE &amp; depth: </a:t>
            </a:r>
            <a:r>
              <a:rPr lang="en-US" sz="750" i="1" dirty="0">
                <a:solidFill>
                  <a:srgbClr val="4A6274"/>
                </a:solidFill>
                <a:latin typeface="Calibri" pitchFamily="34" charset="0"/>
                <a:ea typeface="Calibri" pitchFamily="34" charset="-122"/>
                <a:cs typeface="Calibri" pitchFamily="34" charset="-120"/>
              </a:rPr>
              <a:t>no comparative selection required — classical/deterministic operations or adopted directly from Zeng et al. framework.</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7F4EE"/>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B3A5C"/>
          </a:solidFill>
          <a:ln w="12700">
            <a:solidFill>
              <a:srgbClr val="1B3A5C"/>
            </a:solidFill>
            <a:prstDash val="solid"/>
          </a:ln>
        </p:spPr>
        <p:txBody>
          <a:bodyPr/>
          <a:lstStyle/>
          <a:p>
            <a:endParaRPr lang="en-MT"/>
          </a:p>
        </p:txBody>
      </p:sp>
      <p:sp>
        <p:nvSpPr>
          <p:cNvPr id="3" name="Text 1"/>
          <p:cNvSpPr/>
          <p:nvPr/>
        </p:nvSpPr>
        <p:spPr>
          <a:xfrm>
            <a:off x="411480" y="0"/>
            <a:ext cx="8229600" cy="713232"/>
          </a:xfrm>
          <a:prstGeom prst="rect">
            <a:avLst/>
          </a:prstGeom>
          <a:noFill/>
          <a:ln/>
        </p:spPr>
        <p:txBody>
          <a:bodyPr wrap="square"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METHODOLOGY  ·  DEMOGRAPHIC ANNOTATION</a:t>
            </a:r>
            <a:endParaRPr lang="en-US" sz="2000" dirty="0"/>
          </a:p>
        </p:txBody>
      </p:sp>
      <p:sp>
        <p:nvSpPr>
          <p:cNvPr id="4" name="Shape 2"/>
          <p:cNvSpPr/>
          <p:nvPr/>
        </p:nvSpPr>
        <p:spPr>
          <a:xfrm>
            <a:off x="256032" y="822960"/>
            <a:ext cx="4160520" cy="4114800"/>
          </a:xfrm>
          <a:prstGeom prst="rect">
            <a:avLst/>
          </a:prstGeom>
          <a:solidFill>
            <a:srgbClr val="FFFFFF"/>
          </a:solidFill>
          <a:ln w="12700">
            <a:solidFill>
              <a:srgbClr val="E8E4DC"/>
            </a:solidFill>
            <a:prstDash val="solid"/>
          </a:ln>
          <a:effectLst>
            <a:outerShdw blurRad="63500" dist="25400" dir="8100000" algn="bl" rotWithShape="0">
              <a:srgbClr val="000000">
                <a:alpha val="10000"/>
              </a:srgbClr>
            </a:outerShdw>
          </a:effectLst>
        </p:spPr>
        <p:txBody>
          <a:bodyPr/>
          <a:lstStyle/>
          <a:p>
            <a:endParaRPr lang="en-MT"/>
          </a:p>
        </p:txBody>
      </p:sp>
      <p:sp>
        <p:nvSpPr>
          <p:cNvPr id="5" name="Shape 3"/>
          <p:cNvSpPr/>
          <p:nvPr/>
        </p:nvSpPr>
        <p:spPr>
          <a:xfrm>
            <a:off x="256032" y="822960"/>
            <a:ext cx="4160520" cy="64008"/>
          </a:xfrm>
          <a:prstGeom prst="rect">
            <a:avLst/>
          </a:prstGeom>
          <a:solidFill>
            <a:srgbClr val="0D7A8A"/>
          </a:solidFill>
          <a:ln w="12700">
            <a:solidFill>
              <a:srgbClr val="0D7A8A"/>
            </a:solidFill>
            <a:prstDash val="solid"/>
          </a:ln>
        </p:spPr>
        <p:txBody>
          <a:bodyPr/>
          <a:lstStyle/>
          <a:p>
            <a:endParaRPr lang="en-MT"/>
          </a:p>
        </p:txBody>
      </p:sp>
      <p:sp>
        <p:nvSpPr>
          <p:cNvPr id="6" name="Text 4"/>
          <p:cNvSpPr/>
          <p:nvPr/>
        </p:nvSpPr>
        <p:spPr>
          <a:xfrm>
            <a:off x="384048" y="914400"/>
            <a:ext cx="3931920" cy="201168"/>
          </a:xfrm>
          <a:prstGeom prst="rect">
            <a:avLst/>
          </a:prstGeom>
          <a:noFill/>
          <a:ln/>
        </p:spPr>
        <p:txBody>
          <a:bodyPr wrap="square" rtlCol="0" anchor="ctr"/>
          <a:lstStyle/>
          <a:p>
            <a:pPr marL="0" indent="0">
              <a:buNone/>
            </a:pPr>
            <a:r>
              <a:rPr lang="en-US" sz="850" b="1" kern="0" spc="120" dirty="0">
                <a:solidFill>
                  <a:srgbClr val="0D7A8A"/>
                </a:solidFill>
                <a:latin typeface="Calibri" pitchFamily="34" charset="0"/>
                <a:ea typeface="Calibri" pitchFamily="34" charset="-122"/>
                <a:cs typeface="Calibri" pitchFamily="34" charset="-120"/>
              </a:rPr>
              <a:t>GENDER ANNOTATION</a:t>
            </a:r>
            <a:endParaRPr lang="en-US" sz="850" dirty="0"/>
          </a:p>
        </p:txBody>
      </p:sp>
      <p:sp>
        <p:nvSpPr>
          <p:cNvPr id="7" name="Text 5"/>
          <p:cNvSpPr/>
          <p:nvPr/>
        </p:nvSpPr>
        <p:spPr>
          <a:xfrm>
            <a:off x="384048" y="1170432"/>
            <a:ext cx="3931920" cy="640080"/>
          </a:xfrm>
          <a:prstGeom prst="rect">
            <a:avLst/>
          </a:prstGeom>
          <a:noFill/>
          <a:ln/>
        </p:spPr>
        <p:txBody>
          <a:bodyPr wrap="square" rtlCol="0" anchor="ctr"/>
          <a:lstStyle/>
          <a:p>
            <a:pPr marL="0" indent="0">
              <a:lnSpc>
                <a:spcPct val="115000"/>
              </a:lnSpc>
              <a:buNone/>
            </a:pPr>
            <a:r>
              <a:rPr lang="en-US" sz="880" b="1" dirty="0">
                <a:solidFill>
                  <a:srgbClr val="0D7A8A"/>
                </a:solidFill>
                <a:latin typeface="Calibri" pitchFamily="34" charset="0"/>
                <a:ea typeface="Calibri" pitchFamily="34" charset="-122"/>
                <a:cs typeface="Calibri" pitchFamily="34" charset="-120"/>
              </a:rPr>
              <a:t>· Pre-processing:</a:t>
            </a:r>
            <a:r>
              <a:rPr lang="en-US" sz="880" dirty="0">
                <a:solidFill>
                  <a:srgbClr val="1C2B3A"/>
                </a:solidFill>
                <a:latin typeface="Calibri" pitchFamily="34" charset="0"/>
                <a:ea typeface="Calibri" pitchFamily="34" charset="-122"/>
                <a:cs typeface="Calibri" pitchFamily="34" charset="-120"/>
              </a:rPr>
              <a:t> MediaPipe FaceMesh → convex hull mask → background-removed face crop applied to ALL images before any annotation</a:t>
            </a:r>
            <a:endParaRPr lang="en-US" sz="880" dirty="0"/>
          </a:p>
        </p:txBody>
      </p:sp>
      <p:sp>
        <p:nvSpPr>
          <p:cNvPr id="8" name="Text 6"/>
          <p:cNvSpPr/>
          <p:nvPr/>
        </p:nvSpPr>
        <p:spPr>
          <a:xfrm>
            <a:off x="384048" y="1828800"/>
            <a:ext cx="3931920" cy="640080"/>
          </a:xfrm>
          <a:prstGeom prst="rect">
            <a:avLst/>
          </a:prstGeom>
          <a:noFill/>
          <a:ln/>
        </p:spPr>
        <p:txBody>
          <a:bodyPr wrap="square" rtlCol="0" anchor="ctr"/>
          <a:lstStyle/>
          <a:p>
            <a:pPr marL="0" indent="0">
              <a:lnSpc>
                <a:spcPct val="115000"/>
              </a:lnSpc>
              <a:buNone/>
            </a:pPr>
            <a:r>
              <a:rPr lang="en-US" sz="880" b="1" dirty="0">
                <a:solidFill>
                  <a:srgbClr val="0D7A8A"/>
                </a:solidFill>
                <a:latin typeface="Calibri" pitchFamily="34" charset="0"/>
                <a:ea typeface="Calibri" pitchFamily="34" charset="-122"/>
                <a:cs typeface="Calibri" pitchFamily="34" charset="-120"/>
              </a:rPr>
              <a:t>· Model:</a:t>
            </a:r>
            <a:r>
              <a:rPr lang="en-US" sz="880" dirty="0">
                <a:solidFill>
                  <a:srgbClr val="1C2B3A"/>
                </a:solidFill>
                <a:latin typeface="Calibri" pitchFamily="34" charset="0"/>
                <a:ea typeface="Calibri" pitchFamily="34" charset="-122"/>
                <a:cs typeface="Calibri" pitchFamily="34" charset="-120"/>
              </a:rPr>
              <a:t> Realistic Gender Classifier (SigLIP backbone) — selected via head-to-head benchmark on CCv2 face-only segmented crops and FACET</a:t>
            </a:r>
            <a:endParaRPr lang="en-US" sz="880" dirty="0"/>
          </a:p>
        </p:txBody>
      </p:sp>
      <p:sp>
        <p:nvSpPr>
          <p:cNvPr id="9" name="Text 7"/>
          <p:cNvSpPr/>
          <p:nvPr/>
        </p:nvSpPr>
        <p:spPr>
          <a:xfrm>
            <a:off x="384048" y="2487168"/>
            <a:ext cx="3931920" cy="640080"/>
          </a:xfrm>
          <a:prstGeom prst="rect">
            <a:avLst/>
          </a:prstGeom>
          <a:noFill/>
          <a:ln/>
        </p:spPr>
        <p:txBody>
          <a:bodyPr wrap="square" rtlCol="0" anchor="ctr"/>
          <a:lstStyle/>
          <a:p>
            <a:pPr marL="0" indent="0">
              <a:lnSpc>
                <a:spcPct val="115000"/>
              </a:lnSpc>
              <a:buNone/>
            </a:pPr>
            <a:r>
              <a:rPr lang="en-US" sz="880" b="1" dirty="0">
                <a:solidFill>
                  <a:srgbClr val="0D7A8A"/>
                </a:solidFill>
                <a:latin typeface="Calibri" pitchFamily="34" charset="0"/>
                <a:ea typeface="Calibri" pitchFamily="34" charset="-122"/>
                <a:cs typeface="Calibri" pitchFamily="34" charset="-120"/>
              </a:rPr>
              <a:t>· Performance:</a:t>
            </a:r>
            <a:r>
              <a:rPr lang="en-US" sz="880" dirty="0">
                <a:solidFill>
                  <a:srgbClr val="1C2B3A"/>
                </a:solidFill>
                <a:latin typeface="Calibri" pitchFamily="34" charset="0"/>
                <a:ea typeface="Calibri" pitchFamily="34" charset="-122"/>
                <a:cs typeface="Calibri" pitchFamily="34" charset="-120"/>
              </a:rPr>
              <a:t> Highest overall CCv2 accuracy + best male/female subgroup balance — FairFace and DeepFace both showed stronger skew toward one subgroup</a:t>
            </a:r>
            <a:endParaRPr lang="en-US" sz="880" dirty="0"/>
          </a:p>
        </p:txBody>
      </p:sp>
      <p:sp>
        <p:nvSpPr>
          <p:cNvPr id="10" name="Text 8"/>
          <p:cNvSpPr/>
          <p:nvPr/>
        </p:nvSpPr>
        <p:spPr>
          <a:xfrm>
            <a:off x="384048" y="3145536"/>
            <a:ext cx="3931920" cy="640080"/>
          </a:xfrm>
          <a:prstGeom prst="rect">
            <a:avLst/>
          </a:prstGeom>
          <a:noFill/>
          <a:ln/>
        </p:spPr>
        <p:txBody>
          <a:bodyPr wrap="square" rtlCol="0" anchor="ctr"/>
          <a:lstStyle/>
          <a:p>
            <a:pPr marL="0" indent="0">
              <a:lnSpc>
                <a:spcPct val="115000"/>
              </a:lnSpc>
              <a:buNone/>
            </a:pPr>
            <a:r>
              <a:rPr lang="en-US" sz="880" b="1" dirty="0">
                <a:solidFill>
                  <a:srgbClr val="0D7A8A"/>
                </a:solidFill>
                <a:latin typeface="Calibri" pitchFamily="34" charset="0"/>
                <a:ea typeface="Calibri" pitchFamily="34" charset="-122"/>
                <a:cs typeface="Calibri" pitchFamily="34" charset="-120"/>
              </a:rPr>
              <a:t>· Labels:</a:t>
            </a:r>
            <a:r>
              <a:rPr lang="en-US" sz="880" dirty="0">
                <a:solidFill>
                  <a:srgbClr val="1C2B3A"/>
                </a:solidFill>
                <a:latin typeface="Calibri" pitchFamily="34" charset="0"/>
                <a:ea typeface="Calibri" pitchFamily="34" charset="-122"/>
                <a:cs typeface="Calibri" pitchFamily="34" charset="-120"/>
              </a:rPr>
              <a:t> Binary perceived gender (Male / Female) — proxy of perceived attributes, not ground truth identity</a:t>
            </a:r>
            <a:endParaRPr lang="en-US" sz="880" dirty="0"/>
          </a:p>
        </p:txBody>
      </p:sp>
      <p:sp>
        <p:nvSpPr>
          <p:cNvPr id="11" name="Text 9"/>
          <p:cNvSpPr/>
          <p:nvPr/>
        </p:nvSpPr>
        <p:spPr>
          <a:xfrm>
            <a:off x="384048" y="3803904"/>
            <a:ext cx="3931920" cy="640080"/>
          </a:xfrm>
          <a:prstGeom prst="rect">
            <a:avLst/>
          </a:prstGeom>
          <a:noFill/>
          <a:ln/>
        </p:spPr>
        <p:txBody>
          <a:bodyPr wrap="square" rtlCol="0" anchor="ctr"/>
          <a:lstStyle/>
          <a:p>
            <a:pPr marL="0" indent="0">
              <a:lnSpc>
                <a:spcPct val="115000"/>
              </a:lnSpc>
              <a:buNone/>
            </a:pPr>
            <a:r>
              <a:rPr lang="en-US" sz="880" b="1" dirty="0">
                <a:solidFill>
                  <a:srgbClr val="0D7A8A"/>
                </a:solidFill>
                <a:latin typeface="Calibri" pitchFamily="34" charset="0"/>
                <a:ea typeface="Calibri" pitchFamily="34" charset="-122"/>
                <a:cs typeface="Calibri" pitchFamily="34" charset="-120"/>
              </a:rPr>
              <a:t>· Known limitation:</a:t>
            </a:r>
            <a:r>
              <a:rPr lang="en-US" sz="880" dirty="0">
                <a:solidFill>
                  <a:srgbClr val="1C2B3A"/>
                </a:solidFill>
                <a:latin typeface="Calibri" pitchFamily="34" charset="0"/>
                <a:ea typeface="Calibri" pitchFamily="34" charset="-122"/>
                <a:cs typeface="Calibri" pitchFamily="34" charset="-120"/>
              </a:rPr>
              <a:t> Classifier accuracy degrades at darker skin tones (MST 8–10) and at distribution extremes — documented in Table 3.4; no ground truth at scale available to correct this</a:t>
            </a:r>
            <a:endParaRPr lang="en-US" sz="880" dirty="0"/>
          </a:p>
        </p:txBody>
      </p:sp>
      <p:sp>
        <p:nvSpPr>
          <p:cNvPr id="12" name="Shape 10"/>
          <p:cNvSpPr/>
          <p:nvPr/>
        </p:nvSpPr>
        <p:spPr>
          <a:xfrm>
            <a:off x="329184" y="4434840"/>
            <a:ext cx="4014216" cy="438912"/>
          </a:xfrm>
          <a:prstGeom prst="rect">
            <a:avLst/>
          </a:prstGeom>
          <a:solidFill>
            <a:srgbClr val="EAF4F0"/>
          </a:solidFill>
          <a:ln w="9525">
            <a:solidFill>
              <a:srgbClr val="0D7A8A"/>
            </a:solidFill>
            <a:prstDash val="solid"/>
          </a:ln>
        </p:spPr>
        <p:txBody>
          <a:bodyPr/>
          <a:lstStyle/>
          <a:p>
            <a:endParaRPr lang="en-MT"/>
          </a:p>
        </p:txBody>
      </p:sp>
      <p:sp>
        <p:nvSpPr>
          <p:cNvPr id="13" name="Text 11"/>
          <p:cNvSpPr/>
          <p:nvPr/>
        </p:nvSpPr>
        <p:spPr>
          <a:xfrm>
            <a:off x="402336" y="4453128"/>
            <a:ext cx="3867912" cy="402336"/>
          </a:xfrm>
          <a:prstGeom prst="rect">
            <a:avLst/>
          </a:prstGeom>
          <a:noFill/>
          <a:ln/>
        </p:spPr>
        <p:txBody>
          <a:bodyPr wrap="square" rtlCol="0" anchor="ctr"/>
          <a:lstStyle/>
          <a:p>
            <a:pPr marL="0" indent="0">
              <a:buNone/>
            </a:pPr>
            <a:r>
              <a:rPr lang="en-US" sz="850" b="1" dirty="0">
                <a:solidFill>
                  <a:srgbClr val="0D7A8A"/>
                </a:solidFill>
                <a:latin typeface="Calibri" pitchFamily="34" charset="0"/>
                <a:ea typeface="Calibri" pitchFamily="34" charset="-122"/>
                <a:cs typeface="Calibri" pitchFamily="34" charset="-120"/>
              </a:rPr>
              <a:t>Aggregate result:  </a:t>
            </a:r>
            <a:r>
              <a:rPr lang="en-US" sz="850" dirty="0">
                <a:solidFill>
                  <a:srgbClr val="1C2B3A"/>
                </a:solidFill>
                <a:latin typeface="Calibri" pitchFamily="34" charset="0"/>
                <a:ea typeface="Calibri" pitchFamily="34" charset="-122"/>
                <a:cs typeface="Calibri" pitchFamily="34" charset="-120"/>
              </a:rPr>
              <a:t>Re-LAION-5B 41.5% F / 58.5% M   ·   SDv1.5 29.0% F / 71.0% M</a:t>
            </a:r>
            <a:endParaRPr lang="en-US" sz="850" dirty="0"/>
          </a:p>
        </p:txBody>
      </p:sp>
      <p:sp>
        <p:nvSpPr>
          <p:cNvPr id="14" name="Shape 12"/>
          <p:cNvSpPr/>
          <p:nvPr/>
        </p:nvSpPr>
        <p:spPr>
          <a:xfrm>
            <a:off x="4727448" y="822960"/>
            <a:ext cx="4160520" cy="4114800"/>
          </a:xfrm>
          <a:prstGeom prst="rect">
            <a:avLst/>
          </a:prstGeom>
          <a:solidFill>
            <a:srgbClr val="FFFFFF"/>
          </a:solidFill>
          <a:ln w="12700">
            <a:solidFill>
              <a:srgbClr val="E8E4DC"/>
            </a:solidFill>
            <a:prstDash val="solid"/>
          </a:ln>
          <a:effectLst>
            <a:outerShdw blurRad="63500" dist="25400" dir="8100000" algn="bl" rotWithShape="0">
              <a:srgbClr val="000000">
                <a:alpha val="10000"/>
              </a:srgbClr>
            </a:outerShdw>
          </a:effectLst>
        </p:spPr>
        <p:txBody>
          <a:bodyPr/>
          <a:lstStyle/>
          <a:p>
            <a:endParaRPr lang="en-MT"/>
          </a:p>
        </p:txBody>
      </p:sp>
      <p:sp>
        <p:nvSpPr>
          <p:cNvPr id="15" name="Shape 13"/>
          <p:cNvSpPr/>
          <p:nvPr/>
        </p:nvSpPr>
        <p:spPr>
          <a:xfrm>
            <a:off x="4727448" y="822960"/>
            <a:ext cx="4160520" cy="64008"/>
          </a:xfrm>
          <a:prstGeom prst="rect">
            <a:avLst/>
          </a:prstGeom>
          <a:solidFill>
            <a:srgbClr val="C9A84C"/>
          </a:solidFill>
          <a:ln w="12700">
            <a:solidFill>
              <a:srgbClr val="C9A84C"/>
            </a:solidFill>
            <a:prstDash val="solid"/>
          </a:ln>
        </p:spPr>
        <p:txBody>
          <a:bodyPr/>
          <a:lstStyle/>
          <a:p>
            <a:endParaRPr lang="en-MT"/>
          </a:p>
        </p:txBody>
      </p:sp>
      <p:sp>
        <p:nvSpPr>
          <p:cNvPr id="16" name="Text 14"/>
          <p:cNvSpPr/>
          <p:nvPr/>
        </p:nvSpPr>
        <p:spPr>
          <a:xfrm>
            <a:off x="4855464" y="914400"/>
            <a:ext cx="3931920" cy="201168"/>
          </a:xfrm>
          <a:prstGeom prst="rect">
            <a:avLst/>
          </a:prstGeom>
          <a:noFill/>
          <a:ln/>
        </p:spPr>
        <p:txBody>
          <a:bodyPr wrap="square" rtlCol="0" anchor="ctr"/>
          <a:lstStyle/>
          <a:p>
            <a:pPr marL="0" indent="0">
              <a:buNone/>
            </a:pPr>
            <a:r>
              <a:rPr lang="en-US" sz="850" b="1" kern="0" spc="120" dirty="0">
                <a:solidFill>
                  <a:srgbClr val="9A7D30"/>
                </a:solidFill>
                <a:latin typeface="Calibri" pitchFamily="34" charset="0"/>
                <a:ea typeface="Calibri" pitchFamily="34" charset="-122"/>
                <a:cs typeface="Calibri" pitchFamily="34" charset="-120"/>
              </a:rPr>
              <a:t>SKIN TONE ANNOTATION</a:t>
            </a:r>
            <a:endParaRPr lang="en-US" sz="850" dirty="0"/>
          </a:p>
        </p:txBody>
      </p:sp>
      <p:sp>
        <p:nvSpPr>
          <p:cNvPr id="17" name="Text 15"/>
          <p:cNvSpPr/>
          <p:nvPr/>
        </p:nvSpPr>
        <p:spPr>
          <a:xfrm>
            <a:off x="4855464" y="1170432"/>
            <a:ext cx="3931920" cy="640080"/>
          </a:xfrm>
          <a:prstGeom prst="rect">
            <a:avLst/>
          </a:prstGeom>
          <a:noFill/>
          <a:ln/>
        </p:spPr>
        <p:txBody>
          <a:bodyPr wrap="square" rtlCol="0" anchor="ctr"/>
          <a:lstStyle/>
          <a:p>
            <a:pPr marL="0" indent="0">
              <a:lnSpc>
                <a:spcPct val="115000"/>
              </a:lnSpc>
              <a:buNone/>
            </a:pPr>
            <a:r>
              <a:rPr lang="en-US" sz="880" b="1" dirty="0">
                <a:solidFill>
                  <a:srgbClr val="9A7D30"/>
                </a:solidFill>
                <a:latin typeface="Calibri" pitchFamily="34" charset="0"/>
                <a:ea typeface="Calibri" pitchFamily="34" charset="-122"/>
                <a:cs typeface="Calibri" pitchFamily="34" charset="-120"/>
              </a:rPr>
              <a:t>· Scale:</a:t>
            </a:r>
            <a:r>
              <a:rPr lang="en-US" sz="880" dirty="0">
                <a:solidFill>
                  <a:srgbClr val="1C2B3A"/>
                </a:solidFill>
                <a:latin typeface="Calibri" pitchFamily="34" charset="0"/>
                <a:ea typeface="Calibri" pitchFamily="34" charset="-122"/>
                <a:cs typeface="Calibri" pitchFamily="34" charset="-120"/>
              </a:rPr>
              <a:t> Monk Skin Tone (MST) 1–10 — extends Meister et al.'s gender-only framework to skin tone; prior work used binary or Fitzpatrick 6-class</a:t>
            </a:r>
            <a:endParaRPr lang="en-US" sz="880" dirty="0"/>
          </a:p>
        </p:txBody>
      </p:sp>
      <p:sp>
        <p:nvSpPr>
          <p:cNvPr id="18" name="Text 16"/>
          <p:cNvSpPr/>
          <p:nvPr/>
        </p:nvSpPr>
        <p:spPr>
          <a:xfrm>
            <a:off x="4855464" y="1828800"/>
            <a:ext cx="3931920" cy="640080"/>
          </a:xfrm>
          <a:prstGeom prst="rect">
            <a:avLst/>
          </a:prstGeom>
          <a:noFill/>
          <a:ln/>
        </p:spPr>
        <p:txBody>
          <a:bodyPr wrap="square" rtlCol="0" anchor="ctr"/>
          <a:lstStyle/>
          <a:p>
            <a:pPr marL="0" indent="0">
              <a:lnSpc>
                <a:spcPct val="115000"/>
              </a:lnSpc>
              <a:buNone/>
            </a:pPr>
            <a:r>
              <a:rPr lang="en-US" sz="880" b="1" dirty="0">
                <a:solidFill>
                  <a:srgbClr val="9A7D30"/>
                </a:solidFill>
                <a:latin typeface="Calibri" pitchFamily="34" charset="0"/>
                <a:ea typeface="Calibri" pitchFamily="34" charset="-122"/>
                <a:cs typeface="Calibri" pitchFamily="34" charset="-120"/>
              </a:rPr>
              <a:t>· Model:</a:t>
            </a:r>
            <a:r>
              <a:rPr lang="en-US" sz="880" dirty="0">
                <a:solidFill>
                  <a:srgbClr val="1C2B3A"/>
                </a:solidFill>
                <a:latin typeface="Calibri" pitchFamily="34" charset="0"/>
                <a:ea typeface="Calibri" pitchFamily="34" charset="-122"/>
                <a:cs typeface="Calibri" pitchFamily="34" charset="-120"/>
              </a:rPr>
              <a:t> VGG-16 MST10 Regression, black-background variant — selected from multiple architectures and input configurations on CCv2, MSTE, FACET</a:t>
            </a:r>
            <a:endParaRPr lang="en-US" sz="880" dirty="0"/>
          </a:p>
        </p:txBody>
      </p:sp>
      <p:sp>
        <p:nvSpPr>
          <p:cNvPr id="19" name="Text 17"/>
          <p:cNvSpPr/>
          <p:nvPr/>
        </p:nvSpPr>
        <p:spPr>
          <a:xfrm>
            <a:off x="4855464" y="2487168"/>
            <a:ext cx="3931920" cy="640080"/>
          </a:xfrm>
          <a:prstGeom prst="rect">
            <a:avLst/>
          </a:prstGeom>
          <a:noFill/>
          <a:ln/>
        </p:spPr>
        <p:txBody>
          <a:bodyPr wrap="square" rtlCol="0" anchor="ctr"/>
          <a:lstStyle/>
          <a:p>
            <a:pPr marL="0" indent="0">
              <a:lnSpc>
                <a:spcPct val="115000"/>
              </a:lnSpc>
              <a:buNone/>
            </a:pPr>
            <a:r>
              <a:rPr lang="en-US" sz="880" b="1" dirty="0">
                <a:solidFill>
                  <a:srgbClr val="9A7D30"/>
                </a:solidFill>
                <a:latin typeface="Calibri" pitchFamily="34" charset="0"/>
                <a:ea typeface="Calibri" pitchFamily="34" charset="-122"/>
                <a:cs typeface="Calibri" pitchFamily="34" charset="-120"/>
              </a:rPr>
              <a:t>· Performance:</a:t>
            </a:r>
            <a:r>
              <a:rPr lang="en-US" sz="880" dirty="0">
                <a:solidFill>
                  <a:srgbClr val="1C2B3A"/>
                </a:solidFill>
                <a:latin typeface="Calibri" pitchFamily="34" charset="0"/>
                <a:ea typeface="Calibri" pitchFamily="34" charset="-122"/>
                <a:cs typeface="Calibri" pitchFamily="34" charset="-120"/>
              </a:rPr>
              <a:t> Best exact + within-one accuracy across all three benchmarks; black background prevents model exploiting surrounding context</a:t>
            </a:r>
            <a:endParaRPr lang="en-US" sz="880" dirty="0"/>
          </a:p>
        </p:txBody>
      </p:sp>
      <p:sp>
        <p:nvSpPr>
          <p:cNvPr id="20" name="Text 18"/>
          <p:cNvSpPr/>
          <p:nvPr/>
        </p:nvSpPr>
        <p:spPr>
          <a:xfrm>
            <a:off x="4855464" y="3145536"/>
            <a:ext cx="3931920" cy="640080"/>
          </a:xfrm>
          <a:prstGeom prst="rect">
            <a:avLst/>
          </a:prstGeom>
          <a:noFill/>
          <a:ln/>
        </p:spPr>
        <p:txBody>
          <a:bodyPr wrap="square" rtlCol="0" anchor="ctr"/>
          <a:lstStyle/>
          <a:p>
            <a:pPr marL="0" indent="0">
              <a:lnSpc>
                <a:spcPct val="115000"/>
              </a:lnSpc>
              <a:buNone/>
            </a:pPr>
            <a:r>
              <a:rPr lang="en-US" sz="880" b="1" dirty="0">
                <a:solidFill>
                  <a:srgbClr val="9A7D30"/>
                </a:solidFill>
                <a:latin typeface="Calibri" pitchFamily="34" charset="0"/>
                <a:ea typeface="Calibri" pitchFamily="34" charset="-122"/>
                <a:cs typeface="Calibri" pitchFamily="34" charset="-120"/>
              </a:rPr>
              <a:t>· Binning:</a:t>
            </a:r>
            <a:r>
              <a:rPr lang="en-US" sz="880" dirty="0">
                <a:solidFill>
                  <a:srgbClr val="1C2B3A"/>
                </a:solidFill>
                <a:latin typeface="Calibri" pitchFamily="34" charset="0"/>
                <a:ea typeface="Calibri" pitchFamily="34" charset="-122"/>
                <a:cs typeface="Calibri" pitchFamily="34" charset="-120"/>
              </a:rPr>
              <a:t> Reported as MST 1–10 (fine) and Light (1–3) / Mid (4–7) / Dark (8–10) bins for aggregate analysis</a:t>
            </a:r>
            <a:endParaRPr lang="en-US" sz="880" dirty="0"/>
          </a:p>
        </p:txBody>
      </p:sp>
      <p:sp>
        <p:nvSpPr>
          <p:cNvPr id="21" name="Text 19"/>
          <p:cNvSpPr/>
          <p:nvPr/>
        </p:nvSpPr>
        <p:spPr>
          <a:xfrm>
            <a:off x="4855464" y="3803904"/>
            <a:ext cx="3931920" cy="640080"/>
          </a:xfrm>
          <a:prstGeom prst="rect">
            <a:avLst/>
          </a:prstGeom>
          <a:noFill/>
          <a:ln/>
        </p:spPr>
        <p:txBody>
          <a:bodyPr wrap="square" rtlCol="0" anchor="ctr"/>
          <a:lstStyle/>
          <a:p>
            <a:pPr marL="0" indent="0">
              <a:lnSpc>
                <a:spcPct val="115000"/>
              </a:lnSpc>
              <a:buNone/>
            </a:pPr>
            <a:r>
              <a:rPr lang="en-US" sz="880" b="1" dirty="0">
                <a:solidFill>
                  <a:srgbClr val="9A7D30"/>
                </a:solidFill>
                <a:latin typeface="Calibri" pitchFamily="34" charset="0"/>
                <a:ea typeface="Calibri" pitchFamily="34" charset="-122"/>
                <a:cs typeface="Calibri" pitchFamily="34" charset="-120"/>
              </a:rPr>
              <a:t>· Known limitation:</a:t>
            </a:r>
            <a:r>
              <a:rPr lang="en-US" sz="880" dirty="0">
                <a:solidFill>
                  <a:srgbClr val="1C2B3A"/>
                </a:solidFill>
                <a:latin typeface="Calibri" pitchFamily="34" charset="0"/>
                <a:ea typeface="Calibri" pitchFamily="34" charset="-122"/>
                <a:cs typeface="Calibri" pitchFamily="34" charset="-120"/>
              </a:rPr>
              <a:t> Race-to-skin-tone reference mapping abandoned — all racial groups collapsed to Mid bin in FairFace calibration corpus, lacking discriminative resolution for real-world comparison</a:t>
            </a:r>
            <a:endParaRPr lang="en-US" sz="880" dirty="0"/>
          </a:p>
        </p:txBody>
      </p:sp>
      <p:sp>
        <p:nvSpPr>
          <p:cNvPr id="22" name="Shape 20"/>
          <p:cNvSpPr/>
          <p:nvPr/>
        </p:nvSpPr>
        <p:spPr>
          <a:xfrm>
            <a:off x="4800600" y="4434840"/>
            <a:ext cx="4014216" cy="438912"/>
          </a:xfrm>
          <a:prstGeom prst="rect">
            <a:avLst/>
          </a:prstGeom>
          <a:solidFill>
            <a:srgbClr val="FEF9EC"/>
          </a:solidFill>
          <a:ln w="9525">
            <a:solidFill>
              <a:srgbClr val="C9A84C"/>
            </a:solidFill>
            <a:prstDash val="solid"/>
          </a:ln>
        </p:spPr>
        <p:txBody>
          <a:bodyPr/>
          <a:lstStyle/>
          <a:p>
            <a:endParaRPr lang="en-MT"/>
          </a:p>
        </p:txBody>
      </p:sp>
      <p:sp>
        <p:nvSpPr>
          <p:cNvPr id="23" name="Text 21"/>
          <p:cNvSpPr/>
          <p:nvPr/>
        </p:nvSpPr>
        <p:spPr>
          <a:xfrm>
            <a:off x="4873752" y="4453128"/>
            <a:ext cx="3867912" cy="402336"/>
          </a:xfrm>
          <a:prstGeom prst="rect">
            <a:avLst/>
          </a:prstGeom>
          <a:noFill/>
          <a:ln/>
        </p:spPr>
        <p:txBody>
          <a:bodyPr wrap="square" rtlCol="0" anchor="ctr"/>
          <a:lstStyle/>
          <a:p>
            <a:pPr marL="0" indent="0">
              <a:buNone/>
            </a:pPr>
            <a:r>
              <a:rPr lang="en-US" sz="850" b="1" dirty="0">
                <a:solidFill>
                  <a:srgbClr val="9A7D30"/>
                </a:solidFill>
                <a:latin typeface="Calibri" pitchFamily="34" charset="0"/>
                <a:ea typeface="Calibri" pitchFamily="34" charset="-122"/>
                <a:cs typeface="Calibri" pitchFamily="34" charset="-120"/>
              </a:rPr>
              <a:t>Aggregate result:  </a:t>
            </a:r>
            <a:r>
              <a:rPr lang="en-US" sz="850" dirty="0">
                <a:solidFill>
                  <a:srgbClr val="1C2B3A"/>
                </a:solidFill>
                <a:latin typeface="Calibri" pitchFamily="34" charset="0"/>
                <a:ea typeface="Calibri" pitchFamily="34" charset="-122"/>
                <a:cs typeface="Calibri" pitchFamily="34" charset="-120"/>
              </a:rPr>
              <a:t>SDv1.5 Light-bin 22.9% vs Re-LAION-5B 12.5%  ·  Dark-bin collapsed by 83%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F9A5EDD5-BCA9-9410-B432-879CEE8DA7AF}"/>
              </a:ext>
            </a:extLst>
          </p:cNvPr>
          <p:cNvGrpSpPr/>
          <p:nvPr/>
        </p:nvGrpSpPr>
        <p:grpSpPr>
          <a:xfrm>
            <a:off x="4681127" y="1604550"/>
            <a:ext cx="4320000" cy="2888506"/>
            <a:chOff x="4681127" y="1833150"/>
            <a:chExt cx="4320000" cy="2888506"/>
          </a:xfrm>
        </p:grpSpPr>
        <p:sp>
          <p:nvSpPr>
            <p:cNvPr id="9" name="TextBox 8">
              <a:extLst>
                <a:ext uri="{FF2B5EF4-FFF2-40B4-BE49-F238E27FC236}">
                  <a16:creationId xmlns:a16="http://schemas.microsoft.com/office/drawing/2014/main" id="{38CCEF01-5079-E329-94A1-C3B1936847FC}"/>
                </a:ext>
              </a:extLst>
            </p:cNvPr>
            <p:cNvSpPr txBox="1"/>
            <p:nvPr/>
          </p:nvSpPr>
          <p:spPr>
            <a:xfrm>
              <a:off x="4681129" y="3767549"/>
              <a:ext cx="4319998" cy="954107"/>
            </a:xfrm>
            <a:prstGeom prst="rect">
              <a:avLst/>
            </a:prstGeom>
            <a:noFill/>
          </p:spPr>
          <p:txBody>
            <a:bodyPr wrap="square">
              <a:spAutoFit/>
            </a:bodyPr>
            <a:lstStyle/>
            <a:p>
              <a:r>
                <a:rPr lang="en-GB" sz="800" dirty="0"/>
                <a:t>Figure 4: </a:t>
              </a:r>
              <a:r>
                <a:rPr lang="en-US" sz="800" dirty="0"/>
                <a:t>Aggregate Monk Skin Tone (MST 1–10) distribution for Re-LAION-5B and Stable Diffusion v1.5 outputs. Skin tone annotations are derived using the VGG-16 MST10 regression model and binned across the full 10-point scale. Both datasets exhibit a strong concentration in mid-range tones (MST 4–6), with reduced representation at the lightest (MST 1–2) and darkest (MST 8–10) extremes. Stable Diffusion shows a slight shift toward lighter tones and reduced diversity at higher MST values, indicating distributional compression and amplification of existing biases present in the training data.</a:t>
              </a:r>
              <a:endParaRPr sz="800" dirty="0"/>
            </a:p>
          </p:txBody>
        </p:sp>
        <p:pic>
          <p:nvPicPr>
            <p:cNvPr id="10" name="Picture 9">
              <a:extLst>
                <a:ext uri="{FF2B5EF4-FFF2-40B4-BE49-F238E27FC236}">
                  <a16:creationId xmlns:a16="http://schemas.microsoft.com/office/drawing/2014/main" id="{1894BD75-C509-7195-A9AD-C8BE370B9D60}"/>
                </a:ext>
              </a:extLst>
            </p:cNvPr>
            <p:cNvPicPr>
              <a:picLocks noChangeAspect="1"/>
            </p:cNvPicPr>
            <p:nvPr/>
          </p:nvPicPr>
          <p:blipFill>
            <a:blip r:embed="rId2"/>
            <a:srcRect/>
            <a:stretch/>
          </p:blipFill>
          <p:spPr>
            <a:xfrm>
              <a:off x="4681127" y="1833150"/>
              <a:ext cx="4320000" cy="1934399"/>
            </a:xfrm>
            <a:prstGeom prst="rect">
              <a:avLst/>
            </a:prstGeom>
            <a:ln>
              <a:solidFill>
                <a:schemeClr val="tx1"/>
              </a:solidFill>
            </a:ln>
          </p:spPr>
        </p:pic>
      </p:grpSp>
      <p:grpSp>
        <p:nvGrpSpPr>
          <p:cNvPr id="11" name="Group 10">
            <a:extLst>
              <a:ext uri="{FF2B5EF4-FFF2-40B4-BE49-F238E27FC236}">
                <a16:creationId xmlns:a16="http://schemas.microsoft.com/office/drawing/2014/main" id="{71D3F237-CD8D-B70B-2E22-E2CA19A7C271}"/>
              </a:ext>
            </a:extLst>
          </p:cNvPr>
          <p:cNvGrpSpPr/>
          <p:nvPr/>
        </p:nvGrpSpPr>
        <p:grpSpPr>
          <a:xfrm>
            <a:off x="270471" y="1277922"/>
            <a:ext cx="4064808" cy="3510490"/>
            <a:chOff x="270471" y="1506522"/>
            <a:chExt cx="4064808" cy="3510490"/>
          </a:xfrm>
        </p:grpSpPr>
        <p:pic>
          <p:nvPicPr>
            <p:cNvPr id="12" name="Picture 11">
              <a:extLst>
                <a:ext uri="{FF2B5EF4-FFF2-40B4-BE49-F238E27FC236}">
                  <a16:creationId xmlns:a16="http://schemas.microsoft.com/office/drawing/2014/main" id="{75F9B6EF-E7B9-C3DC-1C6A-743C78AEC003}"/>
                </a:ext>
              </a:extLst>
            </p:cNvPr>
            <p:cNvPicPr>
              <a:picLocks noChangeAspect="1"/>
            </p:cNvPicPr>
            <p:nvPr/>
          </p:nvPicPr>
          <p:blipFill>
            <a:blip r:embed="rId3"/>
            <a:srcRect/>
            <a:stretch/>
          </p:blipFill>
          <p:spPr>
            <a:xfrm>
              <a:off x="270471" y="1506522"/>
              <a:ext cx="4064808" cy="2679493"/>
            </a:xfrm>
            <a:prstGeom prst="rect">
              <a:avLst/>
            </a:prstGeom>
            <a:ln>
              <a:solidFill>
                <a:schemeClr val="tx1"/>
              </a:solidFill>
            </a:ln>
          </p:spPr>
        </p:pic>
        <p:sp>
          <p:nvSpPr>
            <p:cNvPr id="13" name="TextBox 12">
              <a:extLst>
                <a:ext uri="{FF2B5EF4-FFF2-40B4-BE49-F238E27FC236}">
                  <a16:creationId xmlns:a16="http://schemas.microsoft.com/office/drawing/2014/main" id="{15E78623-F90A-6A39-D232-42C405E0C881}"/>
                </a:ext>
              </a:extLst>
            </p:cNvPr>
            <p:cNvSpPr txBox="1"/>
            <p:nvPr/>
          </p:nvSpPr>
          <p:spPr>
            <a:xfrm>
              <a:off x="270471" y="4186015"/>
              <a:ext cx="4064808" cy="830997"/>
            </a:xfrm>
            <a:prstGeom prst="rect">
              <a:avLst/>
            </a:prstGeom>
            <a:noFill/>
          </p:spPr>
          <p:txBody>
            <a:bodyPr wrap="square">
              <a:spAutoFit/>
            </a:bodyPr>
            <a:lstStyle/>
            <a:p>
              <a:r>
                <a:rPr lang="en-GB" sz="800" dirty="0"/>
                <a:t>Figure 3: </a:t>
              </a:r>
              <a:r>
                <a:rPr lang="en-US" sz="800" dirty="0"/>
                <a:t>Aggregate gender distribution across Re-LAION-5B and Stable Diffusion v1.5 outputs. Gender proportions are computed over the filtered 200,000-image corpus using the Realistic GC classifier. While Re-LAION-5B exhibits a moderate male skew (58.5% male, 41.5% female), Stable Diffusion outputs amplify this imbalance to 71.0% male and 29.0% female. The dashed line indicates parity (50%), highlighting that the generative process introduces additional demographic bias beyond the training distribution, rather than reproducing it faithfully.</a:t>
              </a:r>
            </a:p>
          </p:txBody>
        </p:sp>
      </p:grpSp>
      <p:sp>
        <p:nvSpPr>
          <p:cNvPr id="6" name="Shape 0">
            <a:extLst>
              <a:ext uri="{FF2B5EF4-FFF2-40B4-BE49-F238E27FC236}">
                <a16:creationId xmlns:a16="http://schemas.microsoft.com/office/drawing/2014/main" id="{C008D5A3-A23E-6207-F567-B9300B77693B}"/>
              </a:ext>
            </a:extLst>
          </p:cNvPr>
          <p:cNvSpPr/>
          <p:nvPr/>
        </p:nvSpPr>
        <p:spPr>
          <a:xfrm>
            <a:off x="0" y="0"/>
            <a:ext cx="9144000" cy="713232"/>
          </a:xfrm>
          <a:prstGeom prst="rect">
            <a:avLst/>
          </a:prstGeom>
          <a:solidFill>
            <a:srgbClr val="1B3A5C"/>
          </a:solidFill>
          <a:ln w="12700">
            <a:solidFill>
              <a:srgbClr val="1B3A5C"/>
            </a:solidFill>
            <a:prstDash val="solid"/>
          </a:ln>
        </p:spPr>
        <p:txBody>
          <a:bodyPr/>
          <a:lstStyle/>
          <a:p>
            <a:endParaRPr lang="en-MT"/>
          </a:p>
        </p:txBody>
      </p:sp>
      <p:sp>
        <p:nvSpPr>
          <p:cNvPr id="7" name="Text 1">
            <a:extLst>
              <a:ext uri="{FF2B5EF4-FFF2-40B4-BE49-F238E27FC236}">
                <a16:creationId xmlns:a16="http://schemas.microsoft.com/office/drawing/2014/main" id="{C538873A-C5E5-84C9-9CA1-7FD16CBDE736}"/>
              </a:ext>
            </a:extLst>
          </p:cNvPr>
          <p:cNvSpPr/>
          <p:nvPr/>
        </p:nvSpPr>
        <p:spPr>
          <a:xfrm>
            <a:off x="411480" y="0"/>
            <a:ext cx="8321040" cy="713232"/>
          </a:xfrm>
          <a:prstGeom prst="rect">
            <a:avLst/>
          </a:prstGeom>
          <a:noFill/>
          <a:ln/>
        </p:spPr>
        <p:txBody>
          <a:bodyPr wrap="square" rtlCol="0" anchor="ctr"/>
          <a:lstStyle/>
          <a:p>
            <a:r>
              <a:rPr lang="en-US" sz="1600" b="1" dirty="0">
                <a:solidFill>
                  <a:srgbClr val="FFFFFF"/>
                </a:solidFill>
                <a:latin typeface="Georgia" pitchFamily="34" charset="0"/>
                <a:ea typeface="Georgia" pitchFamily="34" charset="-122"/>
                <a:cs typeface="Georgia" pitchFamily="34" charset="-120"/>
              </a:rPr>
              <a:t>METHODOLOGY  ·  DEMOGRAPHIC ANNOTATION FIGURES</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7F4EE"/>
        </a:solidFill>
        <a:effectLst/>
      </p:bgPr>
    </p:bg>
    <p:spTree>
      <p:nvGrpSpPr>
        <p:cNvPr id="1" name=""/>
        <p:cNvGrpSpPr/>
        <p:nvPr/>
      </p:nvGrpSpPr>
      <p:grpSpPr>
        <a:xfrm>
          <a:off x="0" y="0"/>
          <a:ext cx="0" cy="0"/>
          <a:chOff x="0" y="0"/>
          <a:chExt cx="0" cy="0"/>
        </a:xfrm>
      </p:grpSpPr>
      <p:sp>
        <p:nvSpPr>
          <p:cNvPr id="4" name="Shape 2"/>
          <p:cNvSpPr/>
          <p:nvPr/>
        </p:nvSpPr>
        <p:spPr>
          <a:xfrm>
            <a:off x="249682" y="822960"/>
            <a:ext cx="1440000" cy="3807460"/>
          </a:xfrm>
          <a:prstGeom prst="rect">
            <a:avLst/>
          </a:prstGeom>
          <a:solidFill>
            <a:srgbClr val="FFFFFF"/>
          </a:solidFill>
          <a:ln w="12700">
            <a:solidFill>
              <a:srgbClr val="E8E4DC"/>
            </a:solidFill>
            <a:prstDash val="solid"/>
          </a:ln>
          <a:effectLst>
            <a:outerShdw blurRad="63500" dist="25400" dir="8100000" algn="bl" rotWithShape="0">
              <a:srgbClr val="000000">
                <a:alpha val="10000"/>
              </a:srgbClr>
            </a:outerShdw>
          </a:effectLst>
        </p:spPr>
        <p:txBody>
          <a:bodyPr/>
          <a:lstStyle/>
          <a:p>
            <a:endParaRPr lang="en-MT" dirty="0"/>
          </a:p>
        </p:txBody>
      </p:sp>
      <p:sp>
        <p:nvSpPr>
          <p:cNvPr id="5" name="Shape 3"/>
          <p:cNvSpPr/>
          <p:nvPr/>
        </p:nvSpPr>
        <p:spPr>
          <a:xfrm>
            <a:off x="256032" y="822960"/>
            <a:ext cx="1440000" cy="274320"/>
          </a:xfrm>
          <a:prstGeom prst="rect">
            <a:avLst/>
          </a:prstGeom>
          <a:solidFill>
            <a:srgbClr val="0D7A8A"/>
          </a:solidFill>
          <a:ln w="12700">
            <a:solidFill>
              <a:srgbClr val="0D7A8A"/>
            </a:solidFill>
            <a:prstDash val="solid"/>
          </a:ln>
        </p:spPr>
        <p:txBody>
          <a:bodyPr/>
          <a:lstStyle/>
          <a:p>
            <a:endParaRPr lang="en-MT"/>
          </a:p>
        </p:txBody>
      </p:sp>
      <p:sp>
        <p:nvSpPr>
          <p:cNvPr id="6" name="Text 4"/>
          <p:cNvSpPr/>
          <p:nvPr/>
        </p:nvSpPr>
        <p:spPr>
          <a:xfrm>
            <a:off x="256032" y="822960"/>
            <a:ext cx="1417320" cy="274320"/>
          </a:xfrm>
          <a:prstGeom prst="rect">
            <a:avLst/>
          </a:prstGeom>
          <a:noFill/>
          <a:ln/>
        </p:spPr>
        <p:txBody>
          <a:bodyPr wrap="square" rtlCol="0" anchor="ctr"/>
          <a:lstStyle/>
          <a:p>
            <a:pPr marL="0" indent="0" algn="ctr">
              <a:buNone/>
            </a:pPr>
            <a:r>
              <a:rPr lang="en-US" sz="800" b="1" kern="0" spc="120" dirty="0">
                <a:solidFill>
                  <a:srgbClr val="FFFFFF"/>
                </a:solidFill>
                <a:latin typeface="Calibri" pitchFamily="34" charset="0"/>
                <a:ea typeface="Calibri" pitchFamily="34" charset="-122"/>
                <a:cs typeface="Calibri" pitchFamily="34" charset="-120"/>
              </a:rPr>
              <a:t>FREQUENCY</a:t>
            </a:r>
            <a:endParaRPr lang="en-US" sz="800" dirty="0"/>
          </a:p>
        </p:txBody>
      </p:sp>
      <p:grpSp>
        <p:nvGrpSpPr>
          <p:cNvPr id="63" name="Group 62">
            <a:extLst>
              <a:ext uri="{FF2B5EF4-FFF2-40B4-BE49-F238E27FC236}">
                <a16:creationId xmlns:a16="http://schemas.microsoft.com/office/drawing/2014/main" id="{7CDBE9CA-C6EF-833B-E4B3-EE58C6963E4C}"/>
              </a:ext>
            </a:extLst>
          </p:cNvPr>
          <p:cNvGrpSpPr/>
          <p:nvPr/>
        </p:nvGrpSpPr>
        <p:grpSpPr>
          <a:xfrm>
            <a:off x="252984" y="4246372"/>
            <a:ext cx="1458288" cy="384048"/>
            <a:chOff x="329184" y="4462272"/>
            <a:chExt cx="1458288" cy="384048"/>
          </a:xfrm>
        </p:grpSpPr>
        <p:sp>
          <p:nvSpPr>
            <p:cNvPr id="11" name="Shape 9"/>
            <p:cNvSpPr/>
            <p:nvPr/>
          </p:nvSpPr>
          <p:spPr>
            <a:xfrm>
              <a:off x="329184" y="4462272"/>
              <a:ext cx="1440000" cy="384048"/>
            </a:xfrm>
            <a:prstGeom prst="rect">
              <a:avLst/>
            </a:prstGeom>
            <a:solidFill>
              <a:srgbClr val="F4F2EC"/>
            </a:solidFill>
            <a:ln w="6350">
              <a:solidFill>
                <a:srgbClr val="E8E4DC"/>
              </a:solidFill>
              <a:prstDash val="solid"/>
            </a:ln>
          </p:spPr>
          <p:txBody>
            <a:bodyPr/>
            <a:lstStyle/>
            <a:p>
              <a:endParaRPr lang="en-MT"/>
            </a:p>
          </p:txBody>
        </p:sp>
        <p:sp>
          <p:nvSpPr>
            <p:cNvPr id="12" name="Text 10"/>
            <p:cNvSpPr/>
            <p:nvPr/>
          </p:nvSpPr>
          <p:spPr>
            <a:xfrm>
              <a:off x="347472" y="4471416"/>
              <a:ext cx="1440000" cy="365760"/>
            </a:xfrm>
            <a:prstGeom prst="rect">
              <a:avLst/>
            </a:prstGeom>
            <a:noFill/>
            <a:ln/>
          </p:spPr>
          <p:txBody>
            <a:bodyPr wrap="square" rtlCol="0" anchor="ctr"/>
            <a:lstStyle/>
            <a:p>
              <a:pPr marL="0" indent="0">
                <a:lnSpc>
                  <a:spcPct val="115000"/>
                </a:lnSpc>
                <a:buNone/>
              </a:pPr>
              <a:r>
                <a:rPr lang="en-US" sz="700" i="1" dirty="0">
                  <a:solidFill>
                    <a:srgbClr val="4A6274"/>
                  </a:solidFill>
                  <a:latin typeface="Calibri" pitchFamily="34" charset="0"/>
                  <a:ea typeface="Calibri" pitchFamily="34" charset="-122"/>
                  <a:cs typeface="Calibri" pitchFamily="34" charset="-120"/>
                </a:rPr>
                <a:t>Classical / deterministic — no comparative selection</a:t>
              </a:r>
              <a:endParaRPr lang="en-US" sz="700" dirty="0"/>
            </a:p>
          </p:txBody>
        </p:sp>
      </p:grpSp>
      <p:sp>
        <p:nvSpPr>
          <p:cNvPr id="2" name="Shape 0"/>
          <p:cNvSpPr/>
          <p:nvPr/>
        </p:nvSpPr>
        <p:spPr>
          <a:xfrm>
            <a:off x="0" y="0"/>
            <a:ext cx="9144000" cy="713232"/>
          </a:xfrm>
          <a:prstGeom prst="rect">
            <a:avLst/>
          </a:prstGeom>
          <a:solidFill>
            <a:srgbClr val="1B3A5C"/>
          </a:solidFill>
          <a:ln w="12700">
            <a:solidFill>
              <a:srgbClr val="1B3A5C"/>
            </a:solidFill>
            <a:prstDash val="solid"/>
          </a:ln>
        </p:spPr>
        <p:txBody>
          <a:bodyPr/>
          <a:lstStyle/>
          <a:p>
            <a:endParaRPr lang="en-MT"/>
          </a:p>
        </p:txBody>
      </p:sp>
      <p:sp>
        <p:nvSpPr>
          <p:cNvPr id="3" name="Text 1"/>
          <p:cNvSpPr/>
          <p:nvPr/>
        </p:nvSpPr>
        <p:spPr>
          <a:xfrm>
            <a:off x="411480" y="0"/>
            <a:ext cx="8321040" cy="713232"/>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METHODOLOGY  ·  TRANSFORMATION PIPELINE  ·  15 TRANSFORMATIONS  ·  5 FAMILIES</a:t>
            </a:r>
            <a:endParaRPr lang="en-US" sz="1350" dirty="0"/>
          </a:p>
        </p:txBody>
      </p:sp>
      <p:grpSp>
        <p:nvGrpSpPr>
          <p:cNvPr id="74" name="Group 73">
            <a:extLst>
              <a:ext uri="{FF2B5EF4-FFF2-40B4-BE49-F238E27FC236}">
                <a16:creationId xmlns:a16="http://schemas.microsoft.com/office/drawing/2014/main" id="{6723B6FD-D84E-84AF-9DCB-533A13001B39}"/>
              </a:ext>
            </a:extLst>
          </p:cNvPr>
          <p:cNvGrpSpPr/>
          <p:nvPr/>
        </p:nvGrpSpPr>
        <p:grpSpPr>
          <a:xfrm>
            <a:off x="2025650" y="822960"/>
            <a:ext cx="1458288" cy="3807460"/>
            <a:chOff x="1999488" y="822960"/>
            <a:chExt cx="1458288" cy="3807460"/>
          </a:xfrm>
        </p:grpSpPr>
        <p:grpSp>
          <p:nvGrpSpPr>
            <p:cNvPr id="71" name="Group 70">
              <a:extLst>
                <a:ext uri="{FF2B5EF4-FFF2-40B4-BE49-F238E27FC236}">
                  <a16:creationId xmlns:a16="http://schemas.microsoft.com/office/drawing/2014/main" id="{4A850078-F7AE-75D9-5745-07596B73A5D0}"/>
                </a:ext>
              </a:extLst>
            </p:cNvPr>
            <p:cNvGrpSpPr/>
            <p:nvPr/>
          </p:nvGrpSpPr>
          <p:grpSpPr>
            <a:xfrm>
              <a:off x="1999488" y="822960"/>
              <a:ext cx="1458288" cy="3807460"/>
              <a:chOff x="1999488" y="822960"/>
              <a:chExt cx="1458288" cy="3807460"/>
            </a:xfrm>
          </p:grpSpPr>
          <p:sp>
            <p:nvSpPr>
              <p:cNvPr id="13" name="Shape 11"/>
              <p:cNvSpPr/>
              <p:nvPr/>
            </p:nvSpPr>
            <p:spPr>
              <a:xfrm>
                <a:off x="2002536" y="822960"/>
                <a:ext cx="1440000" cy="3807460"/>
              </a:xfrm>
              <a:prstGeom prst="rect">
                <a:avLst/>
              </a:prstGeom>
              <a:solidFill>
                <a:srgbClr val="FFFFFF"/>
              </a:solidFill>
              <a:ln w="12700">
                <a:solidFill>
                  <a:srgbClr val="E8E4DC"/>
                </a:solidFill>
                <a:prstDash val="solid"/>
              </a:ln>
              <a:effectLst>
                <a:outerShdw blurRad="63500" dist="25400" dir="8100000" algn="bl" rotWithShape="0">
                  <a:srgbClr val="000000">
                    <a:alpha val="10000"/>
                  </a:srgbClr>
                </a:outerShdw>
              </a:effectLst>
            </p:spPr>
            <p:txBody>
              <a:bodyPr/>
              <a:lstStyle/>
              <a:p>
                <a:endParaRPr lang="en-MT"/>
              </a:p>
            </p:txBody>
          </p:sp>
          <p:sp>
            <p:nvSpPr>
              <p:cNvPr id="14" name="Shape 12"/>
              <p:cNvSpPr/>
              <p:nvPr/>
            </p:nvSpPr>
            <p:spPr>
              <a:xfrm>
                <a:off x="2002536" y="822960"/>
                <a:ext cx="1440000" cy="274320"/>
              </a:xfrm>
              <a:prstGeom prst="rect">
                <a:avLst/>
              </a:prstGeom>
              <a:solidFill>
                <a:srgbClr val="1B3A5C"/>
              </a:solidFill>
              <a:ln w="12700">
                <a:solidFill>
                  <a:srgbClr val="1B3A5C"/>
                </a:solidFill>
                <a:prstDash val="solid"/>
              </a:ln>
            </p:spPr>
            <p:txBody>
              <a:bodyPr/>
              <a:lstStyle/>
              <a:p>
                <a:endParaRPr lang="en-MT"/>
              </a:p>
            </p:txBody>
          </p:sp>
          <p:grpSp>
            <p:nvGrpSpPr>
              <p:cNvPr id="64" name="Group 63">
                <a:extLst>
                  <a:ext uri="{FF2B5EF4-FFF2-40B4-BE49-F238E27FC236}">
                    <a16:creationId xmlns:a16="http://schemas.microsoft.com/office/drawing/2014/main" id="{8E4F77F1-E008-CA74-0F54-E7BA19675280}"/>
                  </a:ext>
                </a:extLst>
              </p:cNvPr>
              <p:cNvGrpSpPr/>
              <p:nvPr/>
            </p:nvGrpSpPr>
            <p:grpSpPr>
              <a:xfrm>
                <a:off x="1999488" y="4246372"/>
                <a:ext cx="1458288" cy="384048"/>
                <a:chOff x="2075688" y="4462272"/>
                <a:chExt cx="1458288" cy="384048"/>
              </a:xfrm>
            </p:grpSpPr>
            <p:sp>
              <p:nvSpPr>
                <p:cNvPr id="22" name="Shape 20"/>
                <p:cNvSpPr/>
                <p:nvPr/>
              </p:nvSpPr>
              <p:spPr>
                <a:xfrm>
                  <a:off x="2075688" y="4462272"/>
                  <a:ext cx="1440000" cy="384048"/>
                </a:xfrm>
                <a:prstGeom prst="rect">
                  <a:avLst/>
                </a:prstGeom>
                <a:solidFill>
                  <a:srgbClr val="F4F2EC"/>
                </a:solidFill>
                <a:ln w="6350">
                  <a:solidFill>
                    <a:srgbClr val="E8E4DC"/>
                  </a:solidFill>
                  <a:prstDash val="solid"/>
                </a:ln>
              </p:spPr>
              <p:txBody>
                <a:bodyPr/>
                <a:lstStyle/>
                <a:p>
                  <a:endParaRPr lang="en-MT"/>
                </a:p>
              </p:txBody>
            </p:sp>
            <p:sp>
              <p:nvSpPr>
                <p:cNvPr id="23" name="Text 21"/>
                <p:cNvSpPr/>
                <p:nvPr/>
              </p:nvSpPr>
              <p:spPr>
                <a:xfrm>
                  <a:off x="2093976" y="4471416"/>
                  <a:ext cx="1440000" cy="365760"/>
                </a:xfrm>
                <a:prstGeom prst="rect">
                  <a:avLst/>
                </a:prstGeom>
                <a:noFill/>
                <a:ln/>
              </p:spPr>
              <p:txBody>
                <a:bodyPr wrap="square" rtlCol="0" anchor="ctr"/>
                <a:lstStyle/>
                <a:p>
                  <a:pPr marL="0" indent="0">
                    <a:lnSpc>
                      <a:spcPct val="115000"/>
                    </a:lnSpc>
                    <a:buNone/>
                  </a:pPr>
                  <a:r>
                    <a:rPr lang="en-US" sz="700" i="1" dirty="0">
                      <a:solidFill>
                        <a:srgbClr val="4A6274"/>
                      </a:solidFill>
                      <a:latin typeface="Calibri" pitchFamily="34" charset="0"/>
                      <a:ea typeface="Calibri" pitchFamily="34" charset="-122"/>
                      <a:cs typeface="Calibri" pitchFamily="34" charset="-120"/>
                    </a:rPr>
                    <a:t>Classical / deterministic — no comparative selection</a:t>
                  </a:r>
                  <a:endParaRPr lang="en-US" sz="700" dirty="0"/>
                </a:p>
              </p:txBody>
            </p:sp>
          </p:grpSp>
        </p:grpSp>
        <p:sp>
          <p:nvSpPr>
            <p:cNvPr id="15" name="Text 13"/>
            <p:cNvSpPr/>
            <p:nvPr/>
          </p:nvSpPr>
          <p:spPr>
            <a:xfrm>
              <a:off x="2002536" y="822960"/>
              <a:ext cx="1440000" cy="274320"/>
            </a:xfrm>
            <a:prstGeom prst="rect">
              <a:avLst/>
            </a:prstGeom>
            <a:noFill/>
            <a:ln/>
          </p:spPr>
          <p:txBody>
            <a:bodyPr wrap="square" rtlCol="0" anchor="ctr"/>
            <a:lstStyle/>
            <a:p>
              <a:pPr marL="0" indent="0" algn="ctr">
                <a:buNone/>
              </a:pPr>
              <a:r>
                <a:rPr lang="en-US" sz="800" b="1" kern="0" spc="120" dirty="0">
                  <a:solidFill>
                    <a:srgbClr val="FFFFFF"/>
                  </a:solidFill>
                  <a:latin typeface="Calibri" pitchFamily="34" charset="0"/>
                  <a:ea typeface="Calibri" pitchFamily="34" charset="-122"/>
                  <a:cs typeface="Calibri" pitchFamily="34" charset="-120"/>
                </a:rPr>
                <a:t>SPATIAL</a:t>
              </a:r>
              <a:endParaRPr lang="en-US" sz="800" dirty="0"/>
            </a:p>
          </p:txBody>
        </p:sp>
      </p:grpSp>
      <p:grpSp>
        <p:nvGrpSpPr>
          <p:cNvPr id="69" name="Group 68">
            <a:extLst>
              <a:ext uri="{FF2B5EF4-FFF2-40B4-BE49-F238E27FC236}">
                <a16:creationId xmlns:a16="http://schemas.microsoft.com/office/drawing/2014/main" id="{2D7EF6B3-E8BC-B0DD-284F-1029B55FAB03}"/>
              </a:ext>
            </a:extLst>
          </p:cNvPr>
          <p:cNvGrpSpPr/>
          <p:nvPr/>
        </p:nvGrpSpPr>
        <p:grpSpPr>
          <a:xfrm>
            <a:off x="5675376" y="822960"/>
            <a:ext cx="1458288" cy="3807460"/>
            <a:chOff x="5903976" y="822960"/>
            <a:chExt cx="1458288" cy="3807460"/>
          </a:xfrm>
        </p:grpSpPr>
        <p:sp>
          <p:nvSpPr>
            <p:cNvPr id="37" name="Shape 35"/>
            <p:cNvSpPr/>
            <p:nvPr/>
          </p:nvSpPr>
          <p:spPr>
            <a:xfrm>
              <a:off x="5907024" y="822960"/>
              <a:ext cx="1440000" cy="3807460"/>
            </a:xfrm>
            <a:prstGeom prst="rect">
              <a:avLst/>
            </a:prstGeom>
            <a:solidFill>
              <a:srgbClr val="FFFFFF"/>
            </a:solidFill>
            <a:ln w="12700">
              <a:solidFill>
                <a:srgbClr val="E8E4DC"/>
              </a:solidFill>
              <a:prstDash val="solid"/>
            </a:ln>
            <a:effectLst>
              <a:outerShdw blurRad="63500" dist="25400" dir="8100000" algn="bl" rotWithShape="0">
                <a:srgbClr val="000000">
                  <a:alpha val="10000"/>
                </a:srgbClr>
              </a:outerShdw>
            </a:effectLst>
          </p:spPr>
          <p:txBody>
            <a:bodyPr/>
            <a:lstStyle/>
            <a:p>
              <a:endParaRPr lang="en-MT"/>
            </a:p>
          </p:txBody>
        </p:sp>
        <p:sp>
          <p:nvSpPr>
            <p:cNvPr id="38" name="Shape 36"/>
            <p:cNvSpPr/>
            <p:nvPr/>
          </p:nvSpPr>
          <p:spPr>
            <a:xfrm>
              <a:off x="5907024" y="822960"/>
              <a:ext cx="1440000" cy="274320"/>
            </a:xfrm>
            <a:prstGeom prst="rect">
              <a:avLst/>
            </a:prstGeom>
            <a:solidFill>
              <a:srgbClr val="1B3A5C"/>
            </a:solidFill>
            <a:ln w="12700">
              <a:solidFill>
                <a:srgbClr val="1B3A5C"/>
              </a:solidFill>
              <a:prstDash val="solid"/>
            </a:ln>
          </p:spPr>
          <p:txBody>
            <a:bodyPr/>
            <a:lstStyle/>
            <a:p>
              <a:endParaRPr lang="en-MT"/>
            </a:p>
          </p:txBody>
        </p:sp>
        <p:sp>
          <p:nvSpPr>
            <p:cNvPr id="39" name="Text 37"/>
            <p:cNvSpPr/>
            <p:nvPr/>
          </p:nvSpPr>
          <p:spPr>
            <a:xfrm>
              <a:off x="5907024" y="822960"/>
              <a:ext cx="1440000" cy="274320"/>
            </a:xfrm>
            <a:prstGeom prst="rect">
              <a:avLst/>
            </a:prstGeom>
            <a:noFill/>
            <a:ln/>
          </p:spPr>
          <p:txBody>
            <a:bodyPr wrap="square" rtlCol="0" anchor="ctr"/>
            <a:lstStyle/>
            <a:p>
              <a:pPr marL="0" indent="0" algn="ctr">
                <a:buNone/>
              </a:pPr>
              <a:r>
                <a:rPr lang="en-US" sz="800" b="1" kern="0" spc="120" dirty="0">
                  <a:solidFill>
                    <a:srgbClr val="FFFFFF"/>
                  </a:solidFill>
                  <a:latin typeface="Calibri" pitchFamily="34" charset="0"/>
                  <a:ea typeface="Calibri" pitchFamily="34" charset="-122"/>
                  <a:cs typeface="Calibri" pitchFamily="34" charset="-120"/>
                </a:rPr>
                <a:t>STRUCTURAL</a:t>
              </a:r>
              <a:endParaRPr lang="en-US" sz="800" dirty="0"/>
            </a:p>
          </p:txBody>
        </p:sp>
        <p:grpSp>
          <p:nvGrpSpPr>
            <p:cNvPr id="66" name="Group 65">
              <a:extLst>
                <a:ext uri="{FF2B5EF4-FFF2-40B4-BE49-F238E27FC236}">
                  <a16:creationId xmlns:a16="http://schemas.microsoft.com/office/drawing/2014/main" id="{55409971-894D-25FC-BF76-88ABB7D06766}"/>
                </a:ext>
              </a:extLst>
            </p:cNvPr>
            <p:cNvGrpSpPr/>
            <p:nvPr/>
          </p:nvGrpSpPr>
          <p:grpSpPr>
            <a:xfrm>
              <a:off x="5903976" y="4246372"/>
              <a:ext cx="1458288" cy="384048"/>
              <a:chOff x="5980176" y="4462272"/>
              <a:chExt cx="1458288" cy="384048"/>
            </a:xfrm>
          </p:grpSpPr>
          <p:sp>
            <p:nvSpPr>
              <p:cNvPr id="46" name="Shape 44"/>
              <p:cNvSpPr/>
              <p:nvPr/>
            </p:nvSpPr>
            <p:spPr>
              <a:xfrm>
                <a:off x="5980176" y="4462272"/>
                <a:ext cx="1440000" cy="384048"/>
              </a:xfrm>
              <a:prstGeom prst="rect">
                <a:avLst/>
              </a:prstGeom>
              <a:solidFill>
                <a:srgbClr val="F4F2EC"/>
              </a:solidFill>
              <a:ln w="6350">
                <a:solidFill>
                  <a:srgbClr val="E8E4DC"/>
                </a:solidFill>
                <a:prstDash val="solid"/>
              </a:ln>
            </p:spPr>
            <p:txBody>
              <a:bodyPr/>
              <a:lstStyle/>
              <a:p>
                <a:endParaRPr lang="en-MT"/>
              </a:p>
            </p:txBody>
          </p:sp>
          <p:sp>
            <p:nvSpPr>
              <p:cNvPr id="47" name="Text 45"/>
              <p:cNvSpPr/>
              <p:nvPr/>
            </p:nvSpPr>
            <p:spPr>
              <a:xfrm>
                <a:off x="5998464" y="4471416"/>
                <a:ext cx="1440000" cy="365760"/>
              </a:xfrm>
              <a:prstGeom prst="rect">
                <a:avLst/>
              </a:prstGeom>
              <a:noFill/>
              <a:ln/>
            </p:spPr>
            <p:txBody>
              <a:bodyPr wrap="square" rtlCol="0" anchor="ctr"/>
              <a:lstStyle/>
              <a:p>
                <a:pPr marL="0" indent="0">
                  <a:lnSpc>
                    <a:spcPct val="115000"/>
                  </a:lnSpc>
                  <a:buNone/>
                </a:pPr>
                <a:r>
                  <a:rPr lang="en-US" sz="700" i="1" dirty="0">
                    <a:solidFill>
                      <a:srgbClr val="4A6274"/>
                    </a:solidFill>
                    <a:latin typeface="Calibri" pitchFamily="34" charset="0"/>
                    <a:ea typeface="Calibri" pitchFamily="34" charset="-122"/>
                    <a:cs typeface="Calibri" pitchFamily="34" charset="-120"/>
                  </a:rPr>
                  <a:t>Depth adopted from Zeng et al. Canny: deterministic</a:t>
                </a:r>
                <a:endParaRPr lang="en-US" sz="700" dirty="0"/>
              </a:p>
            </p:txBody>
          </p:sp>
        </p:grpSp>
      </p:grpSp>
      <p:grpSp>
        <p:nvGrpSpPr>
          <p:cNvPr id="68" name="Group 67">
            <a:extLst>
              <a:ext uri="{FF2B5EF4-FFF2-40B4-BE49-F238E27FC236}">
                <a16:creationId xmlns:a16="http://schemas.microsoft.com/office/drawing/2014/main" id="{B2B0B788-80E3-FE57-239C-37741A01C813}"/>
              </a:ext>
            </a:extLst>
          </p:cNvPr>
          <p:cNvGrpSpPr/>
          <p:nvPr/>
        </p:nvGrpSpPr>
        <p:grpSpPr>
          <a:xfrm>
            <a:off x="7447788" y="822960"/>
            <a:ext cx="1461590" cy="3807460"/>
            <a:chOff x="7790688" y="822960"/>
            <a:chExt cx="1461590" cy="3807460"/>
          </a:xfrm>
        </p:grpSpPr>
        <p:sp>
          <p:nvSpPr>
            <p:cNvPr id="48" name="Shape 46"/>
            <p:cNvSpPr/>
            <p:nvPr/>
          </p:nvSpPr>
          <p:spPr>
            <a:xfrm>
              <a:off x="7790688" y="822960"/>
              <a:ext cx="1440000" cy="3807460"/>
            </a:xfrm>
            <a:prstGeom prst="rect">
              <a:avLst/>
            </a:prstGeom>
            <a:solidFill>
              <a:srgbClr val="FFFFFF"/>
            </a:solidFill>
            <a:ln w="12700">
              <a:solidFill>
                <a:srgbClr val="E8E4DC"/>
              </a:solidFill>
              <a:prstDash val="solid"/>
            </a:ln>
            <a:effectLst>
              <a:outerShdw blurRad="63500" dist="25400" dir="8100000" algn="bl" rotWithShape="0">
                <a:srgbClr val="000000">
                  <a:alpha val="10000"/>
                </a:srgbClr>
              </a:outerShdw>
            </a:effectLst>
          </p:spPr>
          <p:txBody>
            <a:bodyPr/>
            <a:lstStyle/>
            <a:p>
              <a:endParaRPr lang="en-MT"/>
            </a:p>
          </p:txBody>
        </p:sp>
        <p:sp>
          <p:nvSpPr>
            <p:cNvPr id="49" name="Shape 47"/>
            <p:cNvSpPr/>
            <p:nvPr/>
          </p:nvSpPr>
          <p:spPr>
            <a:xfrm>
              <a:off x="7790688" y="822960"/>
              <a:ext cx="1440000" cy="274320"/>
            </a:xfrm>
            <a:prstGeom prst="rect">
              <a:avLst/>
            </a:prstGeom>
            <a:solidFill>
              <a:srgbClr val="0D7A8A"/>
            </a:solidFill>
            <a:ln w="12700">
              <a:solidFill>
                <a:srgbClr val="0D7A8A"/>
              </a:solidFill>
              <a:prstDash val="solid"/>
            </a:ln>
          </p:spPr>
          <p:txBody>
            <a:bodyPr/>
            <a:lstStyle/>
            <a:p>
              <a:endParaRPr lang="en-MT"/>
            </a:p>
          </p:txBody>
        </p:sp>
        <p:sp>
          <p:nvSpPr>
            <p:cNvPr id="50" name="Text 48"/>
            <p:cNvSpPr/>
            <p:nvPr/>
          </p:nvSpPr>
          <p:spPr>
            <a:xfrm>
              <a:off x="7790688" y="822960"/>
              <a:ext cx="1440000" cy="274320"/>
            </a:xfrm>
            <a:prstGeom prst="rect">
              <a:avLst/>
            </a:prstGeom>
            <a:noFill/>
            <a:ln/>
          </p:spPr>
          <p:txBody>
            <a:bodyPr wrap="square" rtlCol="0" anchor="ctr"/>
            <a:lstStyle/>
            <a:p>
              <a:pPr marL="0" indent="0" algn="ctr">
                <a:buNone/>
              </a:pPr>
              <a:r>
                <a:rPr lang="en-US" sz="800" b="1" kern="0" spc="120" dirty="0">
                  <a:solidFill>
                    <a:srgbClr val="FFFFFF"/>
                  </a:solidFill>
                  <a:latin typeface="Calibri" pitchFamily="34" charset="0"/>
                  <a:ea typeface="Calibri" pitchFamily="34" charset="-122"/>
                  <a:cs typeface="Calibri" pitchFamily="34" charset="-120"/>
                </a:rPr>
                <a:t>OCCLUSION</a:t>
              </a:r>
              <a:endParaRPr lang="en-US" sz="800" dirty="0"/>
            </a:p>
          </p:txBody>
        </p:sp>
        <p:grpSp>
          <p:nvGrpSpPr>
            <p:cNvPr id="67" name="Group 66">
              <a:extLst>
                <a:ext uri="{FF2B5EF4-FFF2-40B4-BE49-F238E27FC236}">
                  <a16:creationId xmlns:a16="http://schemas.microsoft.com/office/drawing/2014/main" id="{7A4F98F5-5C59-ABBE-41B3-1FE20C7E3308}"/>
                </a:ext>
              </a:extLst>
            </p:cNvPr>
            <p:cNvGrpSpPr/>
            <p:nvPr/>
          </p:nvGrpSpPr>
          <p:grpSpPr>
            <a:xfrm>
              <a:off x="7793990" y="4246372"/>
              <a:ext cx="1458288" cy="384048"/>
              <a:chOff x="7863840" y="4462272"/>
              <a:chExt cx="1458288" cy="384048"/>
            </a:xfrm>
          </p:grpSpPr>
          <p:sp>
            <p:nvSpPr>
              <p:cNvPr id="57" name="Shape 55"/>
              <p:cNvSpPr/>
              <p:nvPr/>
            </p:nvSpPr>
            <p:spPr>
              <a:xfrm>
                <a:off x="7863840" y="4462272"/>
                <a:ext cx="1440000" cy="384048"/>
              </a:xfrm>
              <a:prstGeom prst="rect">
                <a:avLst/>
              </a:prstGeom>
              <a:solidFill>
                <a:srgbClr val="F4F2EC"/>
              </a:solidFill>
              <a:ln w="6350">
                <a:solidFill>
                  <a:srgbClr val="E8E4DC"/>
                </a:solidFill>
                <a:prstDash val="solid"/>
              </a:ln>
            </p:spPr>
            <p:txBody>
              <a:bodyPr/>
              <a:lstStyle/>
              <a:p>
                <a:endParaRPr lang="en-MT"/>
              </a:p>
            </p:txBody>
          </p:sp>
          <p:sp>
            <p:nvSpPr>
              <p:cNvPr id="58" name="Text 56"/>
              <p:cNvSpPr/>
              <p:nvPr/>
            </p:nvSpPr>
            <p:spPr>
              <a:xfrm>
                <a:off x="7882128" y="4471416"/>
                <a:ext cx="1440000" cy="365760"/>
              </a:xfrm>
              <a:prstGeom prst="rect">
                <a:avLst/>
              </a:prstGeom>
              <a:noFill/>
              <a:ln/>
            </p:spPr>
            <p:txBody>
              <a:bodyPr wrap="square" rtlCol="0" anchor="ctr"/>
              <a:lstStyle/>
              <a:p>
                <a:pPr marL="0" indent="0">
                  <a:lnSpc>
                    <a:spcPct val="115000"/>
                  </a:lnSpc>
                  <a:buNone/>
                </a:pPr>
                <a:r>
                  <a:rPr lang="en-US" sz="700" i="1" dirty="0">
                    <a:solidFill>
                      <a:srgbClr val="4A6274"/>
                    </a:solidFill>
                    <a:latin typeface="Calibri" pitchFamily="34" charset="0"/>
                    <a:ea typeface="Calibri" pitchFamily="34" charset="-122"/>
                    <a:cs typeface="Calibri" pitchFamily="34" charset="-120"/>
                  </a:rPr>
                  <a:t>Person segmentation: Mask2Former — comparative selection</a:t>
                </a:r>
                <a:endParaRPr lang="en-US" sz="700" dirty="0"/>
              </a:p>
            </p:txBody>
          </p:sp>
        </p:grpSp>
      </p:grpSp>
      <p:grpSp>
        <p:nvGrpSpPr>
          <p:cNvPr id="91" name="Group 90">
            <a:extLst>
              <a:ext uri="{FF2B5EF4-FFF2-40B4-BE49-F238E27FC236}">
                <a16:creationId xmlns:a16="http://schemas.microsoft.com/office/drawing/2014/main" id="{6BECDE21-028F-7BEE-E7E2-2F2F451A92C5}"/>
              </a:ext>
            </a:extLst>
          </p:cNvPr>
          <p:cNvGrpSpPr/>
          <p:nvPr/>
        </p:nvGrpSpPr>
        <p:grpSpPr>
          <a:xfrm>
            <a:off x="256032" y="4690872"/>
            <a:ext cx="8631936" cy="411480"/>
            <a:chOff x="256032" y="4690872"/>
            <a:chExt cx="8631936" cy="411480"/>
          </a:xfrm>
        </p:grpSpPr>
        <p:sp>
          <p:nvSpPr>
            <p:cNvPr id="59" name="Shape 57"/>
            <p:cNvSpPr/>
            <p:nvPr/>
          </p:nvSpPr>
          <p:spPr>
            <a:xfrm>
              <a:off x="256032" y="4690872"/>
              <a:ext cx="8631936" cy="411480"/>
            </a:xfrm>
            <a:prstGeom prst="rect">
              <a:avLst/>
            </a:prstGeom>
            <a:solidFill>
              <a:srgbClr val="1B3A5C"/>
            </a:solidFill>
            <a:ln w="12700">
              <a:solidFill>
                <a:srgbClr val="1B3A5C"/>
              </a:solidFill>
              <a:prstDash val="solid"/>
            </a:ln>
          </p:spPr>
          <p:txBody>
            <a:bodyPr/>
            <a:lstStyle/>
            <a:p>
              <a:endParaRPr lang="en-MT"/>
            </a:p>
          </p:txBody>
        </p:sp>
        <p:sp>
          <p:nvSpPr>
            <p:cNvPr id="60" name="Text 58"/>
            <p:cNvSpPr/>
            <p:nvPr/>
          </p:nvSpPr>
          <p:spPr>
            <a:xfrm>
              <a:off x="329184" y="4700016"/>
              <a:ext cx="8485632" cy="182880"/>
            </a:xfrm>
            <a:prstGeom prst="rect">
              <a:avLst/>
            </a:prstGeom>
            <a:noFill/>
            <a:ln/>
          </p:spPr>
          <p:txBody>
            <a:bodyPr wrap="square" rtlCol="0" anchor="ctr"/>
            <a:lstStyle/>
            <a:p>
              <a:pPr marL="0" indent="0">
                <a:buNone/>
              </a:pPr>
              <a:r>
                <a:rPr lang="en-US" sz="780" b="1" dirty="0">
                  <a:solidFill>
                    <a:srgbClr val="C9A84C"/>
                  </a:solidFill>
                  <a:latin typeface="Calibri" pitchFamily="34" charset="0"/>
                  <a:ea typeface="Calibri" pitchFamily="34" charset="-122"/>
                  <a:cs typeface="Calibri" pitchFamily="34" charset="-120"/>
                </a:rPr>
                <a:t>Two objectives: </a:t>
              </a:r>
              <a:r>
                <a:rPr lang="en-US" sz="780" dirty="0">
                  <a:solidFill>
                    <a:srgbClr val="FFFFFF"/>
                  </a:solidFill>
                  <a:latin typeface="Calibri" pitchFamily="34" charset="0"/>
                  <a:ea typeface="Calibri" pitchFamily="34" charset="-122"/>
                  <a:cs typeface="Calibri" pitchFamily="34" charset="-120"/>
                </a:rPr>
                <a:t>(1) Dataset classification — ConvNeXt-Tiny 3-class (Re-LAION-5B / SDv1.5 / COCO)   </a:t>
              </a:r>
              <a:r>
                <a:rPr lang="en-US" sz="780" dirty="0">
                  <a:solidFill>
                    <a:srgbClr val="C8E0EA"/>
                  </a:solidFill>
                  <a:latin typeface="Calibri" pitchFamily="34" charset="0"/>
                  <a:ea typeface="Calibri" pitchFamily="34" charset="-122"/>
                  <a:cs typeface="Calibri" pitchFamily="34" charset="-120"/>
                </a:rPr>
                <a:t>(2) Demographic probing — AUC-based gender &amp; skin tone separability per transformation</a:t>
              </a:r>
              <a:endParaRPr lang="en-US" sz="780" dirty="0"/>
            </a:p>
          </p:txBody>
        </p:sp>
        <p:sp>
          <p:nvSpPr>
            <p:cNvPr id="61" name="Shape 59"/>
            <p:cNvSpPr/>
            <p:nvPr/>
          </p:nvSpPr>
          <p:spPr>
            <a:xfrm>
              <a:off x="256032" y="4882896"/>
              <a:ext cx="8631936" cy="219456"/>
            </a:xfrm>
            <a:prstGeom prst="rect">
              <a:avLst/>
            </a:prstGeom>
            <a:solidFill>
              <a:srgbClr val="1A2F4A"/>
            </a:solidFill>
            <a:ln w="12700">
              <a:solidFill>
                <a:srgbClr val="1A2F4A"/>
              </a:solidFill>
              <a:prstDash val="solid"/>
            </a:ln>
          </p:spPr>
          <p:txBody>
            <a:bodyPr/>
            <a:lstStyle/>
            <a:p>
              <a:endParaRPr lang="en-MT"/>
            </a:p>
          </p:txBody>
        </p:sp>
        <p:sp>
          <p:nvSpPr>
            <p:cNvPr id="62" name="Text 60"/>
            <p:cNvSpPr/>
            <p:nvPr/>
          </p:nvSpPr>
          <p:spPr>
            <a:xfrm>
              <a:off x="329184" y="4892040"/>
              <a:ext cx="8485632" cy="201168"/>
            </a:xfrm>
            <a:prstGeom prst="rect">
              <a:avLst/>
            </a:prstGeom>
            <a:noFill/>
            <a:ln/>
          </p:spPr>
          <p:txBody>
            <a:bodyPr wrap="square" rtlCol="0" anchor="ctr"/>
            <a:lstStyle/>
            <a:p>
              <a:pPr marL="0" indent="0">
                <a:buNone/>
              </a:pPr>
              <a:r>
                <a:rPr lang="en-US" sz="750" b="1" dirty="0">
                  <a:solidFill>
                    <a:srgbClr val="C9A84C"/>
                  </a:solidFill>
                  <a:latin typeface="Calibri" pitchFamily="34" charset="0"/>
                  <a:ea typeface="Calibri" pitchFamily="34" charset="-122"/>
                  <a:cs typeface="Calibri" pitchFamily="34" charset="-120"/>
                </a:rPr>
                <a:t>Why COCO?  </a:t>
              </a:r>
              <a:r>
                <a:rPr lang="en-US" sz="750" dirty="0">
                  <a:solidFill>
                    <a:srgbClr val="C8E0EA"/>
                  </a:solidFill>
                  <a:latin typeface="Calibri" pitchFamily="34" charset="0"/>
                  <a:ea typeface="Calibri" pitchFamily="34" charset="-122"/>
                  <a:cs typeface="Calibri" pitchFamily="34" charset="-120"/>
                </a:rPr>
                <a:t>Added as a third class to enable per-class accuracy attribution — to pinpoint </a:t>
              </a:r>
              <a:r>
                <a:rPr lang="en-US" sz="750" b="1" i="1" dirty="0">
                  <a:solidFill>
                    <a:srgbClr val="C8E0EA"/>
                  </a:solidFill>
                  <a:latin typeface="Calibri" pitchFamily="34" charset="0"/>
                  <a:ea typeface="Calibri" pitchFamily="34" charset="-122"/>
                  <a:cs typeface="Calibri" pitchFamily="34" charset="-120"/>
                </a:rPr>
                <a:t>which</a:t>
              </a:r>
              <a:r>
                <a:rPr lang="en-US" sz="750" dirty="0">
                  <a:solidFill>
                    <a:srgbClr val="9BB8CC"/>
                  </a:solidFill>
                  <a:latin typeface="Calibri" pitchFamily="34" charset="0"/>
                  <a:ea typeface="Calibri" pitchFamily="34" charset="-122"/>
                  <a:cs typeface="Calibri" pitchFamily="34" charset="-120"/>
                </a:rPr>
                <a:t> dataset carries the spurious features. In practice, all three datasets were separable with high accuracy across every transformation (min. 64.19% vs 33.3% chance), making the attribution less discriminative than anticipated — acknowledged as a limitation.</a:t>
              </a:r>
              <a:endParaRPr lang="en-US" sz="750" dirty="0"/>
            </a:p>
          </p:txBody>
        </p:sp>
      </p:grpSp>
      <p:grpSp>
        <p:nvGrpSpPr>
          <p:cNvPr id="75" name="Group 74">
            <a:extLst>
              <a:ext uri="{FF2B5EF4-FFF2-40B4-BE49-F238E27FC236}">
                <a16:creationId xmlns:a16="http://schemas.microsoft.com/office/drawing/2014/main" id="{E5F75A5F-AFFC-79E2-E4FA-EF5178AE42BF}"/>
              </a:ext>
            </a:extLst>
          </p:cNvPr>
          <p:cNvGrpSpPr/>
          <p:nvPr/>
        </p:nvGrpSpPr>
        <p:grpSpPr>
          <a:xfrm>
            <a:off x="3843671" y="822960"/>
            <a:ext cx="1461590" cy="3807460"/>
            <a:chOff x="3840480" y="822960"/>
            <a:chExt cx="1461590" cy="3807460"/>
          </a:xfrm>
        </p:grpSpPr>
        <p:sp>
          <p:nvSpPr>
            <p:cNvPr id="76" name="Shape 22">
              <a:extLst>
                <a:ext uri="{FF2B5EF4-FFF2-40B4-BE49-F238E27FC236}">
                  <a16:creationId xmlns:a16="http://schemas.microsoft.com/office/drawing/2014/main" id="{A5C4C85A-84B3-1305-4AB1-BF6B42E53A32}"/>
                </a:ext>
              </a:extLst>
            </p:cNvPr>
            <p:cNvSpPr/>
            <p:nvPr/>
          </p:nvSpPr>
          <p:spPr>
            <a:xfrm>
              <a:off x="3840480" y="822960"/>
              <a:ext cx="1440000" cy="3807460"/>
            </a:xfrm>
            <a:prstGeom prst="rect">
              <a:avLst/>
            </a:prstGeom>
            <a:solidFill>
              <a:srgbClr val="FFFFFF"/>
            </a:solidFill>
            <a:ln w="12700">
              <a:solidFill>
                <a:srgbClr val="E8E4DC"/>
              </a:solidFill>
              <a:prstDash val="solid"/>
            </a:ln>
            <a:effectLst>
              <a:outerShdw blurRad="63500" dist="25400" dir="8100000" algn="bl" rotWithShape="0">
                <a:srgbClr val="000000">
                  <a:alpha val="10000"/>
                </a:srgbClr>
              </a:outerShdw>
            </a:effectLst>
          </p:spPr>
          <p:txBody>
            <a:bodyPr/>
            <a:lstStyle/>
            <a:p>
              <a:endParaRPr lang="en-MT"/>
            </a:p>
          </p:txBody>
        </p:sp>
        <p:sp>
          <p:nvSpPr>
            <p:cNvPr id="77" name="Shape 23">
              <a:extLst>
                <a:ext uri="{FF2B5EF4-FFF2-40B4-BE49-F238E27FC236}">
                  <a16:creationId xmlns:a16="http://schemas.microsoft.com/office/drawing/2014/main" id="{0147378A-DA73-7D38-214C-A25229E9854B}"/>
                </a:ext>
              </a:extLst>
            </p:cNvPr>
            <p:cNvSpPr/>
            <p:nvPr/>
          </p:nvSpPr>
          <p:spPr>
            <a:xfrm>
              <a:off x="3840480" y="822960"/>
              <a:ext cx="1440000" cy="274320"/>
            </a:xfrm>
            <a:prstGeom prst="rect">
              <a:avLst/>
            </a:prstGeom>
            <a:solidFill>
              <a:srgbClr val="0D6B7A"/>
            </a:solidFill>
            <a:ln w="12700">
              <a:solidFill>
                <a:srgbClr val="0D6B7A"/>
              </a:solidFill>
              <a:prstDash val="solid"/>
            </a:ln>
          </p:spPr>
          <p:txBody>
            <a:bodyPr/>
            <a:lstStyle/>
            <a:p>
              <a:endParaRPr lang="en-MT"/>
            </a:p>
          </p:txBody>
        </p:sp>
        <p:sp>
          <p:nvSpPr>
            <p:cNvPr id="78" name="Text 24">
              <a:extLst>
                <a:ext uri="{FF2B5EF4-FFF2-40B4-BE49-F238E27FC236}">
                  <a16:creationId xmlns:a16="http://schemas.microsoft.com/office/drawing/2014/main" id="{F7C86691-1D05-6D4F-9A12-994AEC57A2A1}"/>
                </a:ext>
              </a:extLst>
            </p:cNvPr>
            <p:cNvSpPr/>
            <p:nvPr/>
          </p:nvSpPr>
          <p:spPr>
            <a:xfrm>
              <a:off x="3840480" y="822960"/>
              <a:ext cx="1440000" cy="274320"/>
            </a:xfrm>
            <a:prstGeom prst="rect">
              <a:avLst/>
            </a:prstGeom>
            <a:noFill/>
            <a:ln/>
          </p:spPr>
          <p:txBody>
            <a:bodyPr wrap="square" rtlCol="0" anchor="ctr"/>
            <a:lstStyle/>
            <a:p>
              <a:pPr marL="0" indent="0" algn="ctr">
                <a:buNone/>
              </a:pPr>
              <a:r>
                <a:rPr lang="en-US" sz="800" b="1" kern="0" spc="120" dirty="0">
                  <a:solidFill>
                    <a:srgbClr val="FFFFFF"/>
                  </a:solidFill>
                  <a:latin typeface="Calibri" pitchFamily="34" charset="0"/>
                  <a:ea typeface="Calibri" pitchFamily="34" charset="-122"/>
                  <a:cs typeface="Calibri" pitchFamily="34" charset="-120"/>
                </a:rPr>
                <a:t>SEMANTIC</a:t>
              </a:r>
              <a:endParaRPr lang="en-US" sz="800" dirty="0"/>
            </a:p>
          </p:txBody>
        </p:sp>
        <p:grpSp>
          <p:nvGrpSpPr>
            <p:cNvPr id="87" name="Group 86">
              <a:extLst>
                <a:ext uri="{FF2B5EF4-FFF2-40B4-BE49-F238E27FC236}">
                  <a16:creationId xmlns:a16="http://schemas.microsoft.com/office/drawing/2014/main" id="{53AC8314-E2EE-FB2B-4247-09657DDD62A1}"/>
                </a:ext>
              </a:extLst>
            </p:cNvPr>
            <p:cNvGrpSpPr/>
            <p:nvPr/>
          </p:nvGrpSpPr>
          <p:grpSpPr>
            <a:xfrm>
              <a:off x="3843782" y="4246372"/>
              <a:ext cx="1458288" cy="384048"/>
              <a:chOff x="3913632" y="4462272"/>
              <a:chExt cx="1458288" cy="384048"/>
            </a:xfrm>
          </p:grpSpPr>
          <p:sp>
            <p:nvSpPr>
              <p:cNvPr id="88" name="Shape 33">
                <a:extLst>
                  <a:ext uri="{FF2B5EF4-FFF2-40B4-BE49-F238E27FC236}">
                    <a16:creationId xmlns:a16="http://schemas.microsoft.com/office/drawing/2014/main" id="{FA1B8D5B-85F9-023F-3DCF-B9D2438C7A8C}"/>
                  </a:ext>
                </a:extLst>
              </p:cNvPr>
              <p:cNvSpPr/>
              <p:nvPr/>
            </p:nvSpPr>
            <p:spPr>
              <a:xfrm>
                <a:off x="3913632" y="4462272"/>
                <a:ext cx="1440000" cy="384048"/>
              </a:xfrm>
              <a:prstGeom prst="rect">
                <a:avLst/>
              </a:prstGeom>
              <a:solidFill>
                <a:srgbClr val="F4F2EC"/>
              </a:solidFill>
              <a:ln w="6350">
                <a:solidFill>
                  <a:srgbClr val="E8E4DC"/>
                </a:solidFill>
                <a:prstDash val="solid"/>
              </a:ln>
            </p:spPr>
            <p:txBody>
              <a:bodyPr/>
              <a:lstStyle/>
              <a:p>
                <a:endParaRPr lang="en-MT"/>
              </a:p>
            </p:txBody>
          </p:sp>
          <p:sp>
            <p:nvSpPr>
              <p:cNvPr id="89" name="Text 34">
                <a:extLst>
                  <a:ext uri="{FF2B5EF4-FFF2-40B4-BE49-F238E27FC236}">
                    <a16:creationId xmlns:a16="http://schemas.microsoft.com/office/drawing/2014/main" id="{83FC979C-782B-C423-51E8-AD8A70478BB2}"/>
                  </a:ext>
                </a:extLst>
              </p:cNvPr>
              <p:cNvSpPr/>
              <p:nvPr/>
            </p:nvSpPr>
            <p:spPr>
              <a:xfrm>
                <a:off x="3931920" y="4471416"/>
                <a:ext cx="1440000" cy="365760"/>
              </a:xfrm>
              <a:prstGeom prst="rect">
                <a:avLst/>
              </a:prstGeom>
              <a:noFill/>
              <a:ln/>
            </p:spPr>
            <p:txBody>
              <a:bodyPr wrap="square" rtlCol="0" anchor="ctr"/>
              <a:lstStyle/>
              <a:p>
                <a:pPr marL="0" indent="0">
                  <a:lnSpc>
                    <a:spcPct val="115000"/>
                  </a:lnSpc>
                  <a:buNone/>
                </a:pPr>
                <a:r>
                  <a:rPr lang="en-US" sz="700" i="1" dirty="0">
                    <a:solidFill>
                      <a:srgbClr val="4A6274"/>
                    </a:solidFill>
                    <a:latin typeface="Calibri" pitchFamily="34" charset="0"/>
                    <a:ea typeface="Calibri" pitchFamily="34" charset="-122"/>
                    <a:cs typeface="Calibri" pitchFamily="34" charset="-120"/>
                  </a:rPr>
                  <a:t>Captioning &amp; OD: comparative model selection — see Slide 7</a:t>
                </a:r>
                <a:endParaRPr lang="en-US" sz="700" dirty="0"/>
              </a:p>
            </p:txBody>
          </p:sp>
        </p:grpSp>
      </p:grpSp>
      <p:grpSp>
        <p:nvGrpSpPr>
          <p:cNvPr id="98" name="Group 97">
            <a:extLst>
              <a:ext uri="{FF2B5EF4-FFF2-40B4-BE49-F238E27FC236}">
                <a16:creationId xmlns:a16="http://schemas.microsoft.com/office/drawing/2014/main" id="{443DD991-5D76-5560-BCD6-203EC0C2428A}"/>
              </a:ext>
            </a:extLst>
          </p:cNvPr>
          <p:cNvGrpSpPr/>
          <p:nvPr/>
        </p:nvGrpSpPr>
        <p:grpSpPr>
          <a:xfrm>
            <a:off x="255301" y="1115950"/>
            <a:ext cx="1433650" cy="3114078"/>
            <a:chOff x="255301" y="1106424"/>
            <a:chExt cx="1433650" cy="3114078"/>
          </a:xfrm>
        </p:grpSpPr>
        <p:sp>
          <p:nvSpPr>
            <p:cNvPr id="93" name="Rectangle 92">
              <a:extLst>
                <a:ext uri="{FF2B5EF4-FFF2-40B4-BE49-F238E27FC236}">
                  <a16:creationId xmlns:a16="http://schemas.microsoft.com/office/drawing/2014/main" id="{7788409C-DCA7-5CF2-C529-782D3ADB06F7}"/>
                </a:ext>
              </a:extLst>
            </p:cNvPr>
            <p:cNvSpPr/>
            <p:nvPr/>
          </p:nvSpPr>
          <p:spPr>
            <a:xfrm>
              <a:off x="255301" y="1106424"/>
              <a:ext cx="1433650" cy="62280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GB" sz="900" dirty="0"/>
                <a:t>High-pass filter</a:t>
              </a:r>
            </a:p>
            <a:p>
              <a:pPr algn="ctr"/>
              <a:r>
                <a:rPr lang="en-GB" sz="900" dirty="0"/>
                <a:t>(FFT, r=40)</a:t>
              </a:r>
              <a:endParaRPr lang="en-MT" sz="900" dirty="0"/>
            </a:p>
          </p:txBody>
        </p:sp>
        <p:sp>
          <p:nvSpPr>
            <p:cNvPr id="94" name="Rectangle 93">
              <a:extLst>
                <a:ext uri="{FF2B5EF4-FFF2-40B4-BE49-F238E27FC236}">
                  <a16:creationId xmlns:a16="http://schemas.microsoft.com/office/drawing/2014/main" id="{DE872546-99AB-4B56-FA50-273FD235A1F9}"/>
                </a:ext>
              </a:extLst>
            </p:cNvPr>
            <p:cNvSpPr/>
            <p:nvPr/>
          </p:nvSpPr>
          <p:spPr>
            <a:xfrm>
              <a:off x="255301" y="1726862"/>
              <a:ext cx="1433650" cy="622800"/>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sz="900" dirty="0"/>
                <a:t>Low-pass filter</a:t>
              </a:r>
            </a:p>
            <a:p>
              <a:pPr algn="ctr"/>
              <a:r>
                <a:rPr lang="en-GB" sz="900" dirty="0"/>
                <a:t>(FFT, r=40)</a:t>
              </a:r>
              <a:endParaRPr lang="en-MT" sz="900" dirty="0"/>
            </a:p>
          </p:txBody>
        </p:sp>
        <p:sp>
          <p:nvSpPr>
            <p:cNvPr id="95" name="Rectangle 94">
              <a:extLst>
                <a:ext uri="{FF2B5EF4-FFF2-40B4-BE49-F238E27FC236}">
                  <a16:creationId xmlns:a16="http://schemas.microsoft.com/office/drawing/2014/main" id="{A74FE7B2-C0D9-B9AC-3E03-02D52DE256C2}"/>
                </a:ext>
              </a:extLst>
            </p:cNvPr>
            <p:cNvSpPr/>
            <p:nvPr/>
          </p:nvSpPr>
          <p:spPr>
            <a:xfrm>
              <a:off x="255301" y="2347300"/>
              <a:ext cx="1433650" cy="62280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MT" sz="900" dirty="0"/>
            </a:p>
          </p:txBody>
        </p:sp>
        <p:sp>
          <p:nvSpPr>
            <p:cNvPr id="96" name="Rectangle 95">
              <a:extLst>
                <a:ext uri="{FF2B5EF4-FFF2-40B4-BE49-F238E27FC236}">
                  <a16:creationId xmlns:a16="http://schemas.microsoft.com/office/drawing/2014/main" id="{4F92D575-DE3F-F39C-7EBA-B17B8A66F54B}"/>
                </a:ext>
              </a:extLst>
            </p:cNvPr>
            <p:cNvSpPr/>
            <p:nvPr/>
          </p:nvSpPr>
          <p:spPr>
            <a:xfrm>
              <a:off x="255301" y="2972501"/>
              <a:ext cx="1433650" cy="622800"/>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MT" sz="900" dirty="0"/>
            </a:p>
          </p:txBody>
        </p:sp>
        <p:sp>
          <p:nvSpPr>
            <p:cNvPr id="97" name="Rectangle 96">
              <a:extLst>
                <a:ext uri="{FF2B5EF4-FFF2-40B4-BE49-F238E27FC236}">
                  <a16:creationId xmlns:a16="http://schemas.microsoft.com/office/drawing/2014/main" id="{B7BEC728-D239-5979-34A1-C63ACB2A1A92}"/>
                </a:ext>
              </a:extLst>
            </p:cNvPr>
            <p:cNvSpPr/>
            <p:nvPr/>
          </p:nvSpPr>
          <p:spPr>
            <a:xfrm>
              <a:off x="255301" y="3597702"/>
              <a:ext cx="1433650" cy="62280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MT" sz="900" dirty="0"/>
            </a:p>
          </p:txBody>
        </p:sp>
      </p:grpSp>
      <p:grpSp>
        <p:nvGrpSpPr>
          <p:cNvPr id="99" name="Group 98">
            <a:extLst>
              <a:ext uri="{FF2B5EF4-FFF2-40B4-BE49-F238E27FC236}">
                <a16:creationId xmlns:a16="http://schemas.microsoft.com/office/drawing/2014/main" id="{D4261D3A-0E31-0DCE-1B20-E2E0DF9F96F5}"/>
              </a:ext>
            </a:extLst>
          </p:cNvPr>
          <p:cNvGrpSpPr/>
          <p:nvPr/>
        </p:nvGrpSpPr>
        <p:grpSpPr>
          <a:xfrm>
            <a:off x="2030025" y="1113493"/>
            <a:ext cx="1433650" cy="3114078"/>
            <a:chOff x="255301" y="1106424"/>
            <a:chExt cx="1433650" cy="3114078"/>
          </a:xfrm>
        </p:grpSpPr>
        <p:sp>
          <p:nvSpPr>
            <p:cNvPr id="100" name="Rectangle 99">
              <a:extLst>
                <a:ext uri="{FF2B5EF4-FFF2-40B4-BE49-F238E27FC236}">
                  <a16:creationId xmlns:a16="http://schemas.microsoft.com/office/drawing/2014/main" id="{22D8E902-4C5F-C4FE-4849-3E698E630774}"/>
                </a:ext>
              </a:extLst>
            </p:cNvPr>
            <p:cNvSpPr/>
            <p:nvPr/>
          </p:nvSpPr>
          <p:spPr>
            <a:xfrm>
              <a:off x="255301" y="1106424"/>
              <a:ext cx="1433650" cy="62280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GB" sz="900" dirty="0"/>
                <a:t>Pixel Shuffle</a:t>
              </a:r>
              <a:endParaRPr lang="en-MT" sz="900" dirty="0"/>
            </a:p>
          </p:txBody>
        </p:sp>
        <p:sp>
          <p:nvSpPr>
            <p:cNvPr id="101" name="Rectangle 100">
              <a:extLst>
                <a:ext uri="{FF2B5EF4-FFF2-40B4-BE49-F238E27FC236}">
                  <a16:creationId xmlns:a16="http://schemas.microsoft.com/office/drawing/2014/main" id="{AB9CE71A-1FD3-40EB-D281-BF0B97F66B33}"/>
                </a:ext>
              </a:extLst>
            </p:cNvPr>
            <p:cNvSpPr/>
            <p:nvPr/>
          </p:nvSpPr>
          <p:spPr>
            <a:xfrm>
              <a:off x="255301" y="1726862"/>
              <a:ext cx="1433650" cy="622800"/>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sz="900" dirty="0"/>
                <a:t>Patch Shuffle </a:t>
              </a:r>
            </a:p>
            <a:p>
              <a:pPr algn="ctr"/>
              <a:r>
                <a:rPr lang="en-GB" sz="900" dirty="0"/>
                <a:t>(2x2 / 4x4 / 8x8 16x16)</a:t>
              </a:r>
              <a:endParaRPr lang="en-MT" sz="900" dirty="0"/>
            </a:p>
          </p:txBody>
        </p:sp>
        <p:sp>
          <p:nvSpPr>
            <p:cNvPr id="102" name="Rectangle 101">
              <a:extLst>
                <a:ext uri="{FF2B5EF4-FFF2-40B4-BE49-F238E27FC236}">
                  <a16:creationId xmlns:a16="http://schemas.microsoft.com/office/drawing/2014/main" id="{01F28D11-68E9-51AF-D7B7-C9EFD3E32289}"/>
                </a:ext>
              </a:extLst>
            </p:cNvPr>
            <p:cNvSpPr/>
            <p:nvPr/>
          </p:nvSpPr>
          <p:spPr>
            <a:xfrm>
              <a:off x="255301" y="2347300"/>
              <a:ext cx="1433650" cy="62280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GB" sz="900" dirty="0"/>
                <a:t>Mean RGB</a:t>
              </a:r>
              <a:endParaRPr lang="en-MT" sz="900" dirty="0"/>
            </a:p>
          </p:txBody>
        </p:sp>
        <p:sp>
          <p:nvSpPr>
            <p:cNvPr id="103" name="Rectangle 102">
              <a:extLst>
                <a:ext uri="{FF2B5EF4-FFF2-40B4-BE49-F238E27FC236}">
                  <a16:creationId xmlns:a16="http://schemas.microsoft.com/office/drawing/2014/main" id="{F0A67E92-54AB-D36F-BC97-3BC38AEED0F7}"/>
                </a:ext>
              </a:extLst>
            </p:cNvPr>
            <p:cNvSpPr/>
            <p:nvPr/>
          </p:nvSpPr>
          <p:spPr>
            <a:xfrm>
              <a:off x="255301" y="2972501"/>
              <a:ext cx="1433650" cy="622800"/>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MT" sz="900" dirty="0"/>
            </a:p>
          </p:txBody>
        </p:sp>
        <p:sp>
          <p:nvSpPr>
            <p:cNvPr id="104" name="Rectangle 103">
              <a:extLst>
                <a:ext uri="{FF2B5EF4-FFF2-40B4-BE49-F238E27FC236}">
                  <a16:creationId xmlns:a16="http://schemas.microsoft.com/office/drawing/2014/main" id="{179E761B-DA83-6EE6-7FE6-EE539C45D6C0}"/>
                </a:ext>
              </a:extLst>
            </p:cNvPr>
            <p:cNvSpPr/>
            <p:nvPr/>
          </p:nvSpPr>
          <p:spPr>
            <a:xfrm>
              <a:off x="255301" y="3597702"/>
              <a:ext cx="1433650" cy="62280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MT" sz="900" dirty="0"/>
            </a:p>
          </p:txBody>
        </p:sp>
      </p:grpSp>
      <p:grpSp>
        <p:nvGrpSpPr>
          <p:cNvPr id="105" name="Group 104">
            <a:extLst>
              <a:ext uri="{FF2B5EF4-FFF2-40B4-BE49-F238E27FC236}">
                <a16:creationId xmlns:a16="http://schemas.microsoft.com/office/drawing/2014/main" id="{ED8D083A-8D1A-B15B-E21A-001BD86F392D}"/>
              </a:ext>
            </a:extLst>
          </p:cNvPr>
          <p:cNvGrpSpPr/>
          <p:nvPr/>
        </p:nvGrpSpPr>
        <p:grpSpPr>
          <a:xfrm>
            <a:off x="3848996" y="1118409"/>
            <a:ext cx="1433650" cy="3114078"/>
            <a:chOff x="255301" y="1106424"/>
            <a:chExt cx="1433650" cy="3114078"/>
          </a:xfrm>
        </p:grpSpPr>
        <p:sp>
          <p:nvSpPr>
            <p:cNvPr id="106" name="Rectangle 105">
              <a:extLst>
                <a:ext uri="{FF2B5EF4-FFF2-40B4-BE49-F238E27FC236}">
                  <a16:creationId xmlns:a16="http://schemas.microsoft.com/office/drawing/2014/main" id="{0AD9C79F-A3A3-E984-E3C7-29E9A9159B52}"/>
                </a:ext>
              </a:extLst>
            </p:cNvPr>
            <p:cNvSpPr/>
            <p:nvPr/>
          </p:nvSpPr>
          <p:spPr>
            <a:xfrm>
              <a:off x="255301" y="1106424"/>
              <a:ext cx="1433650" cy="62280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GB" sz="900" dirty="0"/>
                <a:t>Semantic Segmentation</a:t>
              </a:r>
            </a:p>
            <a:p>
              <a:pPr algn="ctr"/>
              <a:r>
                <a:rPr lang="en-GB" sz="900" dirty="0"/>
                <a:t>(Mask2Former ADE20K)</a:t>
              </a:r>
              <a:endParaRPr lang="en-MT" sz="900" dirty="0"/>
            </a:p>
          </p:txBody>
        </p:sp>
        <p:sp>
          <p:nvSpPr>
            <p:cNvPr id="107" name="Rectangle 106">
              <a:extLst>
                <a:ext uri="{FF2B5EF4-FFF2-40B4-BE49-F238E27FC236}">
                  <a16:creationId xmlns:a16="http://schemas.microsoft.com/office/drawing/2014/main" id="{83A18784-EA46-B895-4310-F26C4B290623}"/>
                </a:ext>
              </a:extLst>
            </p:cNvPr>
            <p:cNvSpPr/>
            <p:nvPr/>
          </p:nvSpPr>
          <p:spPr>
            <a:xfrm>
              <a:off x="255301" y="1726862"/>
              <a:ext cx="1433650" cy="622800"/>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sz="900" dirty="0"/>
                <a:t>Object Detection</a:t>
              </a:r>
            </a:p>
            <a:p>
              <a:pPr algn="ctr"/>
              <a:r>
                <a:rPr lang="en-GB" sz="900" dirty="0"/>
                <a:t>(YOLOv8x OpenImagesV7)</a:t>
              </a:r>
              <a:endParaRPr lang="en-MT" sz="900" dirty="0"/>
            </a:p>
          </p:txBody>
        </p:sp>
        <p:sp>
          <p:nvSpPr>
            <p:cNvPr id="108" name="Rectangle 107">
              <a:extLst>
                <a:ext uri="{FF2B5EF4-FFF2-40B4-BE49-F238E27FC236}">
                  <a16:creationId xmlns:a16="http://schemas.microsoft.com/office/drawing/2014/main" id="{1CC3E5F2-6917-5E57-665C-DA7D4DDCD5ED}"/>
                </a:ext>
              </a:extLst>
            </p:cNvPr>
            <p:cNvSpPr/>
            <p:nvPr/>
          </p:nvSpPr>
          <p:spPr>
            <a:xfrm>
              <a:off x="255301" y="2347300"/>
              <a:ext cx="1433650" cy="62280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GB" sz="900" dirty="0"/>
                <a:t>Image Captioning</a:t>
              </a:r>
            </a:p>
            <a:p>
              <a:pPr algn="ctr"/>
              <a:r>
                <a:rPr lang="en-GB" sz="900" dirty="0"/>
                <a:t>(BLIP Large)</a:t>
              </a:r>
              <a:endParaRPr lang="en-MT" sz="900" dirty="0"/>
            </a:p>
          </p:txBody>
        </p:sp>
        <p:sp>
          <p:nvSpPr>
            <p:cNvPr id="109" name="Rectangle 108">
              <a:extLst>
                <a:ext uri="{FF2B5EF4-FFF2-40B4-BE49-F238E27FC236}">
                  <a16:creationId xmlns:a16="http://schemas.microsoft.com/office/drawing/2014/main" id="{72C3B8FC-59D1-0FCF-B0D4-95FB26962139}"/>
                </a:ext>
              </a:extLst>
            </p:cNvPr>
            <p:cNvSpPr/>
            <p:nvPr/>
          </p:nvSpPr>
          <p:spPr>
            <a:xfrm>
              <a:off x="255301" y="2972501"/>
              <a:ext cx="1433650" cy="622800"/>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sz="900" dirty="0"/>
                <a:t>VAE</a:t>
              </a:r>
            </a:p>
            <a:p>
              <a:pPr algn="ctr"/>
              <a:r>
                <a:rPr lang="en-GB" sz="900" dirty="0"/>
                <a:t>(SDv1.5 KL-VAE)</a:t>
              </a:r>
              <a:endParaRPr lang="en-MT" sz="900" dirty="0"/>
            </a:p>
          </p:txBody>
        </p:sp>
        <p:sp>
          <p:nvSpPr>
            <p:cNvPr id="110" name="Rectangle 109">
              <a:extLst>
                <a:ext uri="{FF2B5EF4-FFF2-40B4-BE49-F238E27FC236}">
                  <a16:creationId xmlns:a16="http://schemas.microsoft.com/office/drawing/2014/main" id="{44C00B0C-381A-8D04-E154-DF33F2466914}"/>
                </a:ext>
              </a:extLst>
            </p:cNvPr>
            <p:cNvSpPr/>
            <p:nvPr/>
          </p:nvSpPr>
          <p:spPr>
            <a:xfrm>
              <a:off x="255301" y="3597702"/>
              <a:ext cx="1433650" cy="62280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MT" sz="900" dirty="0"/>
            </a:p>
          </p:txBody>
        </p:sp>
      </p:grpSp>
      <p:grpSp>
        <p:nvGrpSpPr>
          <p:cNvPr id="111" name="Group 110">
            <a:extLst>
              <a:ext uri="{FF2B5EF4-FFF2-40B4-BE49-F238E27FC236}">
                <a16:creationId xmlns:a16="http://schemas.microsoft.com/office/drawing/2014/main" id="{2FAA50D5-4C14-47A7-41E5-CB71648B81A7}"/>
              </a:ext>
            </a:extLst>
          </p:cNvPr>
          <p:cNvGrpSpPr/>
          <p:nvPr/>
        </p:nvGrpSpPr>
        <p:grpSpPr>
          <a:xfrm>
            <a:off x="7452514" y="1120978"/>
            <a:ext cx="1433650" cy="3114078"/>
            <a:chOff x="255301" y="1106424"/>
            <a:chExt cx="1433650" cy="3114078"/>
          </a:xfrm>
        </p:grpSpPr>
        <p:sp>
          <p:nvSpPr>
            <p:cNvPr id="112" name="Rectangle 111">
              <a:extLst>
                <a:ext uri="{FF2B5EF4-FFF2-40B4-BE49-F238E27FC236}">
                  <a16:creationId xmlns:a16="http://schemas.microsoft.com/office/drawing/2014/main" id="{C2513BDB-A480-216E-0DCF-8C3865EA1A20}"/>
                </a:ext>
              </a:extLst>
            </p:cNvPr>
            <p:cNvSpPr/>
            <p:nvPr/>
          </p:nvSpPr>
          <p:spPr>
            <a:xfrm>
              <a:off x="255301" y="1106424"/>
              <a:ext cx="1433650" cy="62280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GB" sz="900" dirty="0"/>
                <a:t>Full / Full - No Background</a:t>
              </a:r>
              <a:endParaRPr lang="en-MT" sz="900" dirty="0"/>
            </a:p>
          </p:txBody>
        </p:sp>
        <p:sp>
          <p:nvSpPr>
            <p:cNvPr id="113" name="Rectangle 112">
              <a:extLst>
                <a:ext uri="{FF2B5EF4-FFF2-40B4-BE49-F238E27FC236}">
                  <a16:creationId xmlns:a16="http://schemas.microsoft.com/office/drawing/2014/main" id="{DC6D609C-8B14-83DD-C085-08E28DF4B540}"/>
                </a:ext>
              </a:extLst>
            </p:cNvPr>
            <p:cNvSpPr/>
            <p:nvPr/>
          </p:nvSpPr>
          <p:spPr>
            <a:xfrm>
              <a:off x="255301" y="1726862"/>
              <a:ext cx="1433650" cy="622800"/>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sz="900" dirty="0"/>
                <a:t>Mask Segmentation /</a:t>
              </a:r>
            </a:p>
            <a:p>
              <a:pPr algn="ctr"/>
              <a:r>
                <a:rPr lang="en-GB" sz="900" dirty="0"/>
                <a:t>Mask </a:t>
              </a:r>
              <a:r>
                <a:rPr lang="en-GB" sz="900" dirty="0" err="1"/>
                <a:t>Segm</a:t>
              </a:r>
              <a:r>
                <a:rPr lang="en-GB" sz="900" dirty="0"/>
                <a:t> – No </a:t>
              </a:r>
              <a:r>
                <a:rPr lang="en-GB" sz="900" dirty="0" err="1"/>
                <a:t>Bg</a:t>
              </a:r>
              <a:endParaRPr lang="en-MT" sz="900" dirty="0"/>
            </a:p>
          </p:txBody>
        </p:sp>
        <p:sp>
          <p:nvSpPr>
            <p:cNvPr id="114" name="Rectangle 113">
              <a:extLst>
                <a:ext uri="{FF2B5EF4-FFF2-40B4-BE49-F238E27FC236}">
                  <a16:creationId xmlns:a16="http://schemas.microsoft.com/office/drawing/2014/main" id="{2D54826C-C4B8-0028-AD39-4403C0A4DC88}"/>
                </a:ext>
              </a:extLst>
            </p:cNvPr>
            <p:cNvSpPr/>
            <p:nvPr/>
          </p:nvSpPr>
          <p:spPr>
            <a:xfrm>
              <a:off x="255301" y="2347300"/>
              <a:ext cx="1433650" cy="62280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GB" sz="900" dirty="0"/>
                <a:t>Rectangular Mask /</a:t>
              </a:r>
            </a:p>
            <a:p>
              <a:pPr algn="ctr"/>
              <a:r>
                <a:rPr lang="en-GB" sz="900" dirty="0" err="1"/>
                <a:t>Rect</a:t>
              </a:r>
              <a:r>
                <a:rPr lang="en-GB" sz="900" dirty="0"/>
                <a:t> Mask - No </a:t>
              </a:r>
              <a:r>
                <a:rPr lang="en-GB" sz="900" dirty="0" err="1"/>
                <a:t>Bg</a:t>
              </a:r>
              <a:endParaRPr lang="en-MT" sz="900" dirty="0"/>
            </a:p>
          </p:txBody>
        </p:sp>
        <p:sp>
          <p:nvSpPr>
            <p:cNvPr id="115" name="Rectangle 114">
              <a:extLst>
                <a:ext uri="{FF2B5EF4-FFF2-40B4-BE49-F238E27FC236}">
                  <a16:creationId xmlns:a16="http://schemas.microsoft.com/office/drawing/2014/main" id="{799B3335-7FFF-CDCC-C9E1-EC9114C232B4}"/>
                </a:ext>
              </a:extLst>
            </p:cNvPr>
            <p:cNvSpPr/>
            <p:nvPr/>
          </p:nvSpPr>
          <p:spPr>
            <a:xfrm>
              <a:off x="255301" y="2972501"/>
              <a:ext cx="1433650" cy="622800"/>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MT" sz="900" dirty="0"/>
            </a:p>
          </p:txBody>
        </p:sp>
        <p:sp>
          <p:nvSpPr>
            <p:cNvPr id="116" name="Rectangle 115">
              <a:extLst>
                <a:ext uri="{FF2B5EF4-FFF2-40B4-BE49-F238E27FC236}">
                  <a16:creationId xmlns:a16="http://schemas.microsoft.com/office/drawing/2014/main" id="{6EB2120B-4388-4937-73E8-354E90EB69BE}"/>
                </a:ext>
              </a:extLst>
            </p:cNvPr>
            <p:cNvSpPr/>
            <p:nvPr/>
          </p:nvSpPr>
          <p:spPr>
            <a:xfrm>
              <a:off x="255301" y="3597702"/>
              <a:ext cx="1433650" cy="62280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MT" sz="900" dirty="0"/>
            </a:p>
          </p:txBody>
        </p:sp>
      </p:grpSp>
      <p:grpSp>
        <p:nvGrpSpPr>
          <p:cNvPr id="117" name="Group 116">
            <a:extLst>
              <a:ext uri="{FF2B5EF4-FFF2-40B4-BE49-F238E27FC236}">
                <a16:creationId xmlns:a16="http://schemas.microsoft.com/office/drawing/2014/main" id="{52C3E08F-8A4C-A7FF-3631-BD77799ABF41}"/>
              </a:ext>
            </a:extLst>
          </p:cNvPr>
          <p:cNvGrpSpPr/>
          <p:nvPr/>
        </p:nvGrpSpPr>
        <p:grpSpPr>
          <a:xfrm>
            <a:off x="5680255" y="1120870"/>
            <a:ext cx="1433650" cy="3114078"/>
            <a:chOff x="255301" y="1106424"/>
            <a:chExt cx="1433650" cy="3114078"/>
          </a:xfrm>
        </p:grpSpPr>
        <p:sp>
          <p:nvSpPr>
            <p:cNvPr id="118" name="Rectangle 117">
              <a:extLst>
                <a:ext uri="{FF2B5EF4-FFF2-40B4-BE49-F238E27FC236}">
                  <a16:creationId xmlns:a16="http://schemas.microsoft.com/office/drawing/2014/main" id="{8A1EE08D-1589-A7AE-663D-76A6813225EB}"/>
                </a:ext>
              </a:extLst>
            </p:cNvPr>
            <p:cNvSpPr/>
            <p:nvPr/>
          </p:nvSpPr>
          <p:spPr>
            <a:xfrm>
              <a:off x="255301" y="1106424"/>
              <a:ext cx="1433650" cy="62280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GB" sz="900" dirty="0"/>
                <a:t>Depth Map</a:t>
              </a:r>
            </a:p>
            <a:p>
              <a:pPr algn="ctr"/>
              <a:r>
                <a:rPr lang="en-GB" sz="900" dirty="0"/>
                <a:t>(Depth-AnythingV2 small)</a:t>
              </a:r>
              <a:endParaRPr lang="en-MT" sz="900" dirty="0"/>
            </a:p>
          </p:txBody>
        </p:sp>
        <p:sp>
          <p:nvSpPr>
            <p:cNvPr id="119" name="Rectangle 118">
              <a:extLst>
                <a:ext uri="{FF2B5EF4-FFF2-40B4-BE49-F238E27FC236}">
                  <a16:creationId xmlns:a16="http://schemas.microsoft.com/office/drawing/2014/main" id="{9574CEFA-8B85-FE99-8C00-EA1EDDA743A8}"/>
                </a:ext>
              </a:extLst>
            </p:cNvPr>
            <p:cNvSpPr/>
            <p:nvPr/>
          </p:nvSpPr>
          <p:spPr>
            <a:xfrm>
              <a:off x="255301" y="1726862"/>
              <a:ext cx="1433650" cy="622800"/>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sz="900" dirty="0"/>
                <a:t>Canny Edge Detection</a:t>
              </a:r>
              <a:endParaRPr lang="en-MT" sz="900" dirty="0"/>
            </a:p>
          </p:txBody>
        </p:sp>
        <p:sp>
          <p:nvSpPr>
            <p:cNvPr id="120" name="Rectangle 119">
              <a:extLst>
                <a:ext uri="{FF2B5EF4-FFF2-40B4-BE49-F238E27FC236}">
                  <a16:creationId xmlns:a16="http://schemas.microsoft.com/office/drawing/2014/main" id="{6214DBB4-EB67-2F99-DAF9-104095107CF1}"/>
                </a:ext>
              </a:extLst>
            </p:cNvPr>
            <p:cNvSpPr/>
            <p:nvPr/>
          </p:nvSpPr>
          <p:spPr>
            <a:xfrm>
              <a:off x="255301" y="2347300"/>
              <a:ext cx="1433650" cy="62280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GB" sz="900" dirty="0"/>
                <a:t>Pose </a:t>
              </a:r>
              <a:r>
                <a:rPr lang="en-GB" sz="900" dirty="0" err="1"/>
                <a:t>Keypoints</a:t>
              </a:r>
              <a:endParaRPr lang="en-GB" sz="900" dirty="0"/>
            </a:p>
            <a:p>
              <a:pPr algn="ctr"/>
              <a:r>
                <a:rPr lang="en-GB" sz="900" dirty="0"/>
                <a:t>(YOLOV8l-Pose)</a:t>
              </a:r>
              <a:endParaRPr lang="en-MT" sz="900" dirty="0"/>
            </a:p>
          </p:txBody>
        </p:sp>
        <p:sp>
          <p:nvSpPr>
            <p:cNvPr id="121" name="Rectangle 120">
              <a:extLst>
                <a:ext uri="{FF2B5EF4-FFF2-40B4-BE49-F238E27FC236}">
                  <a16:creationId xmlns:a16="http://schemas.microsoft.com/office/drawing/2014/main" id="{7B969ED0-6043-BE2A-CF6C-DD3914D5DEFC}"/>
                </a:ext>
              </a:extLst>
            </p:cNvPr>
            <p:cNvSpPr/>
            <p:nvPr/>
          </p:nvSpPr>
          <p:spPr>
            <a:xfrm>
              <a:off x="255301" y="2972501"/>
              <a:ext cx="1433650" cy="622800"/>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MT" sz="900" dirty="0"/>
            </a:p>
          </p:txBody>
        </p:sp>
        <p:sp>
          <p:nvSpPr>
            <p:cNvPr id="122" name="Rectangle 121">
              <a:extLst>
                <a:ext uri="{FF2B5EF4-FFF2-40B4-BE49-F238E27FC236}">
                  <a16:creationId xmlns:a16="http://schemas.microsoft.com/office/drawing/2014/main" id="{10BD6871-DD64-B766-BB3C-428C8FF140D2}"/>
                </a:ext>
              </a:extLst>
            </p:cNvPr>
            <p:cNvSpPr/>
            <p:nvPr/>
          </p:nvSpPr>
          <p:spPr>
            <a:xfrm>
              <a:off x="255301" y="3597702"/>
              <a:ext cx="1433650" cy="62280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MT" sz="900" dirty="0"/>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 0">
            <a:extLst>
              <a:ext uri="{FF2B5EF4-FFF2-40B4-BE49-F238E27FC236}">
                <a16:creationId xmlns:a16="http://schemas.microsoft.com/office/drawing/2014/main" id="{189F561A-0FD6-020A-2216-2DF1F66E44C9}"/>
              </a:ext>
            </a:extLst>
          </p:cNvPr>
          <p:cNvSpPr/>
          <p:nvPr/>
        </p:nvSpPr>
        <p:spPr>
          <a:xfrm>
            <a:off x="0" y="0"/>
            <a:ext cx="9144000" cy="713232"/>
          </a:xfrm>
          <a:prstGeom prst="rect">
            <a:avLst/>
          </a:prstGeom>
          <a:solidFill>
            <a:srgbClr val="1B3A5C"/>
          </a:solidFill>
          <a:ln w="12700">
            <a:solidFill>
              <a:srgbClr val="1B3A5C"/>
            </a:solidFill>
            <a:prstDash val="solid"/>
          </a:ln>
        </p:spPr>
        <p:txBody>
          <a:bodyPr/>
          <a:lstStyle/>
          <a:p>
            <a:endParaRPr lang="en-MT"/>
          </a:p>
        </p:txBody>
      </p:sp>
      <p:sp>
        <p:nvSpPr>
          <p:cNvPr id="9" name="Text 1">
            <a:extLst>
              <a:ext uri="{FF2B5EF4-FFF2-40B4-BE49-F238E27FC236}">
                <a16:creationId xmlns:a16="http://schemas.microsoft.com/office/drawing/2014/main" id="{58D43E37-1E5C-A056-8635-D9C0D2A64633}"/>
              </a:ext>
            </a:extLst>
          </p:cNvPr>
          <p:cNvSpPr/>
          <p:nvPr/>
        </p:nvSpPr>
        <p:spPr>
          <a:xfrm>
            <a:off x="411480" y="0"/>
            <a:ext cx="8321040" cy="713232"/>
          </a:xfrm>
          <a:prstGeom prst="rect">
            <a:avLst/>
          </a:prstGeom>
          <a:noFill/>
          <a:ln/>
        </p:spPr>
        <p:txBody>
          <a:bodyPr wrap="square" rtlCol="0" anchor="ctr"/>
          <a:lstStyle/>
          <a:p>
            <a:r>
              <a:rPr lang="en-US" sz="1500" b="1" dirty="0">
                <a:solidFill>
                  <a:srgbClr val="FFFFFF"/>
                </a:solidFill>
                <a:latin typeface="Georgia" pitchFamily="34" charset="0"/>
                <a:ea typeface="Georgia" pitchFamily="34" charset="-122"/>
                <a:cs typeface="Georgia" pitchFamily="34" charset="-120"/>
              </a:rPr>
              <a:t>METHODOLOGY  ·  </a:t>
            </a:r>
            <a:r>
              <a:rPr lang="en-US" sz="1600" b="1" dirty="0">
                <a:solidFill>
                  <a:srgbClr val="FFFFFF"/>
                </a:solidFill>
                <a:latin typeface="Calibri" pitchFamily="34" charset="0"/>
                <a:ea typeface="Calibri" pitchFamily="34" charset="-122"/>
                <a:cs typeface="Calibri" pitchFamily="34" charset="-120"/>
              </a:rPr>
              <a:t>TRANSFORMATION FIGURES (1/2)</a:t>
            </a:r>
            <a:endParaRPr lang="en-US" sz="1600" dirty="0"/>
          </a:p>
        </p:txBody>
      </p:sp>
      <p:grpSp>
        <p:nvGrpSpPr>
          <p:cNvPr id="33" name="Group 32">
            <a:extLst>
              <a:ext uri="{FF2B5EF4-FFF2-40B4-BE49-F238E27FC236}">
                <a16:creationId xmlns:a16="http://schemas.microsoft.com/office/drawing/2014/main" id="{F8BF7A81-AFC7-F813-6DE9-24486ADBA959}"/>
              </a:ext>
            </a:extLst>
          </p:cNvPr>
          <p:cNvGrpSpPr/>
          <p:nvPr/>
        </p:nvGrpSpPr>
        <p:grpSpPr>
          <a:xfrm>
            <a:off x="136462" y="1167319"/>
            <a:ext cx="8871076" cy="3024305"/>
            <a:chOff x="136462" y="1167319"/>
            <a:chExt cx="8871076" cy="3024305"/>
          </a:xfrm>
        </p:grpSpPr>
        <p:grpSp>
          <p:nvGrpSpPr>
            <p:cNvPr id="27" name="Group 26">
              <a:extLst>
                <a:ext uri="{FF2B5EF4-FFF2-40B4-BE49-F238E27FC236}">
                  <a16:creationId xmlns:a16="http://schemas.microsoft.com/office/drawing/2014/main" id="{3F59300E-0D8C-D17E-598B-F18CECEC28E9}"/>
                </a:ext>
              </a:extLst>
            </p:cNvPr>
            <p:cNvGrpSpPr/>
            <p:nvPr/>
          </p:nvGrpSpPr>
          <p:grpSpPr>
            <a:xfrm>
              <a:off x="136462" y="1167319"/>
              <a:ext cx="8871076" cy="2808861"/>
              <a:chOff x="70697" y="993511"/>
              <a:chExt cx="8871076" cy="2808861"/>
            </a:xfrm>
          </p:grpSpPr>
          <p:grpSp>
            <p:nvGrpSpPr>
              <p:cNvPr id="25" name="Group 24">
                <a:extLst>
                  <a:ext uri="{FF2B5EF4-FFF2-40B4-BE49-F238E27FC236}">
                    <a16:creationId xmlns:a16="http://schemas.microsoft.com/office/drawing/2014/main" id="{774A3600-5B81-CA9E-4D96-A5C02249F646}"/>
                  </a:ext>
                </a:extLst>
              </p:cNvPr>
              <p:cNvGrpSpPr/>
              <p:nvPr/>
            </p:nvGrpSpPr>
            <p:grpSpPr>
              <a:xfrm>
                <a:off x="70697" y="994371"/>
                <a:ext cx="7991023" cy="2808001"/>
                <a:chOff x="70697" y="994371"/>
                <a:chExt cx="7991023" cy="2808001"/>
              </a:xfrm>
            </p:grpSpPr>
            <p:pic>
              <p:nvPicPr>
                <p:cNvPr id="15" name="Picture 14">
                  <a:extLst>
                    <a:ext uri="{FF2B5EF4-FFF2-40B4-BE49-F238E27FC236}">
                      <a16:creationId xmlns:a16="http://schemas.microsoft.com/office/drawing/2014/main" id="{29D40AD4-5DA5-D5B3-B774-5B36A2D72DF3}"/>
                    </a:ext>
                  </a:extLst>
                </p:cNvPr>
                <p:cNvPicPr>
                  <a:picLocks noChangeAspect="1"/>
                </p:cNvPicPr>
                <p:nvPr/>
              </p:nvPicPr>
              <p:blipFill>
                <a:blip r:embed="rId2"/>
                <a:srcRect l="24965"/>
                <a:stretch>
                  <a:fillRect/>
                </a:stretch>
              </p:blipFill>
              <p:spPr>
                <a:xfrm>
                  <a:off x="2736930" y="994371"/>
                  <a:ext cx="2669436" cy="2808000"/>
                </a:xfrm>
                <a:prstGeom prst="rect">
                  <a:avLst/>
                </a:prstGeom>
                <a:ln>
                  <a:noFill/>
                </a:ln>
              </p:spPr>
            </p:pic>
            <p:pic>
              <p:nvPicPr>
                <p:cNvPr id="13" name="Picture 12">
                  <a:extLst>
                    <a:ext uri="{FF2B5EF4-FFF2-40B4-BE49-F238E27FC236}">
                      <a16:creationId xmlns:a16="http://schemas.microsoft.com/office/drawing/2014/main" id="{07D3E5AC-5AEC-21BF-F1B7-21890C9F5C8B}"/>
                    </a:ext>
                  </a:extLst>
                </p:cNvPr>
                <p:cNvPicPr>
                  <a:picLocks noChangeAspect="1"/>
                </p:cNvPicPr>
                <p:nvPr/>
              </p:nvPicPr>
              <p:blipFill>
                <a:blip r:embed="rId3"/>
                <a:stretch>
                  <a:fillRect/>
                </a:stretch>
              </p:blipFill>
              <p:spPr>
                <a:xfrm>
                  <a:off x="70697" y="994372"/>
                  <a:ext cx="2669185" cy="2808000"/>
                </a:xfrm>
                <a:prstGeom prst="rect">
                  <a:avLst/>
                </a:prstGeom>
                <a:ln>
                  <a:noFill/>
                </a:ln>
              </p:spPr>
            </p:pic>
            <p:pic>
              <p:nvPicPr>
                <p:cNvPr id="17" name="Picture 16">
                  <a:extLst>
                    <a:ext uri="{FF2B5EF4-FFF2-40B4-BE49-F238E27FC236}">
                      <a16:creationId xmlns:a16="http://schemas.microsoft.com/office/drawing/2014/main" id="{FD300BE3-ADEC-0D76-DA6E-4138C86A4574}"/>
                    </a:ext>
                  </a:extLst>
                </p:cNvPr>
                <p:cNvPicPr>
                  <a:picLocks noChangeAspect="1"/>
                </p:cNvPicPr>
                <p:nvPr/>
              </p:nvPicPr>
              <p:blipFill>
                <a:blip r:embed="rId4"/>
                <a:srcRect l="25193"/>
                <a:stretch>
                  <a:fillRect/>
                </a:stretch>
              </p:blipFill>
              <p:spPr>
                <a:xfrm>
                  <a:off x="5407910" y="994371"/>
                  <a:ext cx="2653810" cy="2808000"/>
                </a:xfrm>
                <a:prstGeom prst="rect">
                  <a:avLst/>
                </a:prstGeom>
                <a:ln>
                  <a:noFill/>
                </a:ln>
              </p:spPr>
            </p:pic>
          </p:grpSp>
          <p:pic>
            <p:nvPicPr>
              <p:cNvPr id="26" name="Picture 25">
                <a:extLst>
                  <a:ext uri="{FF2B5EF4-FFF2-40B4-BE49-F238E27FC236}">
                    <a16:creationId xmlns:a16="http://schemas.microsoft.com/office/drawing/2014/main" id="{C42F248F-7124-2E50-798A-24413EC76BD8}"/>
                  </a:ext>
                </a:extLst>
              </p:cNvPr>
              <p:cNvPicPr>
                <a:picLocks noChangeAspect="1"/>
              </p:cNvPicPr>
              <p:nvPr/>
            </p:nvPicPr>
            <p:blipFill>
              <a:blip r:embed="rId5"/>
              <a:srcRect l="75206"/>
              <a:stretch>
                <a:fillRect/>
              </a:stretch>
            </p:blipFill>
            <p:spPr>
              <a:xfrm>
                <a:off x="8059732" y="993511"/>
                <a:ext cx="882041" cy="2808000"/>
              </a:xfrm>
              <a:prstGeom prst="rect">
                <a:avLst/>
              </a:prstGeom>
            </p:spPr>
          </p:pic>
        </p:grpSp>
        <p:sp>
          <p:nvSpPr>
            <p:cNvPr id="32" name="TextBox 31">
              <a:extLst>
                <a:ext uri="{FF2B5EF4-FFF2-40B4-BE49-F238E27FC236}">
                  <a16:creationId xmlns:a16="http://schemas.microsoft.com/office/drawing/2014/main" id="{95562B50-6C9A-2157-8C73-B1E410A73D6E}"/>
                </a:ext>
              </a:extLst>
            </p:cNvPr>
            <p:cNvSpPr txBox="1"/>
            <p:nvPr/>
          </p:nvSpPr>
          <p:spPr>
            <a:xfrm>
              <a:off x="136462" y="3976180"/>
              <a:ext cx="8871076" cy="215444"/>
            </a:xfrm>
            <a:prstGeom prst="rect">
              <a:avLst/>
            </a:prstGeom>
            <a:noFill/>
          </p:spPr>
          <p:txBody>
            <a:bodyPr wrap="square">
              <a:spAutoFit/>
            </a:bodyPr>
            <a:lstStyle/>
            <a:p>
              <a:pPr algn="ctr"/>
              <a:r>
                <a:rPr lang="en-GB" sz="800" dirty="0"/>
                <a:t>Figure 5: </a:t>
              </a:r>
              <a:r>
                <a:rPr lang="en-US" sz="800" dirty="0"/>
                <a:t>Transformation pipeline output examples applied to three profession-conditioned images, illustrating controlled feature ablation across multiple representation domains. </a:t>
              </a:r>
              <a:endParaRPr sz="800" dirty="0"/>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79093-3842-5213-4CB3-D7226450EF94}"/>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BDF58F9A-D44E-542D-EEDC-4A32180C72B9}"/>
              </a:ext>
            </a:extLst>
          </p:cNvPr>
          <p:cNvSpPr/>
          <p:nvPr/>
        </p:nvSpPr>
        <p:spPr>
          <a:xfrm>
            <a:off x="0" y="0"/>
            <a:ext cx="9144000" cy="713232"/>
          </a:xfrm>
          <a:prstGeom prst="rect">
            <a:avLst/>
          </a:prstGeom>
          <a:solidFill>
            <a:srgbClr val="1B3A5C"/>
          </a:solidFill>
          <a:ln w="12700">
            <a:solidFill>
              <a:srgbClr val="1B3A5C"/>
            </a:solidFill>
            <a:prstDash val="solid"/>
          </a:ln>
        </p:spPr>
        <p:txBody>
          <a:bodyPr/>
          <a:lstStyle/>
          <a:p>
            <a:endParaRPr lang="en-MT"/>
          </a:p>
        </p:txBody>
      </p:sp>
      <p:sp>
        <p:nvSpPr>
          <p:cNvPr id="9" name="Text 1">
            <a:extLst>
              <a:ext uri="{FF2B5EF4-FFF2-40B4-BE49-F238E27FC236}">
                <a16:creationId xmlns:a16="http://schemas.microsoft.com/office/drawing/2014/main" id="{2F5F858B-D082-DAA7-32E5-AD806EDC9256}"/>
              </a:ext>
            </a:extLst>
          </p:cNvPr>
          <p:cNvSpPr/>
          <p:nvPr/>
        </p:nvSpPr>
        <p:spPr>
          <a:xfrm>
            <a:off x="411480" y="0"/>
            <a:ext cx="8321040" cy="713232"/>
          </a:xfrm>
          <a:prstGeom prst="rect">
            <a:avLst/>
          </a:prstGeom>
          <a:noFill/>
          <a:ln/>
        </p:spPr>
        <p:txBody>
          <a:bodyPr wrap="square" rtlCol="0" anchor="ctr"/>
          <a:lstStyle/>
          <a:p>
            <a:r>
              <a:rPr lang="en-US" sz="1400" b="1" dirty="0">
                <a:solidFill>
                  <a:srgbClr val="FFFFFF"/>
                </a:solidFill>
                <a:latin typeface="Georgia" pitchFamily="34" charset="0"/>
                <a:ea typeface="Georgia" pitchFamily="34" charset="-122"/>
                <a:cs typeface="Georgia" pitchFamily="34" charset="-120"/>
              </a:rPr>
              <a:t>METHODOLOGY  ·  </a:t>
            </a:r>
            <a:r>
              <a:rPr lang="en-US" sz="1400" b="1" dirty="0">
                <a:solidFill>
                  <a:srgbClr val="FFFFFF"/>
                </a:solidFill>
                <a:latin typeface="Calibri" pitchFamily="34" charset="0"/>
                <a:ea typeface="Calibri" pitchFamily="34" charset="-122"/>
                <a:cs typeface="Calibri" pitchFamily="34" charset="-120"/>
              </a:rPr>
              <a:t>TRANSFORMATION FIGURES (2/2)</a:t>
            </a:r>
            <a:endParaRPr lang="en-US" sz="1400" dirty="0"/>
          </a:p>
        </p:txBody>
      </p:sp>
      <p:grpSp>
        <p:nvGrpSpPr>
          <p:cNvPr id="4" name="Group 3">
            <a:extLst>
              <a:ext uri="{FF2B5EF4-FFF2-40B4-BE49-F238E27FC236}">
                <a16:creationId xmlns:a16="http://schemas.microsoft.com/office/drawing/2014/main" id="{059C66CC-93A1-30FA-FDF1-0041F614A3BC}"/>
              </a:ext>
            </a:extLst>
          </p:cNvPr>
          <p:cNvGrpSpPr/>
          <p:nvPr/>
        </p:nvGrpSpPr>
        <p:grpSpPr>
          <a:xfrm>
            <a:off x="580204" y="1167319"/>
            <a:ext cx="8043095" cy="3024305"/>
            <a:chOff x="580204" y="1167319"/>
            <a:chExt cx="8043095" cy="3024305"/>
          </a:xfrm>
        </p:grpSpPr>
        <p:grpSp>
          <p:nvGrpSpPr>
            <p:cNvPr id="2" name="Group 1">
              <a:extLst>
                <a:ext uri="{FF2B5EF4-FFF2-40B4-BE49-F238E27FC236}">
                  <a16:creationId xmlns:a16="http://schemas.microsoft.com/office/drawing/2014/main" id="{AF0A1606-C8D2-1839-A645-A16041D28D55}"/>
                </a:ext>
              </a:extLst>
            </p:cNvPr>
            <p:cNvGrpSpPr/>
            <p:nvPr/>
          </p:nvGrpSpPr>
          <p:grpSpPr>
            <a:xfrm>
              <a:off x="580204" y="1167319"/>
              <a:ext cx="7983592" cy="2808861"/>
              <a:chOff x="0" y="995233"/>
              <a:chExt cx="7983592" cy="2808861"/>
            </a:xfrm>
          </p:grpSpPr>
          <p:pic>
            <p:nvPicPr>
              <p:cNvPr id="13" name="Picture 12">
                <a:extLst>
                  <a:ext uri="{FF2B5EF4-FFF2-40B4-BE49-F238E27FC236}">
                    <a16:creationId xmlns:a16="http://schemas.microsoft.com/office/drawing/2014/main" id="{EC8F6CF9-86D5-895F-C03B-C704A16CDE54}"/>
                  </a:ext>
                </a:extLst>
              </p:cNvPr>
              <p:cNvPicPr>
                <a:picLocks noChangeAspect="1"/>
              </p:cNvPicPr>
              <p:nvPr/>
            </p:nvPicPr>
            <p:blipFill>
              <a:blip r:embed="rId2"/>
              <a:srcRect/>
              <a:stretch/>
            </p:blipFill>
            <p:spPr>
              <a:xfrm>
                <a:off x="0" y="995233"/>
                <a:ext cx="4430402" cy="2808000"/>
              </a:xfrm>
              <a:prstGeom prst="rect">
                <a:avLst/>
              </a:prstGeom>
              <a:ln>
                <a:noFill/>
              </a:ln>
            </p:spPr>
          </p:pic>
          <p:pic>
            <p:nvPicPr>
              <p:cNvPr id="21" name="Picture 20">
                <a:extLst>
                  <a:ext uri="{FF2B5EF4-FFF2-40B4-BE49-F238E27FC236}">
                    <a16:creationId xmlns:a16="http://schemas.microsoft.com/office/drawing/2014/main" id="{C9318B45-5665-8D9F-68CF-3BAF38743BE0}"/>
                  </a:ext>
                </a:extLst>
              </p:cNvPr>
              <p:cNvPicPr>
                <a:picLocks noChangeAspect="1"/>
              </p:cNvPicPr>
              <p:nvPr/>
            </p:nvPicPr>
            <p:blipFill>
              <a:blip r:embed="rId3"/>
              <a:srcRect l="33544"/>
              <a:stretch>
                <a:fillRect/>
              </a:stretch>
            </p:blipFill>
            <p:spPr>
              <a:xfrm>
                <a:off x="4442282" y="996094"/>
                <a:ext cx="1771196" cy="2808000"/>
              </a:xfrm>
              <a:prstGeom prst="rect">
                <a:avLst/>
              </a:prstGeom>
            </p:spPr>
          </p:pic>
          <p:pic>
            <p:nvPicPr>
              <p:cNvPr id="22" name="Picture 21">
                <a:extLst>
                  <a:ext uri="{FF2B5EF4-FFF2-40B4-BE49-F238E27FC236}">
                    <a16:creationId xmlns:a16="http://schemas.microsoft.com/office/drawing/2014/main" id="{A26A9A66-4ECB-0509-7039-16EDB738D74D}"/>
                  </a:ext>
                </a:extLst>
              </p:cNvPr>
              <p:cNvPicPr>
                <a:picLocks noChangeAspect="1"/>
              </p:cNvPicPr>
              <p:nvPr/>
            </p:nvPicPr>
            <p:blipFill>
              <a:blip r:embed="rId4"/>
              <a:srcRect l="25049" r="25165"/>
              <a:stretch>
                <a:fillRect/>
              </a:stretch>
            </p:blipFill>
            <p:spPr>
              <a:xfrm>
                <a:off x="6212396" y="996094"/>
                <a:ext cx="1771196" cy="2808000"/>
              </a:xfrm>
              <a:prstGeom prst="rect">
                <a:avLst/>
              </a:prstGeom>
            </p:spPr>
          </p:pic>
        </p:grpSp>
        <p:sp>
          <p:nvSpPr>
            <p:cNvPr id="3" name="TextBox 2">
              <a:extLst>
                <a:ext uri="{FF2B5EF4-FFF2-40B4-BE49-F238E27FC236}">
                  <a16:creationId xmlns:a16="http://schemas.microsoft.com/office/drawing/2014/main" id="{3C768541-9BC3-E5C5-2491-9DE481E51BA6}"/>
                </a:ext>
              </a:extLst>
            </p:cNvPr>
            <p:cNvSpPr txBox="1"/>
            <p:nvPr/>
          </p:nvSpPr>
          <p:spPr>
            <a:xfrm>
              <a:off x="580204" y="3976180"/>
              <a:ext cx="8043095" cy="215444"/>
            </a:xfrm>
            <a:prstGeom prst="rect">
              <a:avLst/>
            </a:prstGeom>
            <a:noFill/>
          </p:spPr>
          <p:txBody>
            <a:bodyPr wrap="square">
              <a:spAutoFit/>
            </a:bodyPr>
            <a:lstStyle/>
            <a:p>
              <a:r>
                <a:rPr lang="en-US" sz="800" dirty="0"/>
                <a:t>Figure 6: Additional transformation pipeline output examples applied to three profession-conditioned images, illustrating controlled feature ablation across multiple representation domains. </a:t>
              </a:r>
            </a:p>
          </p:txBody>
        </p:sp>
      </p:grpSp>
    </p:spTree>
    <p:extLst>
      <p:ext uri="{BB962C8B-B14F-4D97-AF65-F5344CB8AC3E}">
        <p14:creationId xmlns:p14="http://schemas.microsoft.com/office/powerpoint/2010/main" val="15717939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7F4EE"/>
        </a:solidFill>
        <a:effectLst/>
      </p:bgPr>
    </p:bg>
    <p:spTree>
      <p:nvGrpSpPr>
        <p:cNvPr id="1" name=""/>
        <p:cNvGrpSpPr/>
        <p:nvPr/>
      </p:nvGrpSpPr>
      <p:grpSpPr>
        <a:xfrm>
          <a:off x="0" y="0"/>
          <a:ext cx="0" cy="0"/>
          <a:chOff x="0" y="0"/>
          <a:chExt cx="0" cy="0"/>
        </a:xfrm>
      </p:grpSpPr>
      <p:grpSp>
        <p:nvGrpSpPr>
          <p:cNvPr id="68" name="Group 67">
            <a:extLst>
              <a:ext uri="{FF2B5EF4-FFF2-40B4-BE49-F238E27FC236}">
                <a16:creationId xmlns:a16="http://schemas.microsoft.com/office/drawing/2014/main" id="{DEC31405-B6E4-7D0A-3817-CF6A4E446295}"/>
              </a:ext>
            </a:extLst>
          </p:cNvPr>
          <p:cNvGrpSpPr/>
          <p:nvPr/>
        </p:nvGrpSpPr>
        <p:grpSpPr>
          <a:xfrm>
            <a:off x="0" y="0"/>
            <a:ext cx="9144000" cy="713232"/>
            <a:chOff x="0" y="0"/>
            <a:chExt cx="9144000" cy="713232"/>
          </a:xfrm>
        </p:grpSpPr>
        <p:sp>
          <p:nvSpPr>
            <p:cNvPr id="2" name="Shape 0"/>
            <p:cNvSpPr/>
            <p:nvPr/>
          </p:nvSpPr>
          <p:spPr>
            <a:xfrm>
              <a:off x="0" y="0"/>
              <a:ext cx="9144000" cy="713232"/>
            </a:xfrm>
            <a:prstGeom prst="rect">
              <a:avLst/>
            </a:prstGeom>
            <a:solidFill>
              <a:srgbClr val="1B3A5C"/>
            </a:solidFill>
            <a:ln w="12700">
              <a:solidFill>
                <a:srgbClr val="1B3A5C"/>
              </a:solidFill>
              <a:prstDash val="solid"/>
            </a:ln>
          </p:spPr>
          <p:txBody>
            <a:bodyPr/>
            <a:lstStyle/>
            <a:p>
              <a:endParaRPr lang="en-MT"/>
            </a:p>
          </p:txBody>
        </p:sp>
        <p:sp>
          <p:nvSpPr>
            <p:cNvPr id="3" name="Text 1"/>
            <p:cNvSpPr/>
            <p:nvPr/>
          </p:nvSpPr>
          <p:spPr>
            <a:xfrm>
              <a:off x="411480" y="0"/>
              <a:ext cx="8321040" cy="713232"/>
            </a:xfrm>
            <a:prstGeom prst="rect">
              <a:avLst/>
            </a:prstGeom>
            <a:noFill/>
            <a:ln/>
          </p:spPr>
          <p:txBody>
            <a:bodyPr wrap="square"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EVALUATION  ·  DEMOGRAPHIC DISTRIBUTIONS</a:t>
              </a:r>
              <a:endParaRPr lang="en-US" sz="1500" dirty="0"/>
            </a:p>
          </p:txBody>
        </p:sp>
      </p:grpSp>
      <p:grpSp>
        <p:nvGrpSpPr>
          <p:cNvPr id="65" name="Group 64">
            <a:extLst>
              <a:ext uri="{FF2B5EF4-FFF2-40B4-BE49-F238E27FC236}">
                <a16:creationId xmlns:a16="http://schemas.microsoft.com/office/drawing/2014/main" id="{910AFC64-4CBD-4D31-2D5C-30851F82BF3C}"/>
              </a:ext>
            </a:extLst>
          </p:cNvPr>
          <p:cNvGrpSpPr/>
          <p:nvPr/>
        </p:nvGrpSpPr>
        <p:grpSpPr>
          <a:xfrm>
            <a:off x="256032" y="822960"/>
            <a:ext cx="4206240" cy="3913632"/>
            <a:chOff x="256032" y="822960"/>
            <a:chExt cx="4206240" cy="3913632"/>
          </a:xfrm>
        </p:grpSpPr>
        <p:sp>
          <p:nvSpPr>
            <p:cNvPr id="4" name="Shape 2"/>
            <p:cNvSpPr/>
            <p:nvPr/>
          </p:nvSpPr>
          <p:spPr>
            <a:xfrm>
              <a:off x="256032" y="822960"/>
              <a:ext cx="4206240" cy="3913632"/>
            </a:xfrm>
            <a:prstGeom prst="rect">
              <a:avLst/>
            </a:prstGeom>
            <a:solidFill>
              <a:srgbClr val="FFFFFF"/>
            </a:solidFill>
            <a:ln w="12700">
              <a:solidFill>
                <a:srgbClr val="E8E4DC"/>
              </a:solidFill>
              <a:prstDash val="solid"/>
            </a:ln>
            <a:effectLst>
              <a:outerShdw blurRad="63500" dist="25400" dir="8100000" algn="bl" rotWithShape="0">
                <a:srgbClr val="000000">
                  <a:alpha val="10000"/>
                </a:srgbClr>
              </a:outerShdw>
            </a:effectLst>
          </p:spPr>
          <p:txBody>
            <a:bodyPr/>
            <a:lstStyle/>
            <a:p>
              <a:endParaRPr lang="en-MT"/>
            </a:p>
          </p:txBody>
        </p:sp>
        <p:sp>
          <p:nvSpPr>
            <p:cNvPr id="5" name="Shape 3"/>
            <p:cNvSpPr/>
            <p:nvPr/>
          </p:nvSpPr>
          <p:spPr>
            <a:xfrm>
              <a:off x="256032" y="822960"/>
              <a:ext cx="4206240" cy="64008"/>
            </a:xfrm>
            <a:prstGeom prst="rect">
              <a:avLst/>
            </a:prstGeom>
            <a:solidFill>
              <a:srgbClr val="0D7A8A"/>
            </a:solidFill>
            <a:ln w="12700">
              <a:solidFill>
                <a:srgbClr val="0D7A8A"/>
              </a:solidFill>
              <a:prstDash val="solid"/>
            </a:ln>
          </p:spPr>
          <p:txBody>
            <a:bodyPr/>
            <a:lstStyle/>
            <a:p>
              <a:endParaRPr lang="en-MT"/>
            </a:p>
          </p:txBody>
        </p:sp>
        <p:sp>
          <p:nvSpPr>
            <p:cNvPr id="6" name="Text 4"/>
            <p:cNvSpPr/>
            <p:nvPr/>
          </p:nvSpPr>
          <p:spPr>
            <a:xfrm>
              <a:off x="365760" y="914400"/>
              <a:ext cx="3986784" cy="201168"/>
            </a:xfrm>
            <a:prstGeom prst="rect">
              <a:avLst/>
            </a:prstGeom>
            <a:noFill/>
            <a:ln/>
          </p:spPr>
          <p:txBody>
            <a:bodyPr wrap="square" rtlCol="0" anchor="ctr"/>
            <a:lstStyle/>
            <a:p>
              <a:pPr marL="0" indent="0">
                <a:buNone/>
              </a:pPr>
              <a:r>
                <a:rPr lang="en-US" sz="750" b="1" kern="0" spc="100" dirty="0">
                  <a:solidFill>
                    <a:srgbClr val="0D7A8A"/>
                  </a:solidFill>
                  <a:latin typeface="Calibri" pitchFamily="34" charset="0"/>
                  <a:ea typeface="Calibri" pitchFamily="34" charset="-122"/>
                  <a:cs typeface="Calibri" pitchFamily="34" charset="-120"/>
                </a:rPr>
                <a:t>GENDER DISTRIBUTION  ·  200 PROFESSIONS  ·  200,000 IMAGES EACH</a:t>
              </a:r>
              <a:endParaRPr lang="en-US" sz="750" dirty="0"/>
            </a:p>
          </p:txBody>
        </p:sp>
        <p:sp>
          <p:nvSpPr>
            <p:cNvPr id="7" name="Shape 5"/>
            <p:cNvSpPr/>
            <p:nvPr/>
          </p:nvSpPr>
          <p:spPr>
            <a:xfrm>
              <a:off x="329184" y="1170432"/>
              <a:ext cx="4059936" cy="438912"/>
            </a:xfrm>
            <a:prstGeom prst="rect">
              <a:avLst/>
            </a:prstGeom>
            <a:solidFill>
              <a:srgbClr val="EAF4F0"/>
            </a:solidFill>
            <a:ln w="12700">
              <a:solidFill>
                <a:srgbClr val="EAF4F0"/>
              </a:solidFill>
              <a:prstDash val="solid"/>
            </a:ln>
          </p:spPr>
          <p:txBody>
            <a:bodyPr/>
            <a:lstStyle/>
            <a:p>
              <a:endParaRPr lang="en-MT"/>
            </a:p>
          </p:txBody>
        </p:sp>
        <p:sp>
          <p:nvSpPr>
            <p:cNvPr id="8" name="Text 6"/>
            <p:cNvSpPr/>
            <p:nvPr/>
          </p:nvSpPr>
          <p:spPr>
            <a:xfrm>
              <a:off x="402336" y="1207008"/>
              <a:ext cx="1371600" cy="365760"/>
            </a:xfrm>
            <a:prstGeom prst="rect">
              <a:avLst/>
            </a:prstGeom>
            <a:noFill/>
            <a:ln/>
          </p:spPr>
          <p:txBody>
            <a:bodyPr wrap="square" rtlCol="0" anchor="ctr"/>
            <a:lstStyle/>
            <a:p>
              <a:pPr marL="0" indent="0">
                <a:buNone/>
              </a:pPr>
              <a:r>
                <a:rPr lang="en-US" sz="850" dirty="0">
                  <a:solidFill>
                    <a:srgbClr val="4A6274"/>
                  </a:solidFill>
                  <a:latin typeface="Calibri" pitchFamily="34" charset="0"/>
                  <a:ea typeface="Calibri" pitchFamily="34" charset="-122"/>
                  <a:cs typeface="Calibri" pitchFamily="34" charset="-120"/>
                </a:rPr>
                <a:t>Re-LAION-5B</a:t>
              </a:r>
              <a:endParaRPr lang="en-US" sz="850" dirty="0"/>
            </a:p>
          </p:txBody>
        </p:sp>
        <p:sp>
          <p:nvSpPr>
            <p:cNvPr id="9" name="Text 7"/>
            <p:cNvSpPr/>
            <p:nvPr/>
          </p:nvSpPr>
          <p:spPr>
            <a:xfrm>
              <a:off x="1792224" y="1207008"/>
              <a:ext cx="1280160" cy="365760"/>
            </a:xfrm>
            <a:prstGeom prst="rect">
              <a:avLst/>
            </a:prstGeom>
            <a:noFill/>
            <a:ln/>
          </p:spPr>
          <p:txBody>
            <a:bodyPr wrap="square" rtlCol="0" anchor="ctr"/>
            <a:lstStyle/>
            <a:p>
              <a:pPr marL="0" indent="0" algn="ctr">
                <a:buNone/>
              </a:pPr>
              <a:r>
                <a:rPr lang="en-US" sz="1000" b="1" dirty="0">
                  <a:solidFill>
                    <a:srgbClr val="0D6B5E"/>
                  </a:solidFill>
                  <a:latin typeface="Calibri" pitchFamily="34" charset="0"/>
                  <a:ea typeface="Calibri" pitchFamily="34" charset="-122"/>
                  <a:cs typeface="Calibri" pitchFamily="34" charset="-120"/>
                </a:rPr>
                <a:t>41.5% Female</a:t>
              </a:r>
              <a:endParaRPr lang="en-US" sz="1000" dirty="0"/>
            </a:p>
          </p:txBody>
        </p:sp>
        <p:sp>
          <p:nvSpPr>
            <p:cNvPr id="10" name="Text 8"/>
            <p:cNvSpPr/>
            <p:nvPr/>
          </p:nvSpPr>
          <p:spPr>
            <a:xfrm>
              <a:off x="3090672" y="1207008"/>
              <a:ext cx="1188720" cy="365760"/>
            </a:xfrm>
            <a:prstGeom prst="rect">
              <a:avLst/>
            </a:prstGeom>
            <a:noFill/>
            <a:ln/>
          </p:spPr>
          <p:txBody>
            <a:bodyPr wrap="square" rtlCol="0" anchor="ctr"/>
            <a:lstStyle/>
            <a:p>
              <a:pPr marL="0" indent="0" algn="ctr">
                <a:buNone/>
              </a:pPr>
              <a:r>
                <a:rPr lang="en-US" sz="1000" b="1" dirty="0">
                  <a:solidFill>
                    <a:srgbClr val="0D6B5E"/>
                  </a:solidFill>
                  <a:latin typeface="Calibri" pitchFamily="34" charset="0"/>
                  <a:ea typeface="Calibri" pitchFamily="34" charset="-122"/>
                  <a:cs typeface="Calibri" pitchFamily="34" charset="-120"/>
                </a:rPr>
                <a:t>58.5% Male</a:t>
              </a:r>
              <a:endParaRPr lang="en-US" sz="1000" dirty="0"/>
            </a:p>
          </p:txBody>
        </p:sp>
        <p:sp>
          <p:nvSpPr>
            <p:cNvPr id="11" name="Shape 9"/>
            <p:cNvSpPr/>
            <p:nvPr/>
          </p:nvSpPr>
          <p:spPr>
            <a:xfrm>
              <a:off x="329184" y="1645920"/>
              <a:ext cx="4059936" cy="438912"/>
            </a:xfrm>
            <a:prstGeom prst="rect">
              <a:avLst/>
            </a:prstGeom>
            <a:solidFill>
              <a:srgbClr val="FEE8D8"/>
            </a:solidFill>
            <a:ln w="12700">
              <a:solidFill>
                <a:srgbClr val="FEE8D8"/>
              </a:solidFill>
              <a:prstDash val="solid"/>
            </a:ln>
          </p:spPr>
          <p:txBody>
            <a:bodyPr/>
            <a:lstStyle/>
            <a:p>
              <a:endParaRPr lang="en-MT"/>
            </a:p>
          </p:txBody>
        </p:sp>
        <p:sp>
          <p:nvSpPr>
            <p:cNvPr id="12" name="Text 10"/>
            <p:cNvSpPr/>
            <p:nvPr/>
          </p:nvSpPr>
          <p:spPr>
            <a:xfrm>
              <a:off x="402336" y="1682496"/>
              <a:ext cx="1371600" cy="365760"/>
            </a:xfrm>
            <a:prstGeom prst="rect">
              <a:avLst/>
            </a:prstGeom>
            <a:noFill/>
            <a:ln/>
          </p:spPr>
          <p:txBody>
            <a:bodyPr wrap="square" rtlCol="0" anchor="ctr"/>
            <a:lstStyle/>
            <a:p>
              <a:pPr marL="0" indent="0">
                <a:buNone/>
              </a:pPr>
              <a:r>
                <a:rPr lang="en-US" sz="850" dirty="0">
                  <a:solidFill>
                    <a:srgbClr val="4A6274"/>
                  </a:solidFill>
                  <a:latin typeface="Calibri" pitchFamily="34" charset="0"/>
                  <a:ea typeface="Calibri" pitchFamily="34" charset="-122"/>
                  <a:cs typeface="Calibri" pitchFamily="34" charset="-120"/>
                </a:rPr>
                <a:t>Stable Diffusion v1.5</a:t>
              </a:r>
              <a:endParaRPr lang="en-US" sz="850" dirty="0"/>
            </a:p>
          </p:txBody>
        </p:sp>
        <p:sp>
          <p:nvSpPr>
            <p:cNvPr id="13" name="Text 11"/>
            <p:cNvSpPr/>
            <p:nvPr/>
          </p:nvSpPr>
          <p:spPr>
            <a:xfrm>
              <a:off x="1792224" y="1682496"/>
              <a:ext cx="1280160" cy="365760"/>
            </a:xfrm>
            <a:prstGeom prst="rect">
              <a:avLst/>
            </a:prstGeom>
            <a:noFill/>
            <a:ln/>
          </p:spPr>
          <p:txBody>
            <a:bodyPr wrap="square" rtlCol="0" anchor="ctr"/>
            <a:lstStyle/>
            <a:p>
              <a:pPr marL="0" indent="0" algn="ctr">
                <a:buNone/>
              </a:pPr>
              <a:r>
                <a:rPr lang="en-US" sz="1000" b="1" dirty="0">
                  <a:solidFill>
                    <a:srgbClr val="8B3000"/>
                  </a:solidFill>
                  <a:latin typeface="Calibri" pitchFamily="34" charset="0"/>
                  <a:ea typeface="Calibri" pitchFamily="34" charset="-122"/>
                  <a:cs typeface="Calibri" pitchFamily="34" charset="-120"/>
                </a:rPr>
                <a:t>29.0% Female</a:t>
              </a:r>
              <a:endParaRPr lang="en-US" sz="1000" dirty="0"/>
            </a:p>
          </p:txBody>
        </p:sp>
        <p:sp>
          <p:nvSpPr>
            <p:cNvPr id="14" name="Text 12"/>
            <p:cNvSpPr/>
            <p:nvPr/>
          </p:nvSpPr>
          <p:spPr>
            <a:xfrm>
              <a:off x="3090672" y="1682496"/>
              <a:ext cx="1188720" cy="365760"/>
            </a:xfrm>
            <a:prstGeom prst="rect">
              <a:avLst/>
            </a:prstGeom>
            <a:noFill/>
            <a:ln/>
          </p:spPr>
          <p:txBody>
            <a:bodyPr wrap="square" rtlCol="0" anchor="ctr"/>
            <a:lstStyle/>
            <a:p>
              <a:pPr marL="0" indent="0" algn="ctr">
                <a:buNone/>
              </a:pPr>
              <a:r>
                <a:rPr lang="en-US" sz="1000" b="1" dirty="0">
                  <a:solidFill>
                    <a:srgbClr val="8B3000"/>
                  </a:solidFill>
                  <a:latin typeface="Calibri" pitchFamily="34" charset="0"/>
                  <a:ea typeface="Calibri" pitchFamily="34" charset="-122"/>
                  <a:cs typeface="Calibri" pitchFamily="34" charset="-120"/>
                </a:rPr>
                <a:t>71.0% Male</a:t>
              </a:r>
              <a:endParaRPr lang="en-US" sz="1000" dirty="0"/>
            </a:p>
          </p:txBody>
        </p:sp>
        <p:sp>
          <p:nvSpPr>
            <p:cNvPr id="15" name="Shape 13"/>
            <p:cNvSpPr/>
            <p:nvPr/>
          </p:nvSpPr>
          <p:spPr>
            <a:xfrm>
              <a:off x="329184" y="2121408"/>
              <a:ext cx="4059936" cy="438912"/>
            </a:xfrm>
            <a:prstGeom prst="rect">
              <a:avLst/>
            </a:prstGeom>
            <a:solidFill>
              <a:srgbClr val="F4F2EC"/>
            </a:solidFill>
            <a:ln w="12700">
              <a:solidFill>
                <a:srgbClr val="F4F2EC"/>
              </a:solidFill>
              <a:prstDash val="solid"/>
            </a:ln>
          </p:spPr>
          <p:txBody>
            <a:bodyPr/>
            <a:lstStyle/>
            <a:p>
              <a:endParaRPr lang="en-MT"/>
            </a:p>
          </p:txBody>
        </p:sp>
        <p:sp>
          <p:nvSpPr>
            <p:cNvPr id="16" name="Text 14"/>
            <p:cNvSpPr/>
            <p:nvPr/>
          </p:nvSpPr>
          <p:spPr>
            <a:xfrm>
              <a:off x="402336" y="2157984"/>
              <a:ext cx="1371600" cy="365760"/>
            </a:xfrm>
            <a:prstGeom prst="rect">
              <a:avLst/>
            </a:prstGeom>
            <a:noFill/>
            <a:ln/>
          </p:spPr>
          <p:txBody>
            <a:bodyPr wrap="square" rtlCol="0" anchor="ctr"/>
            <a:lstStyle/>
            <a:p>
              <a:pPr marL="0" indent="0">
                <a:buNone/>
              </a:pPr>
              <a:r>
                <a:rPr lang="en-US" sz="850" dirty="0">
                  <a:solidFill>
                    <a:srgbClr val="4A6274"/>
                  </a:solidFill>
                  <a:latin typeface="Calibri" pitchFamily="34" charset="0"/>
                  <a:ea typeface="Calibri" pitchFamily="34" charset="-122"/>
                  <a:cs typeface="Calibri" pitchFamily="34" charset="-120"/>
                </a:rPr>
                <a:t>Gap (F%)</a:t>
              </a:r>
              <a:endParaRPr lang="en-US" sz="850" dirty="0"/>
            </a:p>
          </p:txBody>
        </p:sp>
        <p:sp>
          <p:nvSpPr>
            <p:cNvPr id="17" name="Text 15"/>
            <p:cNvSpPr/>
            <p:nvPr/>
          </p:nvSpPr>
          <p:spPr>
            <a:xfrm>
              <a:off x="1792224" y="2157984"/>
              <a:ext cx="1280160" cy="365760"/>
            </a:xfrm>
            <a:prstGeom prst="rect">
              <a:avLst/>
            </a:prstGeom>
            <a:noFill/>
            <a:ln/>
          </p:spPr>
          <p:txBody>
            <a:bodyPr wrap="square" rtlCol="0" anchor="ctr"/>
            <a:lstStyle/>
            <a:p>
              <a:pPr marL="0" indent="0" algn="ctr">
                <a:buNone/>
              </a:pPr>
              <a:r>
                <a:rPr lang="en-US" sz="1000" b="1" dirty="0">
                  <a:solidFill>
                    <a:srgbClr val="4A6274"/>
                  </a:solidFill>
                  <a:latin typeface="Calibri" pitchFamily="34" charset="0"/>
                  <a:ea typeface="Calibri" pitchFamily="34" charset="-122"/>
                  <a:cs typeface="Calibri" pitchFamily="34" charset="-120"/>
                </a:rPr>
                <a:t>−12.5 pp</a:t>
              </a:r>
              <a:endParaRPr lang="en-US" sz="1000" dirty="0"/>
            </a:p>
          </p:txBody>
        </p:sp>
        <p:sp>
          <p:nvSpPr>
            <p:cNvPr id="18" name="Text 16"/>
            <p:cNvSpPr/>
            <p:nvPr/>
          </p:nvSpPr>
          <p:spPr>
            <a:xfrm>
              <a:off x="3090672" y="2157984"/>
              <a:ext cx="1188720" cy="365760"/>
            </a:xfrm>
            <a:prstGeom prst="rect">
              <a:avLst/>
            </a:prstGeom>
            <a:noFill/>
            <a:ln/>
          </p:spPr>
          <p:txBody>
            <a:bodyPr wrap="square" rtlCol="0" anchor="ctr"/>
            <a:lstStyle/>
            <a:p>
              <a:pPr marL="0" indent="0" algn="ctr">
                <a:buNone/>
              </a:pPr>
              <a:r>
                <a:rPr lang="en-US" sz="1000" b="1" dirty="0">
                  <a:solidFill>
                    <a:srgbClr val="4A6274"/>
                  </a:solidFill>
                  <a:latin typeface="Calibri" pitchFamily="34" charset="0"/>
                  <a:ea typeface="Calibri" pitchFamily="34" charset="-122"/>
                  <a:cs typeface="Calibri" pitchFamily="34" charset="-120"/>
                </a:rPr>
                <a:t>amplified by SDv1.5</a:t>
              </a:r>
              <a:endParaRPr lang="en-US" sz="1000" dirty="0"/>
            </a:p>
          </p:txBody>
        </p:sp>
        <p:sp>
          <p:nvSpPr>
            <p:cNvPr id="19" name="Text 17"/>
            <p:cNvSpPr/>
            <p:nvPr/>
          </p:nvSpPr>
          <p:spPr>
            <a:xfrm>
              <a:off x="365760" y="2615184"/>
              <a:ext cx="3986784" cy="201168"/>
            </a:xfrm>
            <a:prstGeom prst="rect">
              <a:avLst/>
            </a:prstGeom>
            <a:noFill/>
            <a:ln/>
          </p:spPr>
          <p:txBody>
            <a:bodyPr wrap="square" rtlCol="0" anchor="ctr"/>
            <a:lstStyle/>
            <a:p>
              <a:pPr marL="0" indent="0">
                <a:buNone/>
              </a:pPr>
              <a:r>
                <a:rPr lang="en-US" sz="850" b="1" dirty="0">
                  <a:solidFill>
                    <a:srgbClr val="4A6274"/>
                  </a:solidFill>
                  <a:latin typeface="Calibri" pitchFamily="34" charset="0"/>
                  <a:ea typeface="Calibri" pitchFamily="34" charset="-122"/>
                  <a:cs typeface="Calibri" pitchFamily="34" charset="-120"/>
                </a:rPr>
                <a:t>Top 5 most skewed professions — SDv1.5</a:t>
              </a:r>
              <a:endParaRPr lang="en-US" sz="850" dirty="0"/>
            </a:p>
          </p:txBody>
        </p:sp>
        <p:sp>
          <p:nvSpPr>
            <p:cNvPr id="20" name="Shape 18"/>
            <p:cNvSpPr/>
            <p:nvPr/>
          </p:nvSpPr>
          <p:spPr>
            <a:xfrm>
              <a:off x="329184" y="2834640"/>
              <a:ext cx="4059936" cy="256032"/>
            </a:xfrm>
            <a:prstGeom prst="rect">
              <a:avLst/>
            </a:prstGeom>
            <a:solidFill>
              <a:srgbClr val="F4F2EC"/>
            </a:solidFill>
            <a:ln w="12700">
              <a:solidFill>
                <a:srgbClr val="F4F2EC"/>
              </a:solidFill>
              <a:prstDash val="solid"/>
            </a:ln>
          </p:spPr>
          <p:txBody>
            <a:bodyPr/>
            <a:lstStyle/>
            <a:p>
              <a:endParaRPr lang="en-MT"/>
            </a:p>
          </p:txBody>
        </p:sp>
        <p:sp>
          <p:nvSpPr>
            <p:cNvPr id="21" name="Text 19"/>
            <p:cNvSpPr/>
            <p:nvPr/>
          </p:nvSpPr>
          <p:spPr>
            <a:xfrm>
              <a:off x="457200" y="2834640"/>
              <a:ext cx="2286000" cy="256032"/>
            </a:xfrm>
            <a:prstGeom prst="rect">
              <a:avLst/>
            </a:prstGeom>
            <a:noFill/>
            <a:ln/>
          </p:spPr>
          <p:txBody>
            <a:bodyPr wrap="square" rtlCol="0" anchor="ctr"/>
            <a:lstStyle/>
            <a:p>
              <a:pPr marL="0" indent="0">
                <a:buNone/>
              </a:pPr>
              <a:r>
                <a:rPr lang="en-US" sz="850" dirty="0">
                  <a:solidFill>
                    <a:srgbClr val="1C2B3A"/>
                  </a:solidFill>
                  <a:latin typeface="Calibri" pitchFamily="34" charset="0"/>
                  <a:ea typeface="Calibri" pitchFamily="34" charset="-122"/>
                  <a:cs typeface="Calibri" pitchFamily="34" charset="-120"/>
                </a:rPr>
                <a:t>Logger</a:t>
              </a:r>
              <a:endParaRPr lang="en-US" sz="850" dirty="0"/>
            </a:p>
          </p:txBody>
        </p:sp>
        <p:sp>
          <p:nvSpPr>
            <p:cNvPr id="22" name="Text 20"/>
            <p:cNvSpPr/>
            <p:nvPr/>
          </p:nvSpPr>
          <p:spPr>
            <a:xfrm>
              <a:off x="2743200" y="2834640"/>
              <a:ext cx="1554480" cy="256032"/>
            </a:xfrm>
            <a:prstGeom prst="rect">
              <a:avLst/>
            </a:prstGeom>
            <a:noFill/>
            <a:ln/>
          </p:spPr>
          <p:txBody>
            <a:bodyPr wrap="square" rtlCol="0" anchor="ctr"/>
            <a:lstStyle/>
            <a:p>
              <a:pPr marL="0" indent="0" algn="r">
                <a:buNone/>
              </a:pPr>
              <a:r>
                <a:rPr lang="en-US" sz="850" b="1" dirty="0">
                  <a:solidFill>
                    <a:srgbClr val="8B3000"/>
                  </a:solidFill>
                  <a:latin typeface="Calibri" pitchFamily="34" charset="0"/>
                  <a:ea typeface="Calibri" pitchFamily="34" charset="-122"/>
                  <a:cs typeface="Calibri" pitchFamily="34" charset="-120"/>
                </a:rPr>
                <a:t>97.5% M</a:t>
              </a:r>
              <a:endParaRPr lang="en-US" sz="850" dirty="0"/>
            </a:p>
          </p:txBody>
        </p:sp>
        <p:sp>
          <p:nvSpPr>
            <p:cNvPr id="23" name="Shape 21"/>
            <p:cNvSpPr/>
            <p:nvPr/>
          </p:nvSpPr>
          <p:spPr>
            <a:xfrm>
              <a:off x="329184" y="3108960"/>
              <a:ext cx="4059936" cy="256032"/>
            </a:xfrm>
            <a:prstGeom prst="rect">
              <a:avLst/>
            </a:prstGeom>
            <a:solidFill>
              <a:srgbClr val="FFFFFF"/>
            </a:solidFill>
            <a:ln w="12700">
              <a:solidFill>
                <a:srgbClr val="FFFFFF"/>
              </a:solidFill>
              <a:prstDash val="solid"/>
            </a:ln>
          </p:spPr>
          <p:txBody>
            <a:bodyPr/>
            <a:lstStyle/>
            <a:p>
              <a:endParaRPr lang="en-MT"/>
            </a:p>
          </p:txBody>
        </p:sp>
        <p:sp>
          <p:nvSpPr>
            <p:cNvPr id="24" name="Text 22"/>
            <p:cNvSpPr/>
            <p:nvPr/>
          </p:nvSpPr>
          <p:spPr>
            <a:xfrm>
              <a:off x="457200" y="3108960"/>
              <a:ext cx="2286000" cy="256032"/>
            </a:xfrm>
            <a:prstGeom prst="rect">
              <a:avLst/>
            </a:prstGeom>
            <a:noFill/>
            <a:ln/>
          </p:spPr>
          <p:txBody>
            <a:bodyPr wrap="square" rtlCol="0" anchor="ctr"/>
            <a:lstStyle/>
            <a:p>
              <a:pPr marL="0" indent="0">
                <a:buNone/>
              </a:pPr>
              <a:r>
                <a:rPr lang="en-US" sz="850" dirty="0">
                  <a:solidFill>
                    <a:srgbClr val="1C2B3A"/>
                  </a:solidFill>
                  <a:latin typeface="Calibri" pitchFamily="34" charset="0"/>
                  <a:ea typeface="Calibri" pitchFamily="34" charset="-122"/>
                  <a:cs typeface="Calibri" pitchFamily="34" charset="-120"/>
                </a:rPr>
                <a:t>Nurse</a:t>
              </a:r>
              <a:endParaRPr lang="en-US" sz="850" dirty="0"/>
            </a:p>
          </p:txBody>
        </p:sp>
        <p:sp>
          <p:nvSpPr>
            <p:cNvPr id="25" name="Text 23"/>
            <p:cNvSpPr/>
            <p:nvPr/>
          </p:nvSpPr>
          <p:spPr>
            <a:xfrm>
              <a:off x="2743200" y="3108960"/>
              <a:ext cx="1554480" cy="256032"/>
            </a:xfrm>
            <a:prstGeom prst="rect">
              <a:avLst/>
            </a:prstGeom>
            <a:noFill/>
            <a:ln/>
          </p:spPr>
          <p:txBody>
            <a:bodyPr wrap="square" rtlCol="0" anchor="ctr"/>
            <a:lstStyle/>
            <a:p>
              <a:pPr marL="0" indent="0" algn="r">
                <a:buNone/>
              </a:pPr>
              <a:r>
                <a:rPr lang="en-US" sz="850" b="1" dirty="0">
                  <a:solidFill>
                    <a:srgbClr val="8B3000"/>
                  </a:solidFill>
                  <a:latin typeface="Calibri" pitchFamily="34" charset="0"/>
                  <a:ea typeface="Calibri" pitchFamily="34" charset="-122"/>
                  <a:cs typeface="Calibri" pitchFamily="34" charset="-120"/>
                </a:rPr>
                <a:t>97.5% F</a:t>
              </a:r>
              <a:endParaRPr lang="en-US" sz="850" dirty="0"/>
            </a:p>
          </p:txBody>
        </p:sp>
        <p:sp>
          <p:nvSpPr>
            <p:cNvPr id="26" name="Shape 24"/>
            <p:cNvSpPr/>
            <p:nvPr/>
          </p:nvSpPr>
          <p:spPr>
            <a:xfrm>
              <a:off x="329184" y="3383280"/>
              <a:ext cx="4059936" cy="256032"/>
            </a:xfrm>
            <a:prstGeom prst="rect">
              <a:avLst/>
            </a:prstGeom>
            <a:solidFill>
              <a:srgbClr val="F4F2EC"/>
            </a:solidFill>
            <a:ln w="12700">
              <a:solidFill>
                <a:srgbClr val="F4F2EC"/>
              </a:solidFill>
              <a:prstDash val="solid"/>
            </a:ln>
          </p:spPr>
          <p:txBody>
            <a:bodyPr/>
            <a:lstStyle/>
            <a:p>
              <a:endParaRPr lang="en-MT"/>
            </a:p>
          </p:txBody>
        </p:sp>
        <p:sp>
          <p:nvSpPr>
            <p:cNvPr id="27" name="Text 25"/>
            <p:cNvSpPr/>
            <p:nvPr/>
          </p:nvSpPr>
          <p:spPr>
            <a:xfrm>
              <a:off x="457200" y="3383280"/>
              <a:ext cx="2286000" cy="256032"/>
            </a:xfrm>
            <a:prstGeom prst="rect">
              <a:avLst/>
            </a:prstGeom>
            <a:noFill/>
            <a:ln/>
          </p:spPr>
          <p:txBody>
            <a:bodyPr wrap="square" rtlCol="0" anchor="ctr"/>
            <a:lstStyle/>
            <a:p>
              <a:pPr marL="0" indent="0">
                <a:buNone/>
              </a:pPr>
              <a:r>
                <a:rPr lang="en-US" sz="850" dirty="0">
                  <a:solidFill>
                    <a:srgbClr val="1C2B3A"/>
                  </a:solidFill>
                  <a:latin typeface="Calibri" pitchFamily="34" charset="0"/>
                  <a:ea typeface="Calibri" pitchFamily="34" charset="-122"/>
                  <a:cs typeface="Calibri" pitchFamily="34" charset="-120"/>
                </a:rPr>
                <a:t>Receptionist</a:t>
              </a:r>
              <a:endParaRPr lang="en-US" sz="850" dirty="0"/>
            </a:p>
          </p:txBody>
        </p:sp>
        <p:sp>
          <p:nvSpPr>
            <p:cNvPr id="28" name="Text 26"/>
            <p:cNvSpPr/>
            <p:nvPr/>
          </p:nvSpPr>
          <p:spPr>
            <a:xfrm>
              <a:off x="2743200" y="3383280"/>
              <a:ext cx="1554480" cy="256032"/>
            </a:xfrm>
            <a:prstGeom prst="rect">
              <a:avLst/>
            </a:prstGeom>
            <a:noFill/>
            <a:ln/>
          </p:spPr>
          <p:txBody>
            <a:bodyPr wrap="square" rtlCol="0" anchor="ctr"/>
            <a:lstStyle/>
            <a:p>
              <a:pPr marL="0" indent="0" algn="r">
                <a:buNone/>
              </a:pPr>
              <a:r>
                <a:rPr lang="en-US" sz="850" b="1" dirty="0">
                  <a:solidFill>
                    <a:srgbClr val="8B3000"/>
                  </a:solidFill>
                  <a:latin typeface="Calibri" pitchFamily="34" charset="0"/>
                  <a:ea typeface="Calibri" pitchFamily="34" charset="-122"/>
                  <a:cs typeface="Calibri" pitchFamily="34" charset="-120"/>
                </a:rPr>
                <a:t>97.3% F</a:t>
              </a:r>
              <a:endParaRPr lang="en-US" sz="850" dirty="0"/>
            </a:p>
          </p:txBody>
        </p:sp>
        <p:sp>
          <p:nvSpPr>
            <p:cNvPr id="29" name="Shape 27"/>
            <p:cNvSpPr/>
            <p:nvPr/>
          </p:nvSpPr>
          <p:spPr>
            <a:xfrm>
              <a:off x="329184" y="3657600"/>
              <a:ext cx="4059936" cy="256032"/>
            </a:xfrm>
            <a:prstGeom prst="rect">
              <a:avLst/>
            </a:prstGeom>
            <a:solidFill>
              <a:srgbClr val="FFFFFF"/>
            </a:solidFill>
            <a:ln w="12700">
              <a:solidFill>
                <a:srgbClr val="FFFFFF"/>
              </a:solidFill>
              <a:prstDash val="solid"/>
            </a:ln>
          </p:spPr>
          <p:txBody>
            <a:bodyPr/>
            <a:lstStyle/>
            <a:p>
              <a:endParaRPr lang="en-MT"/>
            </a:p>
          </p:txBody>
        </p:sp>
        <p:sp>
          <p:nvSpPr>
            <p:cNvPr id="30" name="Text 28"/>
            <p:cNvSpPr/>
            <p:nvPr/>
          </p:nvSpPr>
          <p:spPr>
            <a:xfrm>
              <a:off x="457200" y="3657600"/>
              <a:ext cx="2286000" cy="256032"/>
            </a:xfrm>
            <a:prstGeom prst="rect">
              <a:avLst/>
            </a:prstGeom>
            <a:noFill/>
            <a:ln/>
          </p:spPr>
          <p:txBody>
            <a:bodyPr wrap="square" rtlCol="0" anchor="ctr"/>
            <a:lstStyle/>
            <a:p>
              <a:pPr marL="0" indent="0">
                <a:buNone/>
              </a:pPr>
              <a:r>
                <a:rPr lang="en-US" sz="850" dirty="0">
                  <a:solidFill>
                    <a:srgbClr val="1C2B3A"/>
                  </a:solidFill>
                  <a:latin typeface="Calibri" pitchFamily="34" charset="0"/>
                  <a:ea typeface="Calibri" pitchFamily="34" charset="-122"/>
                  <a:cs typeface="Calibri" pitchFamily="34" charset="-120"/>
                </a:rPr>
                <a:t>Farmer</a:t>
              </a:r>
              <a:endParaRPr lang="en-US" sz="850" dirty="0"/>
            </a:p>
          </p:txBody>
        </p:sp>
        <p:sp>
          <p:nvSpPr>
            <p:cNvPr id="31" name="Text 29"/>
            <p:cNvSpPr/>
            <p:nvPr/>
          </p:nvSpPr>
          <p:spPr>
            <a:xfrm>
              <a:off x="2743200" y="3657600"/>
              <a:ext cx="1554480" cy="256032"/>
            </a:xfrm>
            <a:prstGeom prst="rect">
              <a:avLst/>
            </a:prstGeom>
            <a:noFill/>
            <a:ln/>
          </p:spPr>
          <p:txBody>
            <a:bodyPr wrap="square" rtlCol="0" anchor="ctr"/>
            <a:lstStyle/>
            <a:p>
              <a:pPr marL="0" indent="0" algn="r">
                <a:buNone/>
              </a:pPr>
              <a:r>
                <a:rPr lang="en-US" sz="850" b="1" dirty="0">
                  <a:solidFill>
                    <a:srgbClr val="8B3000"/>
                  </a:solidFill>
                  <a:latin typeface="Calibri" pitchFamily="34" charset="0"/>
                  <a:ea typeface="Calibri" pitchFamily="34" charset="-122"/>
                  <a:cs typeface="Calibri" pitchFamily="34" charset="-120"/>
                </a:rPr>
                <a:t>97.0% M</a:t>
              </a:r>
              <a:endParaRPr lang="en-US" sz="850" dirty="0"/>
            </a:p>
          </p:txBody>
        </p:sp>
        <p:sp>
          <p:nvSpPr>
            <p:cNvPr id="32" name="Shape 30"/>
            <p:cNvSpPr/>
            <p:nvPr/>
          </p:nvSpPr>
          <p:spPr>
            <a:xfrm>
              <a:off x="329184" y="3931920"/>
              <a:ext cx="4059936" cy="256032"/>
            </a:xfrm>
            <a:prstGeom prst="rect">
              <a:avLst/>
            </a:prstGeom>
            <a:solidFill>
              <a:srgbClr val="F4F2EC"/>
            </a:solidFill>
            <a:ln w="12700">
              <a:solidFill>
                <a:srgbClr val="F4F2EC"/>
              </a:solidFill>
              <a:prstDash val="solid"/>
            </a:ln>
          </p:spPr>
          <p:txBody>
            <a:bodyPr/>
            <a:lstStyle/>
            <a:p>
              <a:endParaRPr lang="en-MT"/>
            </a:p>
          </p:txBody>
        </p:sp>
        <p:sp>
          <p:nvSpPr>
            <p:cNvPr id="33" name="Text 31"/>
            <p:cNvSpPr/>
            <p:nvPr/>
          </p:nvSpPr>
          <p:spPr>
            <a:xfrm>
              <a:off x="457200" y="3931920"/>
              <a:ext cx="2286000" cy="256032"/>
            </a:xfrm>
            <a:prstGeom prst="rect">
              <a:avLst/>
            </a:prstGeom>
            <a:noFill/>
            <a:ln/>
          </p:spPr>
          <p:txBody>
            <a:bodyPr wrap="square" rtlCol="0" anchor="ctr"/>
            <a:lstStyle/>
            <a:p>
              <a:pPr marL="0" indent="0">
                <a:buNone/>
              </a:pPr>
              <a:r>
                <a:rPr lang="en-US" sz="850" dirty="0">
                  <a:solidFill>
                    <a:srgbClr val="1C2B3A"/>
                  </a:solidFill>
                  <a:latin typeface="Calibri" pitchFamily="34" charset="0"/>
                  <a:ea typeface="Calibri" pitchFamily="34" charset="-122"/>
                  <a:cs typeface="Calibri" pitchFamily="34" charset="-120"/>
                </a:rPr>
                <a:t>Dietitian</a:t>
              </a:r>
              <a:endParaRPr lang="en-US" sz="850" dirty="0"/>
            </a:p>
          </p:txBody>
        </p:sp>
        <p:sp>
          <p:nvSpPr>
            <p:cNvPr id="34" name="Text 32"/>
            <p:cNvSpPr/>
            <p:nvPr/>
          </p:nvSpPr>
          <p:spPr>
            <a:xfrm>
              <a:off x="2743200" y="3931920"/>
              <a:ext cx="1554480" cy="256032"/>
            </a:xfrm>
            <a:prstGeom prst="rect">
              <a:avLst/>
            </a:prstGeom>
            <a:noFill/>
            <a:ln/>
          </p:spPr>
          <p:txBody>
            <a:bodyPr wrap="square" rtlCol="0" anchor="ctr"/>
            <a:lstStyle/>
            <a:p>
              <a:pPr marL="0" indent="0" algn="r">
                <a:buNone/>
              </a:pPr>
              <a:r>
                <a:rPr lang="en-US" sz="850" b="1" dirty="0">
                  <a:solidFill>
                    <a:srgbClr val="8B3000"/>
                  </a:solidFill>
                  <a:latin typeface="Calibri" pitchFamily="34" charset="0"/>
                  <a:ea typeface="Calibri" pitchFamily="34" charset="-122"/>
                  <a:cs typeface="Calibri" pitchFamily="34" charset="-120"/>
                </a:rPr>
                <a:t>96.9% F</a:t>
              </a:r>
              <a:endParaRPr lang="en-US" sz="850" dirty="0"/>
            </a:p>
          </p:txBody>
        </p:sp>
        <p:sp>
          <p:nvSpPr>
            <p:cNvPr id="35" name="Text 33"/>
            <p:cNvSpPr/>
            <p:nvPr/>
          </p:nvSpPr>
          <p:spPr>
            <a:xfrm>
              <a:off x="329184" y="4251960"/>
              <a:ext cx="4059936" cy="347472"/>
            </a:xfrm>
            <a:prstGeom prst="rect">
              <a:avLst/>
            </a:prstGeom>
            <a:noFill/>
            <a:ln/>
          </p:spPr>
          <p:txBody>
            <a:bodyPr wrap="square" rtlCol="0" anchor="ctr"/>
            <a:lstStyle/>
            <a:p>
              <a:pPr marL="0" indent="0">
                <a:lnSpc>
                  <a:spcPct val="120000"/>
                </a:lnSpc>
                <a:buNone/>
              </a:pPr>
              <a:r>
                <a:rPr lang="en-US" sz="800" i="1" dirty="0">
                  <a:solidFill>
                    <a:srgbClr val="4A6274"/>
                  </a:solidFill>
                  <a:latin typeface="Calibri" pitchFamily="34" charset="0"/>
                  <a:ea typeface="Calibri" pitchFamily="34" charset="-122"/>
                  <a:cs typeface="Calibri" pitchFamily="34" charset="-120"/>
                </a:rPr>
                <a:t>178 of 200 professions (89.0%) show greater skew in SDv1.5 than in Re-LAION-5B.  167 of 200 (83.5%) agree in skew direction.</a:t>
              </a:r>
              <a:endParaRPr lang="en-US" sz="800" dirty="0"/>
            </a:p>
          </p:txBody>
        </p:sp>
      </p:grpSp>
      <p:grpSp>
        <p:nvGrpSpPr>
          <p:cNvPr id="66" name="Group 65">
            <a:extLst>
              <a:ext uri="{FF2B5EF4-FFF2-40B4-BE49-F238E27FC236}">
                <a16:creationId xmlns:a16="http://schemas.microsoft.com/office/drawing/2014/main" id="{178890BC-D29E-652E-12CE-71A9EC58D18F}"/>
              </a:ext>
            </a:extLst>
          </p:cNvPr>
          <p:cNvGrpSpPr/>
          <p:nvPr/>
        </p:nvGrpSpPr>
        <p:grpSpPr>
          <a:xfrm>
            <a:off x="4681728" y="822960"/>
            <a:ext cx="4206240" cy="3921888"/>
            <a:chOff x="4681728" y="822960"/>
            <a:chExt cx="4206240" cy="3921888"/>
          </a:xfrm>
        </p:grpSpPr>
        <p:sp>
          <p:nvSpPr>
            <p:cNvPr id="36" name="Shape 34"/>
            <p:cNvSpPr/>
            <p:nvPr/>
          </p:nvSpPr>
          <p:spPr>
            <a:xfrm>
              <a:off x="4681728" y="831216"/>
              <a:ext cx="4206240" cy="3913632"/>
            </a:xfrm>
            <a:prstGeom prst="rect">
              <a:avLst/>
            </a:prstGeom>
            <a:solidFill>
              <a:srgbClr val="FFFFFF"/>
            </a:solidFill>
            <a:ln w="12700">
              <a:solidFill>
                <a:srgbClr val="E8E4DC"/>
              </a:solidFill>
              <a:prstDash val="solid"/>
            </a:ln>
            <a:effectLst>
              <a:outerShdw blurRad="63500" dist="25400" dir="8100000" algn="bl" rotWithShape="0">
                <a:srgbClr val="000000">
                  <a:alpha val="10000"/>
                </a:srgbClr>
              </a:outerShdw>
            </a:effectLst>
          </p:spPr>
          <p:txBody>
            <a:bodyPr/>
            <a:lstStyle/>
            <a:p>
              <a:endParaRPr lang="en-MT"/>
            </a:p>
          </p:txBody>
        </p:sp>
        <p:sp>
          <p:nvSpPr>
            <p:cNvPr id="37" name="Shape 35"/>
            <p:cNvSpPr/>
            <p:nvPr/>
          </p:nvSpPr>
          <p:spPr>
            <a:xfrm>
              <a:off x="4681728" y="822960"/>
              <a:ext cx="4206240" cy="64008"/>
            </a:xfrm>
            <a:prstGeom prst="rect">
              <a:avLst/>
            </a:prstGeom>
            <a:solidFill>
              <a:srgbClr val="C9A84C"/>
            </a:solidFill>
            <a:ln w="12700">
              <a:solidFill>
                <a:srgbClr val="C9A84C"/>
              </a:solidFill>
              <a:prstDash val="solid"/>
            </a:ln>
          </p:spPr>
          <p:txBody>
            <a:bodyPr/>
            <a:lstStyle/>
            <a:p>
              <a:endParaRPr lang="en-MT"/>
            </a:p>
          </p:txBody>
        </p:sp>
        <p:sp>
          <p:nvSpPr>
            <p:cNvPr id="38" name="Text 36"/>
            <p:cNvSpPr/>
            <p:nvPr/>
          </p:nvSpPr>
          <p:spPr>
            <a:xfrm>
              <a:off x="4791456" y="914400"/>
              <a:ext cx="3986784" cy="201168"/>
            </a:xfrm>
            <a:prstGeom prst="rect">
              <a:avLst/>
            </a:prstGeom>
            <a:noFill/>
            <a:ln/>
          </p:spPr>
          <p:txBody>
            <a:bodyPr wrap="square" rtlCol="0" anchor="ctr"/>
            <a:lstStyle/>
            <a:p>
              <a:pPr marL="0" indent="0">
                <a:buNone/>
              </a:pPr>
              <a:r>
                <a:rPr lang="en-US" sz="750" b="1" kern="0" spc="100" dirty="0">
                  <a:solidFill>
                    <a:srgbClr val="9A7D30"/>
                  </a:solidFill>
                  <a:latin typeface="Calibri" pitchFamily="34" charset="0"/>
                  <a:ea typeface="Calibri" pitchFamily="34" charset="-122"/>
                  <a:cs typeface="Calibri" pitchFamily="34" charset="-120"/>
                </a:rPr>
                <a:t>SKIN TONE DISTRIBUTION  ·  MST 1–10  ·  THREE-BIN GROUPING</a:t>
              </a:r>
              <a:endParaRPr lang="en-US" sz="750" dirty="0"/>
            </a:p>
          </p:txBody>
        </p:sp>
        <p:sp>
          <p:nvSpPr>
            <p:cNvPr id="39" name="Shape 37"/>
            <p:cNvSpPr/>
            <p:nvPr/>
          </p:nvSpPr>
          <p:spPr>
            <a:xfrm>
              <a:off x="4754880" y="1170432"/>
              <a:ext cx="4059936" cy="402336"/>
            </a:xfrm>
            <a:prstGeom prst="rect">
              <a:avLst/>
            </a:prstGeom>
            <a:solidFill>
              <a:srgbClr val="F4F2EC"/>
            </a:solidFill>
            <a:ln w="12700">
              <a:solidFill>
                <a:srgbClr val="F4F2EC"/>
              </a:solidFill>
              <a:prstDash val="solid"/>
            </a:ln>
          </p:spPr>
          <p:txBody>
            <a:bodyPr/>
            <a:lstStyle/>
            <a:p>
              <a:endParaRPr lang="en-MT"/>
            </a:p>
          </p:txBody>
        </p:sp>
        <p:sp>
          <p:nvSpPr>
            <p:cNvPr id="40" name="Text 38"/>
            <p:cNvSpPr/>
            <p:nvPr/>
          </p:nvSpPr>
          <p:spPr>
            <a:xfrm>
              <a:off x="4828032" y="1207008"/>
              <a:ext cx="1097280" cy="329184"/>
            </a:xfrm>
            <a:prstGeom prst="rect">
              <a:avLst/>
            </a:prstGeom>
            <a:noFill/>
            <a:ln/>
          </p:spPr>
          <p:txBody>
            <a:bodyPr wrap="square" rtlCol="0" anchor="ctr"/>
            <a:lstStyle/>
            <a:p>
              <a:pPr marL="0" indent="0">
                <a:buNone/>
              </a:pPr>
              <a:endParaRPr lang="en-US" sz="800" dirty="0"/>
            </a:p>
          </p:txBody>
        </p:sp>
        <p:sp>
          <p:nvSpPr>
            <p:cNvPr id="41" name="Text 39"/>
            <p:cNvSpPr/>
            <p:nvPr/>
          </p:nvSpPr>
          <p:spPr>
            <a:xfrm>
              <a:off x="5943600" y="1207008"/>
              <a:ext cx="950976" cy="329184"/>
            </a:xfrm>
            <a:prstGeom prst="rect">
              <a:avLst/>
            </a:prstGeom>
            <a:noFill/>
            <a:ln/>
          </p:spPr>
          <p:txBody>
            <a:bodyPr wrap="square" rtlCol="0" anchor="ctr"/>
            <a:lstStyle/>
            <a:p>
              <a:pPr marL="0" indent="0" algn="ctr">
                <a:buNone/>
              </a:pPr>
              <a:r>
                <a:rPr lang="en-US" sz="800" dirty="0">
                  <a:solidFill>
                    <a:srgbClr val="4A6274"/>
                  </a:solidFill>
                  <a:latin typeface="Calibri" pitchFamily="34" charset="0"/>
                  <a:ea typeface="Calibri" pitchFamily="34" charset="-122"/>
                  <a:cs typeface="Calibri" pitchFamily="34" charset="-120"/>
                </a:rPr>
                <a:t>Light (1–3)</a:t>
              </a:r>
              <a:endParaRPr lang="en-US" sz="800" dirty="0"/>
            </a:p>
          </p:txBody>
        </p:sp>
        <p:sp>
          <p:nvSpPr>
            <p:cNvPr id="42" name="Text 40"/>
            <p:cNvSpPr/>
            <p:nvPr/>
          </p:nvSpPr>
          <p:spPr>
            <a:xfrm>
              <a:off x="6931152" y="1207008"/>
              <a:ext cx="950976" cy="329184"/>
            </a:xfrm>
            <a:prstGeom prst="rect">
              <a:avLst/>
            </a:prstGeom>
            <a:noFill/>
            <a:ln/>
          </p:spPr>
          <p:txBody>
            <a:bodyPr wrap="square" rtlCol="0" anchor="ctr"/>
            <a:lstStyle/>
            <a:p>
              <a:pPr marL="0" indent="0" algn="ctr">
                <a:buNone/>
              </a:pPr>
              <a:r>
                <a:rPr lang="en-US" sz="800" dirty="0">
                  <a:solidFill>
                    <a:srgbClr val="4A6274"/>
                  </a:solidFill>
                  <a:latin typeface="Calibri" pitchFamily="34" charset="0"/>
                  <a:ea typeface="Calibri" pitchFamily="34" charset="-122"/>
                  <a:cs typeface="Calibri" pitchFamily="34" charset="-120"/>
                </a:rPr>
                <a:t>Mid (4–7)</a:t>
              </a:r>
              <a:endParaRPr lang="en-US" sz="800" dirty="0"/>
            </a:p>
          </p:txBody>
        </p:sp>
        <p:sp>
          <p:nvSpPr>
            <p:cNvPr id="43" name="Text 41"/>
            <p:cNvSpPr/>
            <p:nvPr/>
          </p:nvSpPr>
          <p:spPr>
            <a:xfrm>
              <a:off x="7918704" y="1207008"/>
              <a:ext cx="950976" cy="329184"/>
            </a:xfrm>
            <a:prstGeom prst="rect">
              <a:avLst/>
            </a:prstGeom>
            <a:noFill/>
            <a:ln/>
          </p:spPr>
          <p:txBody>
            <a:bodyPr wrap="square" rtlCol="0" anchor="ctr"/>
            <a:lstStyle/>
            <a:p>
              <a:pPr marL="0" indent="0" algn="ctr">
                <a:buNone/>
              </a:pPr>
              <a:r>
                <a:rPr lang="en-US" sz="800" dirty="0">
                  <a:solidFill>
                    <a:srgbClr val="4A6274"/>
                  </a:solidFill>
                  <a:latin typeface="Calibri" pitchFamily="34" charset="0"/>
                  <a:ea typeface="Calibri" pitchFamily="34" charset="-122"/>
                  <a:cs typeface="Calibri" pitchFamily="34" charset="-120"/>
                </a:rPr>
                <a:t>Dark (8–10)</a:t>
              </a:r>
              <a:endParaRPr lang="en-US" sz="800" dirty="0"/>
            </a:p>
          </p:txBody>
        </p:sp>
        <p:sp>
          <p:nvSpPr>
            <p:cNvPr id="44" name="Shape 42"/>
            <p:cNvSpPr/>
            <p:nvPr/>
          </p:nvSpPr>
          <p:spPr>
            <a:xfrm>
              <a:off x="4754880" y="1609344"/>
              <a:ext cx="4059936" cy="402336"/>
            </a:xfrm>
            <a:prstGeom prst="rect">
              <a:avLst/>
            </a:prstGeom>
            <a:solidFill>
              <a:srgbClr val="EAF4F0"/>
            </a:solidFill>
            <a:ln w="12700">
              <a:solidFill>
                <a:srgbClr val="EAF4F0"/>
              </a:solidFill>
              <a:prstDash val="solid"/>
            </a:ln>
          </p:spPr>
          <p:txBody>
            <a:bodyPr/>
            <a:lstStyle/>
            <a:p>
              <a:endParaRPr lang="en-MT"/>
            </a:p>
          </p:txBody>
        </p:sp>
        <p:sp>
          <p:nvSpPr>
            <p:cNvPr id="45" name="Text 43"/>
            <p:cNvSpPr/>
            <p:nvPr/>
          </p:nvSpPr>
          <p:spPr>
            <a:xfrm>
              <a:off x="4828032" y="1645920"/>
              <a:ext cx="1097280" cy="329184"/>
            </a:xfrm>
            <a:prstGeom prst="rect">
              <a:avLst/>
            </a:prstGeom>
            <a:noFill/>
            <a:ln/>
          </p:spPr>
          <p:txBody>
            <a:bodyPr wrap="square" rtlCol="0" anchor="ctr"/>
            <a:lstStyle/>
            <a:p>
              <a:pPr marL="0" indent="0">
                <a:buNone/>
              </a:pPr>
              <a:r>
                <a:rPr lang="en-US" sz="850" dirty="0">
                  <a:solidFill>
                    <a:srgbClr val="1C2B3A"/>
                  </a:solidFill>
                  <a:latin typeface="Calibri" pitchFamily="34" charset="0"/>
                  <a:ea typeface="Calibri" pitchFamily="34" charset="-122"/>
                  <a:cs typeface="Calibri" pitchFamily="34" charset="-120"/>
                </a:rPr>
                <a:t>Re-LAION-5B</a:t>
              </a:r>
              <a:endParaRPr lang="en-US" sz="850" dirty="0"/>
            </a:p>
          </p:txBody>
        </p:sp>
        <p:sp>
          <p:nvSpPr>
            <p:cNvPr id="46" name="Text 44"/>
            <p:cNvSpPr/>
            <p:nvPr/>
          </p:nvSpPr>
          <p:spPr>
            <a:xfrm>
              <a:off x="5943600" y="1645920"/>
              <a:ext cx="950976" cy="329184"/>
            </a:xfrm>
            <a:prstGeom prst="rect">
              <a:avLst/>
            </a:prstGeom>
            <a:noFill/>
            <a:ln/>
          </p:spPr>
          <p:txBody>
            <a:bodyPr wrap="square" rtlCol="0" anchor="ctr"/>
            <a:lstStyle/>
            <a:p>
              <a:pPr marL="0" indent="0" algn="ctr">
                <a:buNone/>
              </a:pPr>
              <a:r>
                <a:rPr lang="en-US" sz="900" b="1" dirty="0">
                  <a:solidFill>
                    <a:srgbClr val="0D6B5E"/>
                  </a:solidFill>
                  <a:latin typeface="Calibri" pitchFamily="34" charset="0"/>
                  <a:ea typeface="Calibri" pitchFamily="34" charset="-122"/>
                  <a:cs typeface="Calibri" pitchFamily="34" charset="-120"/>
                </a:rPr>
                <a:t>12.45%</a:t>
              </a:r>
              <a:endParaRPr lang="en-US" sz="900" dirty="0"/>
            </a:p>
          </p:txBody>
        </p:sp>
        <p:sp>
          <p:nvSpPr>
            <p:cNvPr id="47" name="Text 45"/>
            <p:cNvSpPr/>
            <p:nvPr/>
          </p:nvSpPr>
          <p:spPr>
            <a:xfrm>
              <a:off x="6931152" y="1645920"/>
              <a:ext cx="950976" cy="329184"/>
            </a:xfrm>
            <a:prstGeom prst="rect">
              <a:avLst/>
            </a:prstGeom>
            <a:noFill/>
            <a:ln/>
          </p:spPr>
          <p:txBody>
            <a:bodyPr wrap="square" rtlCol="0" anchor="ctr"/>
            <a:lstStyle/>
            <a:p>
              <a:pPr marL="0" indent="0" algn="ctr">
                <a:buNone/>
              </a:pPr>
              <a:r>
                <a:rPr lang="en-US" sz="900" b="1" dirty="0">
                  <a:solidFill>
                    <a:srgbClr val="0D6B5E"/>
                  </a:solidFill>
                  <a:latin typeface="Calibri" pitchFamily="34" charset="0"/>
                  <a:ea typeface="Calibri" pitchFamily="34" charset="-122"/>
                  <a:cs typeface="Calibri" pitchFamily="34" charset="-120"/>
                </a:rPr>
                <a:t>86.74%</a:t>
              </a:r>
              <a:endParaRPr lang="en-US" sz="900" dirty="0"/>
            </a:p>
          </p:txBody>
        </p:sp>
        <p:sp>
          <p:nvSpPr>
            <p:cNvPr id="48" name="Text 46"/>
            <p:cNvSpPr/>
            <p:nvPr/>
          </p:nvSpPr>
          <p:spPr>
            <a:xfrm>
              <a:off x="7918704" y="1645920"/>
              <a:ext cx="950976" cy="329184"/>
            </a:xfrm>
            <a:prstGeom prst="rect">
              <a:avLst/>
            </a:prstGeom>
            <a:noFill/>
            <a:ln/>
          </p:spPr>
          <p:txBody>
            <a:bodyPr wrap="square" rtlCol="0" anchor="ctr"/>
            <a:lstStyle/>
            <a:p>
              <a:pPr marL="0" indent="0" algn="ctr">
                <a:buNone/>
              </a:pPr>
              <a:r>
                <a:rPr lang="en-US" sz="900" b="1" dirty="0">
                  <a:solidFill>
                    <a:srgbClr val="0D6B5E"/>
                  </a:solidFill>
                  <a:latin typeface="Calibri" pitchFamily="34" charset="0"/>
                  <a:ea typeface="Calibri" pitchFamily="34" charset="-122"/>
                  <a:cs typeface="Calibri" pitchFamily="34" charset="-120"/>
                </a:rPr>
                <a:t>0.81%</a:t>
              </a:r>
              <a:endParaRPr lang="en-US" sz="900" dirty="0"/>
            </a:p>
          </p:txBody>
        </p:sp>
        <p:sp>
          <p:nvSpPr>
            <p:cNvPr id="49" name="Shape 47"/>
            <p:cNvSpPr/>
            <p:nvPr/>
          </p:nvSpPr>
          <p:spPr>
            <a:xfrm>
              <a:off x="4754880" y="2048256"/>
              <a:ext cx="4059936" cy="402336"/>
            </a:xfrm>
            <a:prstGeom prst="rect">
              <a:avLst/>
            </a:prstGeom>
            <a:solidFill>
              <a:srgbClr val="FEE8D8"/>
            </a:solidFill>
            <a:ln w="12700">
              <a:solidFill>
                <a:srgbClr val="FEE8D8"/>
              </a:solidFill>
              <a:prstDash val="solid"/>
            </a:ln>
          </p:spPr>
          <p:txBody>
            <a:bodyPr/>
            <a:lstStyle/>
            <a:p>
              <a:endParaRPr lang="en-MT"/>
            </a:p>
          </p:txBody>
        </p:sp>
        <p:sp>
          <p:nvSpPr>
            <p:cNvPr id="50" name="Text 48"/>
            <p:cNvSpPr/>
            <p:nvPr/>
          </p:nvSpPr>
          <p:spPr>
            <a:xfrm>
              <a:off x="4828032" y="2084832"/>
              <a:ext cx="1097280" cy="329184"/>
            </a:xfrm>
            <a:prstGeom prst="rect">
              <a:avLst/>
            </a:prstGeom>
            <a:noFill/>
            <a:ln/>
          </p:spPr>
          <p:txBody>
            <a:bodyPr wrap="square" rtlCol="0" anchor="ctr"/>
            <a:lstStyle/>
            <a:p>
              <a:pPr marL="0" indent="0">
                <a:buNone/>
              </a:pPr>
              <a:r>
                <a:rPr lang="en-US" sz="850" dirty="0">
                  <a:solidFill>
                    <a:srgbClr val="1C2B3A"/>
                  </a:solidFill>
                  <a:latin typeface="Calibri" pitchFamily="34" charset="0"/>
                  <a:ea typeface="Calibri" pitchFamily="34" charset="-122"/>
                  <a:cs typeface="Calibri" pitchFamily="34" charset="-120"/>
                </a:rPr>
                <a:t>SDv1.5</a:t>
              </a:r>
              <a:endParaRPr lang="en-US" sz="850" dirty="0"/>
            </a:p>
          </p:txBody>
        </p:sp>
        <p:sp>
          <p:nvSpPr>
            <p:cNvPr id="51" name="Text 49"/>
            <p:cNvSpPr/>
            <p:nvPr/>
          </p:nvSpPr>
          <p:spPr>
            <a:xfrm>
              <a:off x="5943600" y="2084832"/>
              <a:ext cx="950976" cy="329184"/>
            </a:xfrm>
            <a:prstGeom prst="rect">
              <a:avLst/>
            </a:prstGeom>
            <a:noFill/>
            <a:ln/>
          </p:spPr>
          <p:txBody>
            <a:bodyPr wrap="square" rtlCol="0" anchor="ctr"/>
            <a:lstStyle/>
            <a:p>
              <a:pPr marL="0" indent="0" algn="ctr">
                <a:buNone/>
              </a:pPr>
              <a:r>
                <a:rPr lang="en-US" sz="900" b="1" dirty="0">
                  <a:solidFill>
                    <a:srgbClr val="8B3000"/>
                  </a:solidFill>
                  <a:latin typeface="Calibri" pitchFamily="34" charset="0"/>
                  <a:ea typeface="Calibri" pitchFamily="34" charset="-122"/>
                  <a:cs typeface="Calibri" pitchFamily="34" charset="-120"/>
                </a:rPr>
                <a:t>22.87%</a:t>
              </a:r>
              <a:endParaRPr lang="en-US" sz="900" dirty="0"/>
            </a:p>
          </p:txBody>
        </p:sp>
        <p:sp>
          <p:nvSpPr>
            <p:cNvPr id="52" name="Text 50"/>
            <p:cNvSpPr/>
            <p:nvPr/>
          </p:nvSpPr>
          <p:spPr>
            <a:xfrm>
              <a:off x="6931152" y="2084832"/>
              <a:ext cx="950976" cy="329184"/>
            </a:xfrm>
            <a:prstGeom prst="rect">
              <a:avLst/>
            </a:prstGeom>
            <a:noFill/>
            <a:ln/>
          </p:spPr>
          <p:txBody>
            <a:bodyPr wrap="square" rtlCol="0" anchor="ctr"/>
            <a:lstStyle/>
            <a:p>
              <a:pPr marL="0" indent="0" algn="ctr">
                <a:buNone/>
              </a:pPr>
              <a:r>
                <a:rPr lang="en-US" sz="900" b="1" dirty="0">
                  <a:solidFill>
                    <a:srgbClr val="8B3000"/>
                  </a:solidFill>
                  <a:latin typeface="Calibri" pitchFamily="34" charset="0"/>
                  <a:ea typeface="Calibri" pitchFamily="34" charset="-122"/>
                  <a:cs typeface="Calibri" pitchFamily="34" charset="-120"/>
                </a:rPr>
                <a:t>76.99%</a:t>
              </a:r>
              <a:endParaRPr lang="en-US" sz="900" dirty="0"/>
            </a:p>
          </p:txBody>
        </p:sp>
        <p:sp>
          <p:nvSpPr>
            <p:cNvPr id="53" name="Text 51"/>
            <p:cNvSpPr/>
            <p:nvPr/>
          </p:nvSpPr>
          <p:spPr>
            <a:xfrm>
              <a:off x="7918704" y="2084832"/>
              <a:ext cx="950976" cy="329184"/>
            </a:xfrm>
            <a:prstGeom prst="rect">
              <a:avLst/>
            </a:prstGeom>
            <a:noFill/>
            <a:ln/>
          </p:spPr>
          <p:txBody>
            <a:bodyPr wrap="square" rtlCol="0" anchor="ctr"/>
            <a:lstStyle/>
            <a:p>
              <a:pPr marL="0" indent="0" algn="ctr">
                <a:buNone/>
              </a:pPr>
              <a:r>
                <a:rPr lang="en-US" sz="900" b="1" dirty="0">
                  <a:solidFill>
                    <a:srgbClr val="8B3000"/>
                  </a:solidFill>
                  <a:latin typeface="Calibri" pitchFamily="34" charset="0"/>
                  <a:ea typeface="Calibri" pitchFamily="34" charset="-122"/>
                  <a:cs typeface="Calibri" pitchFamily="34" charset="-120"/>
                </a:rPr>
                <a:t>0.14%</a:t>
              </a:r>
              <a:endParaRPr lang="en-US" sz="900" dirty="0"/>
            </a:p>
          </p:txBody>
        </p:sp>
        <p:sp>
          <p:nvSpPr>
            <p:cNvPr id="54" name="Shape 52"/>
            <p:cNvSpPr/>
            <p:nvPr/>
          </p:nvSpPr>
          <p:spPr>
            <a:xfrm>
              <a:off x="4754880" y="2487168"/>
              <a:ext cx="4059936" cy="402336"/>
            </a:xfrm>
            <a:prstGeom prst="rect">
              <a:avLst/>
            </a:prstGeom>
            <a:solidFill>
              <a:srgbClr val="FFF8E8"/>
            </a:solidFill>
            <a:ln w="12700">
              <a:solidFill>
                <a:srgbClr val="FFF8E8"/>
              </a:solidFill>
              <a:prstDash val="solid"/>
            </a:ln>
          </p:spPr>
          <p:txBody>
            <a:bodyPr/>
            <a:lstStyle/>
            <a:p>
              <a:endParaRPr lang="en-MT"/>
            </a:p>
          </p:txBody>
        </p:sp>
        <p:sp>
          <p:nvSpPr>
            <p:cNvPr id="55" name="Text 53"/>
            <p:cNvSpPr/>
            <p:nvPr/>
          </p:nvSpPr>
          <p:spPr>
            <a:xfrm>
              <a:off x="4828032" y="2523744"/>
              <a:ext cx="1097280" cy="329184"/>
            </a:xfrm>
            <a:prstGeom prst="rect">
              <a:avLst/>
            </a:prstGeom>
            <a:noFill/>
            <a:ln/>
          </p:spPr>
          <p:txBody>
            <a:bodyPr wrap="square" rtlCol="0" anchor="ctr"/>
            <a:lstStyle/>
            <a:p>
              <a:pPr marL="0" indent="0">
                <a:buNone/>
              </a:pPr>
              <a:r>
                <a:rPr lang="en-US" sz="850" dirty="0">
                  <a:solidFill>
                    <a:srgbClr val="1C2B3A"/>
                  </a:solidFill>
                  <a:latin typeface="Calibri" pitchFamily="34" charset="0"/>
                  <a:ea typeface="Calibri" pitchFamily="34" charset="-122"/>
                  <a:cs typeface="Calibri" pitchFamily="34" charset="-120"/>
                </a:rPr>
                <a:t>Change</a:t>
              </a:r>
              <a:endParaRPr lang="en-US" sz="850" dirty="0"/>
            </a:p>
          </p:txBody>
        </p:sp>
        <p:sp>
          <p:nvSpPr>
            <p:cNvPr id="56" name="Text 54"/>
            <p:cNvSpPr/>
            <p:nvPr/>
          </p:nvSpPr>
          <p:spPr>
            <a:xfrm>
              <a:off x="5943600" y="2523744"/>
              <a:ext cx="950976" cy="329184"/>
            </a:xfrm>
            <a:prstGeom prst="rect">
              <a:avLst/>
            </a:prstGeom>
            <a:noFill/>
            <a:ln/>
          </p:spPr>
          <p:txBody>
            <a:bodyPr wrap="square" rtlCol="0" anchor="ctr"/>
            <a:lstStyle/>
            <a:p>
              <a:pPr marL="0" indent="0" algn="ctr">
                <a:buNone/>
              </a:pPr>
              <a:r>
                <a:rPr lang="en-US" sz="900" b="1" dirty="0">
                  <a:solidFill>
                    <a:srgbClr val="0D6B5E"/>
                  </a:solidFill>
                  <a:latin typeface="Calibri" pitchFamily="34" charset="0"/>
                  <a:ea typeface="Calibri" pitchFamily="34" charset="-122"/>
                  <a:cs typeface="Calibri" pitchFamily="34" charset="-120"/>
                </a:rPr>
                <a:t>+10.4 pp ↑</a:t>
              </a:r>
              <a:endParaRPr lang="en-US" sz="900" dirty="0"/>
            </a:p>
          </p:txBody>
        </p:sp>
        <p:sp>
          <p:nvSpPr>
            <p:cNvPr id="57" name="Text 55"/>
            <p:cNvSpPr/>
            <p:nvPr/>
          </p:nvSpPr>
          <p:spPr>
            <a:xfrm>
              <a:off x="6931152" y="2523744"/>
              <a:ext cx="950976" cy="329184"/>
            </a:xfrm>
            <a:prstGeom prst="rect">
              <a:avLst/>
            </a:prstGeom>
            <a:noFill/>
            <a:ln/>
          </p:spPr>
          <p:txBody>
            <a:bodyPr wrap="square" rtlCol="0" anchor="ctr"/>
            <a:lstStyle/>
            <a:p>
              <a:pPr marL="0" indent="0" algn="ctr">
                <a:buNone/>
              </a:pPr>
              <a:r>
                <a:rPr lang="en-US" sz="900" b="1" dirty="0">
                  <a:solidFill>
                    <a:srgbClr val="4A6274"/>
                  </a:solidFill>
                  <a:latin typeface="Calibri" pitchFamily="34" charset="0"/>
                  <a:ea typeface="Calibri" pitchFamily="34" charset="-122"/>
                  <a:cs typeface="Calibri" pitchFamily="34" charset="-120"/>
                </a:rPr>
                <a:t>−9.8 pp ↓</a:t>
              </a:r>
              <a:endParaRPr lang="en-US" sz="900" dirty="0"/>
            </a:p>
          </p:txBody>
        </p:sp>
        <p:sp>
          <p:nvSpPr>
            <p:cNvPr id="58" name="Text 56"/>
            <p:cNvSpPr/>
            <p:nvPr/>
          </p:nvSpPr>
          <p:spPr>
            <a:xfrm>
              <a:off x="7882128" y="2523744"/>
              <a:ext cx="987552" cy="329184"/>
            </a:xfrm>
            <a:prstGeom prst="rect">
              <a:avLst/>
            </a:prstGeom>
            <a:noFill/>
            <a:ln/>
          </p:spPr>
          <p:txBody>
            <a:bodyPr wrap="square" rtlCol="0" anchor="ctr"/>
            <a:lstStyle/>
            <a:p>
              <a:pPr marL="0" indent="0" algn="ctr">
                <a:buNone/>
              </a:pPr>
              <a:r>
                <a:rPr lang="en-US" sz="900" b="1" dirty="0">
                  <a:solidFill>
                    <a:srgbClr val="AA2200"/>
                  </a:solidFill>
                  <a:latin typeface="Calibri" pitchFamily="34" charset="0"/>
                  <a:ea typeface="Calibri" pitchFamily="34" charset="-122"/>
                  <a:cs typeface="Calibri" pitchFamily="34" charset="-120"/>
                </a:rPr>
                <a:t>−83% collapse ↓</a:t>
              </a:r>
              <a:endParaRPr lang="en-US" sz="900" dirty="0"/>
            </a:p>
          </p:txBody>
        </p:sp>
        <p:sp>
          <p:nvSpPr>
            <p:cNvPr id="59" name="Text 57"/>
            <p:cNvSpPr/>
            <p:nvPr/>
          </p:nvSpPr>
          <p:spPr>
            <a:xfrm>
              <a:off x="4791456" y="2962656"/>
              <a:ext cx="3986784" cy="201168"/>
            </a:xfrm>
            <a:prstGeom prst="rect">
              <a:avLst/>
            </a:prstGeom>
            <a:noFill/>
            <a:ln/>
          </p:spPr>
          <p:txBody>
            <a:bodyPr wrap="square" rtlCol="0" anchor="ctr"/>
            <a:lstStyle/>
            <a:p>
              <a:pPr marL="0" indent="0">
                <a:buNone/>
              </a:pPr>
              <a:r>
                <a:rPr lang="en-US" sz="850" b="1" dirty="0">
                  <a:solidFill>
                    <a:srgbClr val="4A6274"/>
                  </a:solidFill>
                  <a:latin typeface="Calibri" pitchFamily="34" charset="0"/>
                  <a:ea typeface="Calibri" pitchFamily="34" charset="-122"/>
                  <a:cs typeface="Calibri" pitchFamily="34" charset="-120"/>
                </a:rPr>
                <a:t>MST 1–10 modal shift</a:t>
              </a:r>
              <a:endParaRPr lang="en-US" sz="850" dirty="0"/>
            </a:p>
          </p:txBody>
        </p:sp>
        <p:sp>
          <p:nvSpPr>
            <p:cNvPr id="60" name="Text 58"/>
            <p:cNvSpPr/>
            <p:nvPr/>
          </p:nvSpPr>
          <p:spPr>
            <a:xfrm>
              <a:off x="4791456" y="3200400"/>
              <a:ext cx="3986784" cy="594360"/>
            </a:xfrm>
            <a:prstGeom prst="rect">
              <a:avLst/>
            </a:prstGeom>
            <a:noFill/>
            <a:ln/>
          </p:spPr>
          <p:txBody>
            <a:bodyPr wrap="square" rtlCol="0" anchor="ctr"/>
            <a:lstStyle/>
            <a:p>
              <a:pPr marL="0" indent="0">
                <a:lnSpc>
                  <a:spcPct val="130000"/>
                </a:lnSpc>
                <a:buNone/>
              </a:pPr>
              <a:r>
                <a:rPr lang="en-US" sz="850" dirty="0">
                  <a:solidFill>
                    <a:srgbClr val="1C2B3A"/>
                  </a:solidFill>
                  <a:latin typeface="Calibri" pitchFamily="34" charset="0"/>
                  <a:ea typeface="Calibri" pitchFamily="34" charset="-122"/>
                  <a:cs typeface="Calibri" pitchFamily="34" charset="-120"/>
                </a:rPr>
                <a:t>Re-LAION-5B peaks at MST 5–6 (~28% each).  SDv1.5 peaks at MST 4–5 — a leftward shift toward lighter tones.  MST 9–10 effectively absent in both datasets (near-zero).  175 of 200 professions (87.5%) show higher Light-bin proportion in SDv1.5.</a:t>
              </a:r>
              <a:endParaRPr lang="en-US" sz="850" dirty="0"/>
            </a:p>
          </p:txBody>
        </p:sp>
        <p:sp>
          <p:nvSpPr>
            <p:cNvPr id="61" name="Text 59"/>
            <p:cNvSpPr/>
            <p:nvPr/>
          </p:nvSpPr>
          <p:spPr>
            <a:xfrm>
              <a:off x="4791456" y="3799775"/>
              <a:ext cx="3986784" cy="475488"/>
            </a:xfrm>
            <a:prstGeom prst="rect">
              <a:avLst/>
            </a:prstGeom>
            <a:noFill/>
            <a:ln/>
          </p:spPr>
          <p:txBody>
            <a:bodyPr wrap="square" rtlCol="0" anchor="ctr"/>
            <a:lstStyle/>
            <a:p>
              <a:pPr marL="0" indent="0">
                <a:lnSpc>
                  <a:spcPct val="120000"/>
                </a:lnSpc>
                <a:buNone/>
              </a:pPr>
              <a:r>
                <a:rPr lang="en-US" sz="800" i="1" dirty="0">
                  <a:solidFill>
                    <a:srgbClr val="4A6274"/>
                  </a:solidFill>
                  <a:latin typeface="Calibri" pitchFamily="34" charset="0"/>
                  <a:ea typeface="Calibri" pitchFamily="34" charset="-122"/>
                  <a:cs typeface="Calibri" pitchFamily="34" charset="-120"/>
                </a:rPr>
                <a:t>Compared against US BLS 2024 and ILO global reference markers: Re-LAION-5B already under-represents women in 6 of 10 ISCO-08 groups.  SDv1.5 </a:t>
              </a:r>
              <a:r>
                <a:rPr lang="en-US" sz="800" i="1">
                  <a:solidFill>
                    <a:srgbClr val="4A6274"/>
                  </a:solidFill>
                  <a:latin typeface="Calibri" pitchFamily="34" charset="0"/>
                  <a:ea typeface="Calibri" pitchFamily="34" charset="-122"/>
                  <a:cs typeface="Calibri" pitchFamily="34" charset="-120"/>
                </a:rPr>
                <a:t>widens nearly </a:t>
              </a:r>
              <a:r>
                <a:rPr lang="en-US" sz="800" i="1" dirty="0">
                  <a:solidFill>
                    <a:srgbClr val="4A6274"/>
                  </a:solidFill>
                  <a:latin typeface="Calibri" pitchFamily="34" charset="0"/>
                  <a:ea typeface="Calibri" pitchFamily="34" charset="-122"/>
                  <a:cs typeface="Calibri" pitchFamily="34" charset="-120"/>
                </a:rPr>
                <a:t>every gap without exception.</a:t>
              </a:r>
              <a:endParaRPr lang="en-US" sz="800" dirty="0"/>
            </a:p>
          </p:txBody>
        </p:sp>
        <p:sp>
          <p:nvSpPr>
            <p:cNvPr id="62" name="Text 60"/>
            <p:cNvSpPr/>
            <p:nvPr/>
          </p:nvSpPr>
          <p:spPr>
            <a:xfrm>
              <a:off x="4791456" y="4252848"/>
              <a:ext cx="3986784" cy="475488"/>
            </a:xfrm>
            <a:prstGeom prst="rect">
              <a:avLst/>
            </a:prstGeom>
            <a:noFill/>
            <a:ln/>
          </p:spPr>
          <p:txBody>
            <a:bodyPr wrap="square" rtlCol="0" anchor="ctr"/>
            <a:lstStyle/>
            <a:p>
              <a:pPr marL="0" indent="0">
                <a:lnSpc>
                  <a:spcPct val="120000"/>
                </a:lnSpc>
                <a:buNone/>
              </a:pPr>
              <a:r>
                <a:rPr lang="en-US" sz="750" i="1" dirty="0">
                  <a:solidFill>
                    <a:srgbClr val="4A6274"/>
                  </a:solidFill>
                  <a:latin typeface="Calibri" pitchFamily="34" charset="0"/>
                  <a:ea typeface="Calibri" pitchFamily="34" charset="-122"/>
                  <a:cs typeface="Calibri" pitchFamily="34" charset="-120"/>
                </a:rPr>
                <a:t>Skin tone comparison against real-world reference not conducted — race-to-MST reference mapping abandoned (all groups collapsed to Mid bin in FairFace corpus).  Parity baseline used instead.</a:t>
              </a:r>
              <a:endParaRPr lang="en-US" sz="750" dirty="0"/>
            </a:p>
          </p:txBody>
        </p:sp>
      </p:grpSp>
      <p:grpSp>
        <p:nvGrpSpPr>
          <p:cNvPr id="67" name="Group 66">
            <a:extLst>
              <a:ext uri="{FF2B5EF4-FFF2-40B4-BE49-F238E27FC236}">
                <a16:creationId xmlns:a16="http://schemas.microsoft.com/office/drawing/2014/main" id="{3181ECC2-B1DA-2105-1C55-AE7CBC4F4ECD}"/>
              </a:ext>
            </a:extLst>
          </p:cNvPr>
          <p:cNvGrpSpPr/>
          <p:nvPr/>
        </p:nvGrpSpPr>
        <p:grpSpPr>
          <a:xfrm>
            <a:off x="256032" y="4846320"/>
            <a:ext cx="8631936" cy="201168"/>
            <a:chOff x="256032" y="4846320"/>
            <a:chExt cx="8631936" cy="201168"/>
          </a:xfrm>
        </p:grpSpPr>
        <p:sp>
          <p:nvSpPr>
            <p:cNvPr id="63" name="Shape 61"/>
            <p:cNvSpPr/>
            <p:nvPr/>
          </p:nvSpPr>
          <p:spPr>
            <a:xfrm>
              <a:off x="256032" y="4846320"/>
              <a:ext cx="8631936" cy="201168"/>
            </a:xfrm>
            <a:prstGeom prst="rect">
              <a:avLst/>
            </a:prstGeom>
            <a:solidFill>
              <a:srgbClr val="EEF0F8"/>
            </a:solidFill>
            <a:ln w="6350">
              <a:solidFill>
                <a:srgbClr val="E8E4DC"/>
              </a:solidFill>
              <a:prstDash val="solid"/>
            </a:ln>
          </p:spPr>
          <p:txBody>
            <a:bodyPr/>
            <a:lstStyle/>
            <a:p>
              <a:endParaRPr lang="en-MT"/>
            </a:p>
          </p:txBody>
        </p:sp>
        <p:sp>
          <p:nvSpPr>
            <p:cNvPr id="64" name="Text 62"/>
            <p:cNvSpPr/>
            <p:nvPr/>
          </p:nvSpPr>
          <p:spPr>
            <a:xfrm>
              <a:off x="402336" y="4864608"/>
              <a:ext cx="8339328" cy="182880"/>
            </a:xfrm>
            <a:prstGeom prst="rect">
              <a:avLst/>
            </a:prstGeom>
            <a:noFill/>
            <a:ln/>
          </p:spPr>
          <p:txBody>
            <a:bodyPr wrap="square" rtlCol="0" anchor="ctr"/>
            <a:lstStyle/>
            <a:p>
              <a:pPr marL="0" indent="0">
                <a:buNone/>
              </a:pPr>
              <a:r>
                <a:rPr lang="en-US" sz="800" b="1" dirty="0">
                  <a:solidFill>
                    <a:srgbClr val="1B3A5C"/>
                  </a:solidFill>
                  <a:latin typeface="Calibri" pitchFamily="34" charset="0"/>
                  <a:ea typeface="Calibri" pitchFamily="34" charset="-122"/>
                  <a:cs typeface="Calibri" pitchFamily="34" charset="-120"/>
                </a:rPr>
                <a:t>§4.1.1 Aggregate Gender and Skin Tone Distributions  ·  §4.1.2 Per-Profession and Per-ISCO-Group Analysis  ·  Tables 4.1 &amp; 4.2</a:t>
              </a:r>
              <a:endParaRPr lang="en-US" sz="800" dirty="0"/>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F7F4EE"/>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B3A5C"/>
          </a:solidFill>
          <a:ln w="12700">
            <a:solidFill>
              <a:srgbClr val="1B3A5C"/>
            </a:solidFill>
            <a:prstDash val="solid"/>
          </a:ln>
        </p:spPr>
        <p:txBody>
          <a:bodyPr/>
          <a:lstStyle/>
          <a:p>
            <a:endParaRPr lang="en-MT"/>
          </a:p>
        </p:txBody>
      </p:sp>
      <p:sp>
        <p:nvSpPr>
          <p:cNvPr id="3" name="Text 1"/>
          <p:cNvSpPr/>
          <p:nvPr/>
        </p:nvSpPr>
        <p:spPr>
          <a:xfrm>
            <a:off x="411480" y="0"/>
            <a:ext cx="8321040" cy="713232"/>
          </a:xfrm>
          <a:prstGeom prst="rect">
            <a:avLst/>
          </a:prstGeom>
          <a:noFill/>
          <a:ln/>
        </p:spPr>
        <p:txBody>
          <a:bodyPr wrap="square"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EVALUATION  ·  DATASET CLASSIFICATION  ·  3-CLASS  ·  15 TRANSFORMATIONS</a:t>
            </a:r>
            <a:endParaRPr lang="en-US" sz="1500" dirty="0"/>
          </a:p>
        </p:txBody>
      </p:sp>
      <p:sp>
        <p:nvSpPr>
          <p:cNvPr id="4" name="Text 2"/>
          <p:cNvSpPr/>
          <p:nvPr/>
        </p:nvSpPr>
        <p:spPr>
          <a:xfrm>
            <a:off x="274320" y="804672"/>
            <a:ext cx="8595360" cy="201168"/>
          </a:xfrm>
          <a:prstGeom prst="rect">
            <a:avLst/>
          </a:prstGeom>
          <a:noFill/>
          <a:ln/>
        </p:spPr>
        <p:txBody>
          <a:bodyPr wrap="square" rtlCol="0" anchor="ctr"/>
          <a:lstStyle/>
          <a:p>
            <a:pPr marL="0" indent="0">
              <a:buNone/>
            </a:pPr>
            <a:r>
              <a:rPr lang="en-US" sz="900" b="1" dirty="0">
                <a:solidFill>
                  <a:srgbClr val="4A6274"/>
                </a:solidFill>
                <a:latin typeface="Calibri" pitchFamily="34" charset="0"/>
                <a:ea typeface="Calibri" pitchFamily="34" charset="-122"/>
                <a:cs typeface="Calibri" pitchFamily="34" charset="-120"/>
              </a:rPr>
              <a:t>ConvNeXt-Tiny trained per-transformation on Re-LAION-5B / SDv1.5 / COCO  ·  Chance = 33.3%  ·  Table 4.3</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274320" y="1024128"/>
          <a:ext cx="3840480" cy="3584448"/>
        </p:xfrm>
        <a:graphic>
          <a:graphicData uri="http://schemas.openxmlformats.org/drawingml/2006/table">
            <a:tbl>
              <a:tblPr/>
              <a:tblGrid>
                <a:gridCol w="237744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tblGrid>
              <a:tr h="224028">
                <a:tc>
                  <a:txBody>
                    <a:bodyPr/>
                    <a:lstStyle/>
                    <a:p>
                      <a:pPr marL="0" indent="0" algn="l">
                        <a:buNone/>
                      </a:pPr>
                      <a:r>
                        <a:rPr lang="en-US" sz="800" b="1" dirty="0">
                          <a:solidFill>
                            <a:srgbClr val="FFFFFF"/>
                          </a:solidFill>
                          <a:latin typeface="Calibri" pitchFamily="34" charset="0"/>
                          <a:ea typeface="Calibri" pitchFamily="34" charset="-122"/>
                          <a:cs typeface="Calibri" pitchFamily="34" charset="-120"/>
                        </a:rPr>
                        <a:t>Transformation</a:t>
                      </a:r>
                      <a:endParaRPr lang="en-US" sz="800" dirty="0">
                        <a:latin typeface="Calibri" charset="0"/>
                        <a:ea typeface="Calibri" charset="0"/>
                        <a:cs typeface="Calibri" charset="0"/>
                      </a:endParaRPr>
                    </a:p>
                  </a:txBody>
                  <a:tcPr marL="63500" marR="63500" marT="38100" marB="381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1B3A5C"/>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Test Acc.</a:t>
                      </a:r>
                      <a:endParaRPr lang="en-US" sz="800" dirty="0">
                        <a:latin typeface="Calibri" charset="0"/>
                        <a:ea typeface="Calibri" charset="0"/>
                        <a:cs typeface="Calibri" charset="0"/>
                      </a:endParaRPr>
                    </a:p>
                  </a:txBody>
                  <a:tcPr marL="63500" marR="63500" marT="38100" marB="381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1B3A5C"/>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Test AUC</a:t>
                      </a:r>
                      <a:endParaRPr lang="en-US" sz="800" dirty="0">
                        <a:latin typeface="Calibri" charset="0"/>
                        <a:ea typeface="Calibri" charset="0"/>
                        <a:cs typeface="Calibri" charset="0"/>
                      </a:endParaRPr>
                    </a:p>
                  </a:txBody>
                  <a:tcPr marL="63500" marR="63500" marT="38100" marB="381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1B3A5C"/>
                    </a:solidFill>
                  </a:tcPr>
                </a:tc>
                <a:extLst>
                  <a:ext uri="{0D108BD9-81ED-4DB2-BD59-A6C34878D82A}">
                    <a16:rowId xmlns:a16="http://schemas.microsoft.com/office/drawing/2014/main" val="10000"/>
                  </a:ext>
                </a:extLst>
              </a:tr>
              <a:tr h="224028">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Base (unmodified)</a:t>
                      </a:r>
                      <a:endParaRPr lang="en-US" sz="850" dirty="0">
                        <a:latin typeface="Calibri" charset="0"/>
                        <a:ea typeface="Calibri" charset="0"/>
                        <a:cs typeface="Calibri" charset="0"/>
                      </a:endParaRPr>
                    </a:p>
                  </a:txBody>
                  <a:tcPr marL="63500" marR="63500" marT="38100" marB="381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4F2EC"/>
                    </a:solidFill>
                  </a:tcPr>
                </a:tc>
                <a:tc>
                  <a:txBody>
                    <a:bodyPr/>
                    <a:lstStyle/>
                    <a:p>
                      <a:pPr marL="0" indent="0" algn="ctr">
                        <a:buNone/>
                      </a:pPr>
                      <a:r>
                        <a:rPr lang="en-US" sz="850" b="1" dirty="0">
                          <a:solidFill>
                            <a:srgbClr val="0D6B5E"/>
                          </a:solidFill>
                          <a:latin typeface="Calibri" pitchFamily="34" charset="0"/>
                          <a:ea typeface="Calibri" pitchFamily="34" charset="-122"/>
                          <a:cs typeface="Calibri" pitchFamily="34" charset="-120"/>
                        </a:rPr>
                        <a:t>99.42%</a:t>
                      </a:r>
                      <a:endParaRPr lang="en-US" sz="850" dirty="0">
                        <a:latin typeface="Calibri" charset="0"/>
                        <a:ea typeface="Calibri" charset="0"/>
                        <a:cs typeface="Calibri" charset="0"/>
                      </a:endParaRPr>
                    </a:p>
                  </a:txBody>
                  <a:tcPr marL="63500" marR="63500" marT="38100" marB="381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4F2EC"/>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0.9996</a:t>
                      </a:r>
                      <a:endParaRPr lang="en-US" sz="850" dirty="0">
                        <a:latin typeface="Calibri" charset="0"/>
                        <a:ea typeface="Calibri" charset="0"/>
                        <a:cs typeface="Calibri" charset="0"/>
                      </a:endParaRPr>
                    </a:p>
                  </a:txBody>
                  <a:tcPr marL="63500" marR="63500" marT="38100" marB="381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4F2EC"/>
                    </a:solidFill>
                  </a:tcPr>
                </a:tc>
                <a:extLst>
                  <a:ext uri="{0D108BD9-81ED-4DB2-BD59-A6C34878D82A}">
                    <a16:rowId xmlns:a16="http://schemas.microsoft.com/office/drawing/2014/main" val="10001"/>
                  </a:ext>
                </a:extLst>
              </a:tr>
              <a:tr h="224028">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VAE reconstruction</a:t>
                      </a:r>
                      <a:endParaRPr lang="en-US" sz="850" dirty="0">
                        <a:latin typeface="Calibri" charset="0"/>
                        <a:ea typeface="Calibri" charset="0"/>
                        <a:cs typeface="Calibri" charset="0"/>
                      </a:endParaRPr>
                    </a:p>
                  </a:txBody>
                  <a:tcPr marL="63500" marR="63500" marT="38100" marB="381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0D6B5E"/>
                          </a:solidFill>
                          <a:latin typeface="Calibri" pitchFamily="34" charset="0"/>
                          <a:ea typeface="Calibri" pitchFamily="34" charset="-122"/>
                          <a:cs typeface="Calibri" pitchFamily="34" charset="-120"/>
                        </a:rPr>
                        <a:t>99.15%</a:t>
                      </a:r>
                      <a:endParaRPr lang="en-US" sz="850" dirty="0">
                        <a:latin typeface="Calibri" charset="0"/>
                        <a:ea typeface="Calibri" charset="0"/>
                        <a:cs typeface="Calibri" charset="0"/>
                      </a:endParaRPr>
                    </a:p>
                  </a:txBody>
                  <a:tcPr marL="63500" marR="63500" marT="38100" marB="381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0.9992</a:t>
                      </a:r>
                      <a:endParaRPr lang="en-US" sz="850" dirty="0">
                        <a:latin typeface="Calibri" charset="0"/>
                        <a:ea typeface="Calibri" charset="0"/>
                        <a:cs typeface="Calibri" charset="0"/>
                      </a:endParaRPr>
                    </a:p>
                  </a:txBody>
                  <a:tcPr marL="63500" marR="63500" marT="38100" marB="381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24028">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High-pass filter</a:t>
                      </a:r>
                      <a:endParaRPr lang="en-US" sz="850" dirty="0">
                        <a:latin typeface="Calibri" charset="0"/>
                        <a:ea typeface="Calibri" charset="0"/>
                        <a:cs typeface="Calibri" charset="0"/>
                      </a:endParaRPr>
                    </a:p>
                  </a:txBody>
                  <a:tcPr marL="63500" marR="63500" marT="38100" marB="381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4F2EC"/>
                    </a:solidFill>
                  </a:tcPr>
                </a:tc>
                <a:tc>
                  <a:txBody>
                    <a:bodyPr/>
                    <a:lstStyle/>
                    <a:p>
                      <a:pPr marL="0" indent="0" algn="ctr">
                        <a:buNone/>
                      </a:pPr>
                      <a:r>
                        <a:rPr lang="en-US" sz="850" b="1" dirty="0">
                          <a:solidFill>
                            <a:srgbClr val="0D6B5E"/>
                          </a:solidFill>
                          <a:latin typeface="Calibri" pitchFamily="34" charset="0"/>
                          <a:ea typeface="Calibri" pitchFamily="34" charset="-122"/>
                          <a:cs typeface="Calibri" pitchFamily="34" charset="-120"/>
                        </a:rPr>
                        <a:t>98.64%</a:t>
                      </a:r>
                      <a:endParaRPr lang="en-US" sz="850" dirty="0">
                        <a:latin typeface="Calibri" charset="0"/>
                        <a:ea typeface="Calibri" charset="0"/>
                        <a:cs typeface="Calibri" charset="0"/>
                      </a:endParaRPr>
                    </a:p>
                  </a:txBody>
                  <a:tcPr marL="63500" marR="63500" marT="38100" marB="381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4F2EC"/>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0.9988</a:t>
                      </a:r>
                      <a:endParaRPr lang="en-US" sz="850" dirty="0">
                        <a:latin typeface="Calibri" charset="0"/>
                        <a:ea typeface="Calibri" charset="0"/>
                        <a:cs typeface="Calibri" charset="0"/>
                      </a:endParaRPr>
                    </a:p>
                  </a:txBody>
                  <a:tcPr marL="63500" marR="63500" marT="38100" marB="381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4F2EC"/>
                    </a:solidFill>
                  </a:tcPr>
                </a:tc>
                <a:extLst>
                  <a:ext uri="{0D108BD9-81ED-4DB2-BD59-A6C34878D82A}">
                    <a16:rowId xmlns:a16="http://schemas.microsoft.com/office/drawing/2014/main" val="10003"/>
                  </a:ext>
                </a:extLst>
              </a:tr>
              <a:tr h="224028">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Patch shuffle 8×8</a:t>
                      </a:r>
                      <a:endParaRPr lang="en-US" sz="850" dirty="0">
                        <a:latin typeface="Calibri" charset="0"/>
                        <a:ea typeface="Calibri" charset="0"/>
                        <a:cs typeface="Calibri" charset="0"/>
                      </a:endParaRPr>
                    </a:p>
                  </a:txBody>
                  <a:tcPr marL="63500" marR="63500" marT="38100" marB="381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0D6B5E"/>
                          </a:solidFill>
                          <a:latin typeface="Calibri" pitchFamily="34" charset="0"/>
                          <a:ea typeface="Calibri" pitchFamily="34" charset="-122"/>
                          <a:cs typeface="Calibri" pitchFamily="34" charset="-120"/>
                        </a:rPr>
                        <a:t>97.91%</a:t>
                      </a:r>
                      <a:endParaRPr lang="en-US" sz="850" dirty="0">
                        <a:latin typeface="Calibri" charset="0"/>
                        <a:ea typeface="Calibri" charset="0"/>
                        <a:cs typeface="Calibri" charset="0"/>
                      </a:endParaRPr>
                    </a:p>
                  </a:txBody>
                  <a:tcPr marL="63500" marR="63500" marT="38100" marB="381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0.9983</a:t>
                      </a:r>
                      <a:endParaRPr lang="en-US" sz="850" dirty="0">
                        <a:latin typeface="Calibri" charset="0"/>
                        <a:ea typeface="Calibri" charset="0"/>
                        <a:cs typeface="Calibri" charset="0"/>
                      </a:endParaRPr>
                    </a:p>
                  </a:txBody>
                  <a:tcPr marL="63500" marR="63500" marT="38100" marB="381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24028">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Patch shuffle 16×16</a:t>
                      </a:r>
                      <a:endParaRPr lang="en-US" sz="850" dirty="0">
                        <a:latin typeface="Calibri" charset="0"/>
                        <a:ea typeface="Calibri" charset="0"/>
                        <a:cs typeface="Calibri" charset="0"/>
                      </a:endParaRPr>
                    </a:p>
                  </a:txBody>
                  <a:tcPr marL="63500" marR="63500" marT="38100" marB="381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4F2EC"/>
                    </a:solidFill>
                  </a:tcPr>
                </a:tc>
                <a:tc>
                  <a:txBody>
                    <a:bodyPr/>
                    <a:lstStyle/>
                    <a:p>
                      <a:pPr marL="0" indent="0" algn="ctr">
                        <a:buNone/>
                      </a:pPr>
                      <a:r>
                        <a:rPr lang="en-US" sz="850" b="1" dirty="0">
                          <a:solidFill>
                            <a:srgbClr val="0D6B5E"/>
                          </a:solidFill>
                          <a:latin typeface="Calibri" pitchFamily="34" charset="0"/>
                          <a:ea typeface="Calibri" pitchFamily="34" charset="-122"/>
                          <a:cs typeface="Calibri" pitchFamily="34" charset="-120"/>
                        </a:rPr>
                        <a:t>97.69%</a:t>
                      </a:r>
                      <a:endParaRPr lang="en-US" sz="850" dirty="0">
                        <a:latin typeface="Calibri" charset="0"/>
                        <a:ea typeface="Calibri" charset="0"/>
                        <a:cs typeface="Calibri" charset="0"/>
                      </a:endParaRPr>
                    </a:p>
                  </a:txBody>
                  <a:tcPr marL="63500" marR="63500" marT="38100" marB="381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4F2EC"/>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0.9983</a:t>
                      </a:r>
                      <a:endParaRPr lang="en-US" sz="850" dirty="0">
                        <a:latin typeface="Calibri" charset="0"/>
                        <a:ea typeface="Calibri" charset="0"/>
                        <a:cs typeface="Calibri" charset="0"/>
                      </a:endParaRPr>
                    </a:p>
                  </a:txBody>
                  <a:tcPr marL="63500" marR="63500" marT="38100" marB="381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4F2EC"/>
                    </a:solidFill>
                  </a:tcPr>
                </a:tc>
                <a:extLst>
                  <a:ext uri="{0D108BD9-81ED-4DB2-BD59-A6C34878D82A}">
                    <a16:rowId xmlns:a16="http://schemas.microsoft.com/office/drawing/2014/main" val="10005"/>
                  </a:ext>
                </a:extLst>
              </a:tr>
              <a:tr h="224028">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Low-pass filter</a:t>
                      </a:r>
                      <a:endParaRPr lang="en-US" sz="850" dirty="0">
                        <a:latin typeface="Calibri" charset="0"/>
                        <a:ea typeface="Calibri" charset="0"/>
                        <a:cs typeface="Calibri" charset="0"/>
                      </a:endParaRPr>
                    </a:p>
                  </a:txBody>
                  <a:tcPr marL="63500" marR="63500" marT="38100" marB="381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0D6B5E"/>
                          </a:solidFill>
                          <a:latin typeface="Calibri" pitchFamily="34" charset="0"/>
                          <a:ea typeface="Calibri" pitchFamily="34" charset="-122"/>
                          <a:cs typeface="Calibri" pitchFamily="34" charset="-120"/>
                        </a:rPr>
                        <a:t>96.99%</a:t>
                      </a:r>
                      <a:endParaRPr lang="en-US" sz="850" dirty="0">
                        <a:latin typeface="Calibri" charset="0"/>
                        <a:ea typeface="Calibri" charset="0"/>
                        <a:cs typeface="Calibri" charset="0"/>
                      </a:endParaRPr>
                    </a:p>
                  </a:txBody>
                  <a:tcPr marL="63500" marR="63500" marT="38100" marB="381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0.9969</a:t>
                      </a:r>
                      <a:endParaRPr lang="en-US" sz="850" dirty="0">
                        <a:latin typeface="Calibri" charset="0"/>
                        <a:ea typeface="Calibri" charset="0"/>
                        <a:cs typeface="Calibri" charset="0"/>
                      </a:endParaRPr>
                    </a:p>
                  </a:txBody>
                  <a:tcPr marL="63500" marR="63500" marT="38100" marB="381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24028">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Depth estimation</a:t>
                      </a:r>
                      <a:endParaRPr lang="en-US" sz="850" dirty="0">
                        <a:latin typeface="Calibri" charset="0"/>
                        <a:ea typeface="Calibri" charset="0"/>
                        <a:cs typeface="Calibri" charset="0"/>
                      </a:endParaRPr>
                    </a:p>
                  </a:txBody>
                  <a:tcPr marL="63500" marR="63500" marT="38100" marB="381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4F2EC"/>
                    </a:solidFill>
                  </a:tcPr>
                </a:tc>
                <a:tc>
                  <a:txBody>
                    <a:bodyPr/>
                    <a:lstStyle/>
                    <a:p>
                      <a:pPr marL="0" indent="0" algn="ctr">
                        <a:buNone/>
                      </a:pPr>
                      <a:r>
                        <a:rPr lang="en-US" sz="850" b="1" dirty="0">
                          <a:solidFill>
                            <a:srgbClr val="0D6B5E"/>
                          </a:solidFill>
                          <a:latin typeface="Calibri" pitchFamily="34" charset="0"/>
                          <a:ea typeface="Calibri" pitchFamily="34" charset="-122"/>
                          <a:cs typeface="Calibri" pitchFamily="34" charset="-120"/>
                        </a:rPr>
                        <a:t>96.78%</a:t>
                      </a:r>
                      <a:endParaRPr lang="en-US" sz="850" dirty="0">
                        <a:latin typeface="Calibri" charset="0"/>
                        <a:ea typeface="Calibri" charset="0"/>
                        <a:cs typeface="Calibri" charset="0"/>
                      </a:endParaRPr>
                    </a:p>
                  </a:txBody>
                  <a:tcPr marL="63500" marR="63500" marT="38100" marB="381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4F2EC"/>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0.9965</a:t>
                      </a:r>
                      <a:endParaRPr lang="en-US" sz="850" dirty="0">
                        <a:latin typeface="Calibri" charset="0"/>
                        <a:ea typeface="Calibri" charset="0"/>
                        <a:cs typeface="Calibri" charset="0"/>
                      </a:endParaRPr>
                    </a:p>
                  </a:txBody>
                  <a:tcPr marL="63500" marR="63500" marT="38100" marB="381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4F2EC"/>
                    </a:solidFill>
                  </a:tcPr>
                </a:tc>
                <a:extLst>
                  <a:ext uri="{0D108BD9-81ED-4DB2-BD59-A6C34878D82A}">
                    <a16:rowId xmlns:a16="http://schemas.microsoft.com/office/drawing/2014/main" val="10007"/>
                  </a:ext>
                </a:extLst>
              </a:tr>
              <a:tr h="224028">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Patch shuffle 4×4</a:t>
                      </a:r>
                      <a:endParaRPr lang="en-US" sz="850" dirty="0">
                        <a:latin typeface="Calibri" charset="0"/>
                        <a:ea typeface="Calibri" charset="0"/>
                        <a:cs typeface="Calibri" charset="0"/>
                      </a:endParaRPr>
                    </a:p>
                  </a:txBody>
                  <a:tcPr marL="63500" marR="63500" marT="38100" marB="381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1C2B3A"/>
                          </a:solidFill>
                          <a:latin typeface="Calibri" pitchFamily="34" charset="0"/>
                          <a:ea typeface="Calibri" pitchFamily="34" charset="-122"/>
                          <a:cs typeface="Calibri" pitchFamily="34" charset="-120"/>
                        </a:rPr>
                        <a:t>94.38%</a:t>
                      </a:r>
                      <a:endParaRPr lang="en-US" sz="850" dirty="0">
                        <a:latin typeface="Calibri" charset="0"/>
                        <a:ea typeface="Calibri" charset="0"/>
                        <a:cs typeface="Calibri" charset="0"/>
                      </a:endParaRPr>
                    </a:p>
                  </a:txBody>
                  <a:tcPr marL="63500" marR="63500" marT="38100" marB="381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0.9949</a:t>
                      </a:r>
                      <a:endParaRPr lang="en-US" sz="850" dirty="0">
                        <a:latin typeface="Calibri" charset="0"/>
                        <a:ea typeface="Calibri" charset="0"/>
                        <a:cs typeface="Calibri" charset="0"/>
                      </a:endParaRPr>
                    </a:p>
                  </a:txBody>
                  <a:tcPr marL="63500" marR="63500" marT="38100" marB="381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24028">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Edge detection (Canny)</a:t>
                      </a:r>
                      <a:endParaRPr lang="en-US" sz="850" dirty="0">
                        <a:latin typeface="Calibri" charset="0"/>
                        <a:ea typeface="Calibri" charset="0"/>
                        <a:cs typeface="Calibri" charset="0"/>
                      </a:endParaRPr>
                    </a:p>
                  </a:txBody>
                  <a:tcPr marL="63500" marR="63500" marT="38100" marB="381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4F2EC"/>
                    </a:solidFill>
                  </a:tcPr>
                </a:tc>
                <a:tc>
                  <a:txBody>
                    <a:bodyPr/>
                    <a:lstStyle/>
                    <a:p>
                      <a:pPr marL="0" indent="0" algn="ctr">
                        <a:buNone/>
                      </a:pPr>
                      <a:r>
                        <a:rPr lang="en-US" sz="850" b="1" dirty="0">
                          <a:solidFill>
                            <a:srgbClr val="1C2B3A"/>
                          </a:solidFill>
                          <a:latin typeface="Calibri" pitchFamily="34" charset="0"/>
                          <a:ea typeface="Calibri" pitchFamily="34" charset="-122"/>
                          <a:cs typeface="Calibri" pitchFamily="34" charset="-120"/>
                        </a:rPr>
                        <a:t>93.62%</a:t>
                      </a:r>
                      <a:endParaRPr lang="en-US" sz="850" dirty="0">
                        <a:latin typeface="Calibri" charset="0"/>
                        <a:ea typeface="Calibri" charset="0"/>
                        <a:cs typeface="Calibri" charset="0"/>
                      </a:endParaRPr>
                    </a:p>
                  </a:txBody>
                  <a:tcPr marL="63500" marR="63500" marT="38100" marB="381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4F2EC"/>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0.9905</a:t>
                      </a:r>
                      <a:endParaRPr lang="en-US" sz="850" dirty="0">
                        <a:latin typeface="Calibri" charset="0"/>
                        <a:ea typeface="Calibri" charset="0"/>
                        <a:cs typeface="Calibri" charset="0"/>
                      </a:endParaRPr>
                    </a:p>
                  </a:txBody>
                  <a:tcPr marL="63500" marR="63500" marT="38100" marB="381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4F2EC"/>
                    </a:solidFill>
                  </a:tcPr>
                </a:tc>
                <a:extLst>
                  <a:ext uri="{0D108BD9-81ED-4DB2-BD59-A6C34878D82A}">
                    <a16:rowId xmlns:a16="http://schemas.microsoft.com/office/drawing/2014/main" val="10009"/>
                  </a:ext>
                </a:extLst>
              </a:tr>
              <a:tr h="224028">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Semantic segmentation</a:t>
                      </a:r>
                      <a:endParaRPr lang="en-US" sz="850" dirty="0">
                        <a:latin typeface="Calibri" charset="0"/>
                        <a:ea typeface="Calibri" charset="0"/>
                        <a:cs typeface="Calibri" charset="0"/>
                      </a:endParaRPr>
                    </a:p>
                  </a:txBody>
                  <a:tcPr marL="63500" marR="63500" marT="38100" marB="381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1C2B3A"/>
                          </a:solidFill>
                          <a:latin typeface="Calibri" pitchFamily="34" charset="0"/>
                          <a:ea typeface="Calibri" pitchFamily="34" charset="-122"/>
                          <a:cs typeface="Calibri" pitchFamily="34" charset="-120"/>
                        </a:rPr>
                        <a:t>91.36%</a:t>
                      </a:r>
                      <a:endParaRPr lang="en-US" sz="850" dirty="0">
                        <a:latin typeface="Calibri" charset="0"/>
                        <a:ea typeface="Calibri" charset="0"/>
                        <a:cs typeface="Calibri" charset="0"/>
                      </a:endParaRPr>
                    </a:p>
                  </a:txBody>
                  <a:tcPr marL="63500" marR="63500" marT="38100" marB="381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0.9837</a:t>
                      </a:r>
                      <a:endParaRPr lang="en-US" sz="850" dirty="0">
                        <a:latin typeface="Calibri" charset="0"/>
                        <a:ea typeface="Calibri" charset="0"/>
                        <a:cs typeface="Calibri" charset="0"/>
                      </a:endParaRPr>
                    </a:p>
                  </a:txBody>
                  <a:tcPr marL="63500" marR="63500" marT="38100" marB="381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24028">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Captions (logistic probe)</a:t>
                      </a:r>
                      <a:endParaRPr lang="en-US" sz="850" dirty="0">
                        <a:latin typeface="Calibri" charset="0"/>
                        <a:ea typeface="Calibri" charset="0"/>
                        <a:cs typeface="Calibri" charset="0"/>
                      </a:endParaRPr>
                    </a:p>
                  </a:txBody>
                  <a:tcPr marL="63500" marR="63500" marT="38100" marB="381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4F2EC"/>
                    </a:solidFill>
                  </a:tcPr>
                </a:tc>
                <a:tc>
                  <a:txBody>
                    <a:bodyPr/>
                    <a:lstStyle/>
                    <a:p>
                      <a:pPr marL="0" indent="0" algn="ctr">
                        <a:buNone/>
                      </a:pPr>
                      <a:r>
                        <a:rPr lang="en-US" sz="850" b="1" dirty="0">
                          <a:solidFill>
                            <a:srgbClr val="1C2B3A"/>
                          </a:solidFill>
                          <a:latin typeface="Calibri" pitchFamily="34" charset="0"/>
                          <a:ea typeface="Calibri" pitchFamily="34" charset="-122"/>
                          <a:cs typeface="Calibri" pitchFamily="34" charset="-120"/>
                        </a:rPr>
                        <a:t>90.99%</a:t>
                      </a:r>
                      <a:endParaRPr lang="en-US" sz="850" dirty="0">
                        <a:latin typeface="Calibri" charset="0"/>
                        <a:ea typeface="Calibri" charset="0"/>
                        <a:cs typeface="Calibri" charset="0"/>
                      </a:endParaRPr>
                    </a:p>
                  </a:txBody>
                  <a:tcPr marL="63500" marR="63500" marT="38100" marB="381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4F2EC"/>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0.9820</a:t>
                      </a:r>
                      <a:endParaRPr lang="en-US" sz="850" dirty="0">
                        <a:latin typeface="Calibri" charset="0"/>
                        <a:ea typeface="Calibri" charset="0"/>
                        <a:cs typeface="Calibri" charset="0"/>
                      </a:endParaRPr>
                    </a:p>
                  </a:txBody>
                  <a:tcPr marL="63500" marR="63500" marT="38100" marB="381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4F2EC"/>
                    </a:solidFill>
                  </a:tcPr>
                </a:tc>
                <a:extLst>
                  <a:ext uri="{0D108BD9-81ED-4DB2-BD59-A6C34878D82A}">
                    <a16:rowId xmlns:a16="http://schemas.microsoft.com/office/drawing/2014/main" val="10011"/>
                  </a:ext>
                </a:extLst>
              </a:tr>
              <a:tr h="224028">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Patch shuffle 2×2</a:t>
                      </a:r>
                      <a:endParaRPr lang="en-US" sz="850" dirty="0">
                        <a:latin typeface="Calibri" charset="0"/>
                        <a:ea typeface="Calibri" charset="0"/>
                        <a:cs typeface="Calibri" charset="0"/>
                      </a:endParaRPr>
                    </a:p>
                  </a:txBody>
                  <a:tcPr marL="63500" marR="63500" marT="38100" marB="381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1C2B3A"/>
                          </a:solidFill>
                          <a:latin typeface="Calibri" pitchFamily="34" charset="0"/>
                          <a:ea typeface="Calibri" pitchFamily="34" charset="-122"/>
                          <a:cs typeface="Calibri" pitchFamily="34" charset="-120"/>
                        </a:rPr>
                        <a:t>89.91%</a:t>
                      </a:r>
                      <a:endParaRPr lang="en-US" sz="850" dirty="0">
                        <a:latin typeface="Calibri" charset="0"/>
                        <a:ea typeface="Calibri" charset="0"/>
                        <a:cs typeface="Calibri" charset="0"/>
                      </a:endParaRPr>
                    </a:p>
                  </a:txBody>
                  <a:tcPr marL="63500" marR="63500" marT="38100" marB="381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0.9766</a:t>
                      </a:r>
                      <a:endParaRPr lang="en-US" sz="850" dirty="0">
                        <a:latin typeface="Calibri" charset="0"/>
                        <a:ea typeface="Calibri" charset="0"/>
                        <a:cs typeface="Calibri" charset="0"/>
                      </a:endParaRPr>
                    </a:p>
                  </a:txBody>
                  <a:tcPr marL="63500" marR="63500" marT="38100" marB="381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r h="224028">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Object detection</a:t>
                      </a:r>
                      <a:endParaRPr lang="en-US" sz="850" dirty="0">
                        <a:latin typeface="Calibri" charset="0"/>
                        <a:ea typeface="Calibri" charset="0"/>
                        <a:cs typeface="Calibri" charset="0"/>
                      </a:endParaRPr>
                    </a:p>
                  </a:txBody>
                  <a:tcPr marL="63500" marR="63500" marT="38100" marB="381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4F2EC"/>
                    </a:solidFill>
                  </a:tcPr>
                </a:tc>
                <a:tc>
                  <a:txBody>
                    <a:bodyPr/>
                    <a:lstStyle/>
                    <a:p>
                      <a:pPr marL="0" indent="0" algn="ctr">
                        <a:buNone/>
                      </a:pPr>
                      <a:r>
                        <a:rPr lang="en-US" sz="850" b="1" dirty="0">
                          <a:solidFill>
                            <a:srgbClr val="1C2B3A"/>
                          </a:solidFill>
                          <a:latin typeface="Calibri" pitchFamily="34" charset="0"/>
                          <a:ea typeface="Calibri" pitchFamily="34" charset="-122"/>
                          <a:cs typeface="Calibri" pitchFamily="34" charset="-120"/>
                        </a:rPr>
                        <a:t>88.62%</a:t>
                      </a:r>
                      <a:endParaRPr lang="en-US" sz="850" dirty="0">
                        <a:latin typeface="Calibri" charset="0"/>
                        <a:ea typeface="Calibri" charset="0"/>
                        <a:cs typeface="Calibri" charset="0"/>
                      </a:endParaRPr>
                    </a:p>
                  </a:txBody>
                  <a:tcPr marL="63500" marR="63500" marT="38100" marB="381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4F2EC"/>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0.9728</a:t>
                      </a:r>
                      <a:endParaRPr lang="en-US" sz="850" dirty="0">
                        <a:latin typeface="Calibri" charset="0"/>
                        <a:ea typeface="Calibri" charset="0"/>
                        <a:cs typeface="Calibri" charset="0"/>
                      </a:endParaRPr>
                    </a:p>
                  </a:txBody>
                  <a:tcPr marL="63500" marR="63500" marT="38100" marB="381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4F2EC"/>
                    </a:solidFill>
                  </a:tcPr>
                </a:tc>
                <a:extLst>
                  <a:ext uri="{0D108BD9-81ED-4DB2-BD59-A6C34878D82A}">
                    <a16:rowId xmlns:a16="http://schemas.microsoft.com/office/drawing/2014/main" val="10013"/>
                  </a:ext>
                </a:extLst>
              </a:tr>
              <a:tr h="224028">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Pixel shuffle</a:t>
                      </a:r>
                      <a:endParaRPr lang="en-US" sz="850" dirty="0">
                        <a:latin typeface="Calibri" charset="0"/>
                        <a:ea typeface="Calibri" charset="0"/>
                        <a:cs typeface="Calibri" charset="0"/>
                      </a:endParaRPr>
                    </a:p>
                  </a:txBody>
                  <a:tcPr marL="63500" marR="63500" marT="38100" marB="381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1C2B3A"/>
                          </a:solidFill>
                          <a:latin typeface="Calibri" pitchFamily="34" charset="0"/>
                          <a:ea typeface="Calibri" pitchFamily="34" charset="-122"/>
                          <a:cs typeface="Calibri" pitchFamily="34" charset="-120"/>
                        </a:rPr>
                        <a:t>80.67%</a:t>
                      </a:r>
                      <a:endParaRPr lang="en-US" sz="850" dirty="0">
                        <a:latin typeface="Calibri" charset="0"/>
                        <a:ea typeface="Calibri" charset="0"/>
                        <a:cs typeface="Calibri" charset="0"/>
                      </a:endParaRPr>
                    </a:p>
                  </a:txBody>
                  <a:tcPr marL="63500" marR="63500" marT="38100" marB="381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0.9430</a:t>
                      </a:r>
                      <a:endParaRPr lang="en-US" sz="850" dirty="0">
                        <a:latin typeface="Calibri" charset="0"/>
                        <a:ea typeface="Calibri" charset="0"/>
                        <a:cs typeface="Calibri" charset="0"/>
                      </a:endParaRPr>
                    </a:p>
                  </a:txBody>
                  <a:tcPr marL="63500" marR="63500" marT="38100" marB="381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FFFFF"/>
                    </a:solidFill>
                  </a:tcPr>
                </a:tc>
                <a:extLst>
                  <a:ext uri="{0D108BD9-81ED-4DB2-BD59-A6C34878D82A}">
                    <a16:rowId xmlns:a16="http://schemas.microsoft.com/office/drawing/2014/main" val="10014"/>
                  </a:ext>
                </a:extLst>
              </a:tr>
              <a:tr h="224028">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Mean RGB</a:t>
                      </a:r>
                      <a:endParaRPr lang="en-US" sz="850" dirty="0">
                        <a:latin typeface="Calibri" charset="0"/>
                        <a:ea typeface="Calibri" charset="0"/>
                        <a:cs typeface="Calibri" charset="0"/>
                      </a:endParaRPr>
                    </a:p>
                  </a:txBody>
                  <a:tcPr marL="63500" marR="63500" marT="38100" marB="381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4F2EC"/>
                    </a:solidFill>
                  </a:tcPr>
                </a:tc>
                <a:tc>
                  <a:txBody>
                    <a:bodyPr/>
                    <a:lstStyle/>
                    <a:p>
                      <a:pPr marL="0" indent="0" algn="ctr">
                        <a:buNone/>
                      </a:pPr>
                      <a:r>
                        <a:rPr lang="en-US" sz="850" b="1" dirty="0">
                          <a:solidFill>
                            <a:srgbClr val="9A5020"/>
                          </a:solidFill>
                          <a:latin typeface="Calibri" pitchFamily="34" charset="0"/>
                          <a:ea typeface="Calibri" pitchFamily="34" charset="-122"/>
                          <a:cs typeface="Calibri" pitchFamily="34" charset="-120"/>
                        </a:rPr>
                        <a:t>64.19%</a:t>
                      </a:r>
                      <a:endParaRPr lang="en-US" sz="850" dirty="0">
                        <a:latin typeface="Calibri" charset="0"/>
                        <a:ea typeface="Calibri" charset="0"/>
                        <a:cs typeface="Calibri" charset="0"/>
                      </a:endParaRPr>
                    </a:p>
                  </a:txBody>
                  <a:tcPr marL="63500" marR="63500" marT="38100" marB="381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4F2EC"/>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0.8207</a:t>
                      </a:r>
                      <a:endParaRPr lang="en-US" sz="850" dirty="0">
                        <a:latin typeface="Calibri" charset="0"/>
                        <a:ea typeface="Calibri" charset="0"/>
                        <a:cs typeface="Calibri" charset="0"/>
                      </a:endParaRPr>
                    </a:p>
                  </a:txBody>
                  <a:tcPr marL="63500" marR="63500" marT="38100" marB="38100" anchor="ctr">
                    <a:lnL w="6350" cap="flat" cmpd="sng" algn="ctr">
                      <a:solidFill>
                        <a:srgbClr val="D8D8D0"/>
                      </a:solidFill>
                      <a:prstDash val="solid"/>
                      <a:round/>
                      <a:headEnd type="none" w="med" len="med"/>
                      <a:tailEnd type="none" w="med" len="med"/>
                    </a:lnL>
                    <a:lnR w="6350" cap="flat" cmpd="sng" algn="ctr">
                      <a:solidFill>
                        <a:srgbClr val="D8D8D0"/>
                      </a:solidFill>
                      <a:prstDash val="solid"/>
                      <a:round/>
                      <a:headEnd type="none" w="med" len="med"/>
                      <a:tailEnd type="none" w="med" len="med"/>
                    </a:lnR>
                    <a:lnT w="6350" cap="flat" cmpd="sng" algn="ctr">
                      <a:solidFill>
                        <a:srgbClr val="D8D8D0"/>
                      </a:solidFill>
                      <a:prstDash val="solid"/>
                      <a:round/>
                      <a:headEnd type="none" w="med" len="med"/>
                      <a:tailEnd type="none" w="med" len="med"/>
                    </a:lnT>
                    <a:lnB w="6350" cap="flat" cmpd="sng" algn="ctr">
                      <a:solidFill>
                        <a:srgbClr val="D8D8D0"/>
                      </a:solidFill>
                      <a:prstDash val="solid"/>
                      <a:round/>
                      <a:headEnd type="none" w="med" len="med"/>
                      <a:tailEnd type="none" w="med" len="med"/>
                    </a:lnB>
                    <a:solidFill>
                      <a:srgbClr val="F4F2EC"/>
                    </a:solidFill>
                  </a:tcPr>
                </a:tc>
                <a:extLst>
                  <a:ext uri="{0D108BD9-81ED-4DB2-BD59-A6C34878D82A}">
                    <a16:rowId xmlns:a16="http://schemas.microsoft.com/office/drawing/2014/main" val="10015"/>
                  </a:ext>
                </a:extLst>
              </a:tr>
            </a:tbl>
          </a:graphicData>
        </a:graphic>
      </p:graphicFrame>
      <p:sp>
        <p:nvSpPr>
          <p:cNvPr id="6" name="Shape 3"/>
          <p:cNvSpPr/>
          <p:nvPr/>
        </p:nvSpPr>
        <p:spPr>
          <a:xfrm>
            <a:off x="4315968" y="1024128"/>
            <a:ext cx="4572000" cy="585216"/>
          </a:xfrm>
          <a:prstGeom prst="rect">
            <a:avLst/>
          </a:prstGeom>
          <a:solidFill>
            <a:srgbClr val="FFFFFF"/>
          </a:solidFill>
          <a:ln w="9525">
            <a:solidFill>
              <a:srgbClr val="E8E4DC"/>
            </a:solidFill>
            <a:prstDash val="solid"/>
          </a:ln>
        </p:spPr>
        <p:txBody>
          <a:bodyPr/>
          <a:lstStyle/>
          <a:p>
            <a:endParaRPr lang="en-MT"/>
          </a:p>
        </p:txBody>
      </p:sp>
      <p:sp>
        <p:nvSpPr>
          <p:cNvPr id="7" name="Shape 4"/>
          <p:cNvSpPr/>
          <p:nvPr/>
        </p:nvSpPr>
        <p:spPr>
          <a:xfrm>
            <a:off x="4315968" y="1024128"/>
            <a:ext cx="274320" cy="585216"/>
          </a:xfrm>
          <a:prstGeom prst="rect">
            <a:avLst/>
          </a:prstGeom>
          <a:solidFill>
            <a:srgbClr val="0D7A8A"/>
          </a:solidFill>
          <a:ln w="12700">
            <a:solidFill>
              <a:srgbClr val="0D7A8A"/>
            </a:solidFill>
            <a:prstDash val="solid"/>
          </a:ln>
        </p:spPr>
        <p:txBody>
          <a:bodyPr/>
          <a:lstStyle/>
          <a:p>
            <a:endParaRPr lang="en-MT"/>
          </a:p>
        </p:txBody>
      </p:sp>
      <p:sp>
        <p:nvSpPr>
          <p:cNvPr id="8" name="Text 5"/>
          <p:cNvSpPr/>
          <p:nvPr/>
        </p:nvSpPr>
        <p:spPr>
          <a:xfrm>
            <a:off x="4334256" y="1024128"/>
            <a:ext cx="274320" cy="585216"/>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9" name="Text 6"/>
          <p:cNvSpPr/>
          <p:nvPr/>
        </p:nvSpPr>
        <p:spPr>
          <a:xfrm>
            <a:off x="4645152" y="1060704"/>
            <a:ext cx="4169664" cy="201168"/>
          </a:xfrm>
          <a:prstGeom prst="rect">
            <a:avLst/>
          </a:prstGeom>
          <a:noFill/>
          <a:ln/>
        </p:spPr>
        <p:txBody>
          <a:bodyPr wrap="square" rtlCol="0" anchor="ctr"/>
          <a:lstStyle/>
          <a:p>
            <a:pPr marL="0" indent="0">
              <a:buNone/>
            </a:pPr>
            <a:r>
              <a:rPr lang="en-US" sz="850" b="1" dirty="0">
                <a:solidFill>
                  <a:srgbClr val="1B3A5C"/>
                </a:solidFill>
                <a:latin typeface="Calibri" pitchFamily="34" charset="0"/>
                <a:ea typeface="Calibri" pitchFamily="34" charset="-122"/>
                <a:cs typeface="Calibri" pitchFamily="34" charset="-120"/>
              </a:rPr>
              <a:t>All 15 transformations exceed 33.3% chance</a:t>
            </a:r>
            <a:endParaRPr lang="en-US" sz="850" dirty="0"/>
          </a:p>
        </p:txBody>
      </p:sp>
      <p:sp>
        <p:nvSpPr>
          <p:cNvPr id="10" name="Text 7"/>
          <p:cNvSpPr/>
          <p:nvPr/>
        </p:nvSpPr>
        <p:spPr>
          <a:xfrm>
            <a:off x="4645152" y="1280160"/>
            <a:ext cx="4169664" cy="292608"/>
          </a:xfrm>
          <a:prstGeom prst="rect">
            <a:avLst/>
          </a:prstGeom>
          <a:noFill/>
          <a:ln/>
        </p:spPr>
        <p:txBody>
          <a:bodyPr wrap="square" rtlCol="0" anchor="ctr"/>
          <a:lstStyle/>
          <a:p>
            <a:pPr marL="0" indent="0">
              <a:lnSpc>
                <a:spcPct val="110000"/>
              </a:lnSpc>
              <a:buNone/>
            </a:pPr>
            <a:r>
              <a:rPr lang="en-US" sz="780" dirty="0">
                <a:solidFill>
                  <a:srgbClr val="1C2B3A"/>
                </a:solidFill>
                <a:latin typeface="Calibri" pitchFamily="34" charset="0"/>
                <a:ea typeface="Calibri" pitchFamily="34" charset="-122"/>
                <a:cs typeface="Calibri" pitchFamily="34" charset="-120"/>
              </a:rPr>
              <a:t>Every transformation retains dataset-discriminating signal — even mean RGB at 64.19%. Dataset identity is embedded in multiple correlated visual cues simultaneously, not any single isolated artefact.</a:t>
            </a:r>
            <a:endParaRPr lang="en-US" sz="780" dirty="0"/>
          </a:p>
        </p:txBody>
      </p:sp>
      <p:sp>
        <p:nvSpPr>
          <p:cNvPr id="11" name="Shape 8"/>
          <p:cNvSpPr/>
          <p:nvPr/>
        </p:nvSpPr>
        <p:spPr>
          <a:xfrm>
            <a:off x="4315968" y="1636776"/>
            <a:ext cx="4572000" cy="585216"/>
          </a:xfrm>
          <a:prstGeom prst="rect">
            <a:avLst/>
          </a:prstGeom>
          <a:solidFill>
            <a:srgbClr val="FFFFFF"/>
          </a:solidFill>
          <a:ln w="9525">
            <a:solidFill>
              <a:srgbClr val="E8E4DC"/>
            </a:solidFill>
            <a:prstDash val="solid"/>
          </a:ln>
        </p:spPr>
        <p:txBody>
          <a:bodyPr/>
          <a:lstStyle/>
          <a:p>
            <a:endParaRPr lang="en-MT"/>
          </a:p>
        </p:txBody>
      </p:sp>
      <p:sp>
        <p:nvSpPr>
          <p:cNvPr id="5" name="Shape 9"/>
          <p:cNvSpPr/>
          <p:nvPr/>
        </p:nvSpPr>
        <p:spPr>
          <a:xfrm>
            <a:off x="4315968" y="1636776"/>
            <a:ext cx="274320" cy="585216"/>
          </a:xfrm>
          <a:prstGeom prst="rect">
            <a:avLst/>
          </a:prstGeom>
          <a:solidFill>
            <a:srgbClr val="0D7A8A"/>
          </a:solidFill>
          <a:ln w="12700">
            <a:solidFill>
              <a:srgbClr val="0D7A8A"/>
            </a:solidFill>
            <a:prstDash val="solid"/>
          </a:ln>
        </p:spPr>
        <p:txBody>
          <a:bodyPr/>
          <a:lstStyle/>
          <a:p>
            <a:endParaRPr lang="en-MT"/>
          </a:p>
        </p:txBody>
      </p:sp>
      <p:sp>
        <p:nvSpPr>
          <p:cNvPr id="13" name="Text 10"/>
          <p:cNvSpPr/>
          <p:nvPr/>
        </p:nvSpPr>
        <p:spPr>
          <a:xfrm>
            <a:off x="4334256" y="1636776"/>
            <a:ext cx="274320" cy="585216"/>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Text 11"/>
          <p:cNvSpPr/>
          <p:nvPr/>
        </p:nvSpPr>
        <p:spPr>
          <a:xfrm>
            <a:off x="4645152" y="1673352"/>
            <a:ext cx="4169664" cy="201168"/>
          </a:xfrm>
          <a:prstGeom prst="rect">
            <a:avLst/>
          </a:prstGeom>
          <a:noFill/>
          <a:ln/>
        </p:spPr>
        <p:txBody>
          <a:bodyPr wrap="square" rtlCol="0" anchor="ctr"/>
          <a:lstStyle/>
          <a:p>
            <a:pPr marL="0" indent="0">
              <a:buNone/>
            </a:pPr>
            <a:r>
              <a:rPr lang="en-US" sz="850" b="1" dirty="0">
                <a:solidFill>
                  <a:srgbClr val="1B3A5C"/>
                </a:solidFill>
                <a:latin typeface="Calibri" pitchFamily="34" charset="0"/>
                <a:ea typeface="Calibri" pitchFamily="34" charset="-122"/>
                <a:cs typeface="Calibri" pitchFamily="34" charset="-120"/>
              </a:rPr>
              <a:t>VAE result (99.15%) ≈ unmodified (99.42%)</a:t>
            </a:r>
            <a:endParaRPr lang="en-US" sz="850" dirty="0"/>
          </a:p>
        </p:txBody>
      </p:sp>
      <p:sp>
        <p:nvSpPr>
          <p:cNvPr id="15" name="Text 12"/>
          <p:cNvSpPr/>
          <p:nvPr/>
        </p:nvSpPr>
        <p:spPr>
          <a:xfrm>
            <a:off x="4645152" y="1892808"/>
            <a:ext cx="4169664" cy="292608"/>
          </a:xfrm>
          <a:prstGeom prst="rect">
            <a:avLst/>
          </a:prstGeom>
          <a:noFill/>
          <a:ln/>
        </p:spPr>
        <p:txBody>
          <a:bodyPr wrap="square" rtlCol="0" anchor="ctr"/>
          <a:lstStyle/>
          <a:p>
            <a:pPr marL="0" indent="0">
              <a:lnSpc>
                <a:spcPct val="110000"/>
              </a:lnSpc>
              <a:buNone/>
            </a:pPr>
            <a:r>
              <a:rPr lang="en-US" sz="780" dirty="0">
                <a:solidFill>
                  <a:srgbClr val="1C2B3A"/>
                </a:solidFill>
                <a:latin typeface="Calibri" pitchFamily="34" charset="0"/>
                <a:ea typeface="Calibri" pitchFamily="34" charset="-122"/>
                <a:cs typeface="Calibri" pitchFamily="34" charset="-120"/>
              </a:rPr>
              <a:t>A drop of only 0.27 pp after VAE reconstruction rules out simple acquisition artefacts (compression differences, file-format shortcuts) as the dominant source of discriminating signal.</a:t>
            </a:r>
            <a:endParaRPr lang="en-US" sz="780" dirty="0"/>
          </a:p>
        </p:txBody>
      </p:sp>
      <p:sp>
        <p:nvSpPr>
          <p:cNvPr id="16" name="Shape 13"/>
          <p:cNvSpPr/>
          <p:nvPr/>
        </p:nvSpPr>
        <p:spPr>
          <a:xfrm>
            <a:off x="4315968" y="2249424"/>
            <a:ext cx="4572000" cy="585216"/>
          </a:xfrm>
          <a:prstGeom prst="rect">
            <a:avLst/>
          </a:prstGeom>
          <a:solidFill>
            <a:srgbClr val="FFFFFF"/>
          </a:solidFill>
          <a:ln w="9525">
            <a:solidFill>
              <a:srgbClr val="E8E4DC"/>
            </a:solidFill>
            <a:prstDash val="solid"/>
          </a:ln>
        </p:spPr>
        <p:txBody>
          <a:bodyPr/>
          <a:lstStyle/>
          <a:p>
            <a:endParaRPr lang="en-MT"/>
          </a:p>
        </p:txBody>
      </p:sp>
      <p:sp>
        <p:nvSpPr>
          <p:cNvPr id="17" name="Shape 14"/>
          <p:cNvSpPr/>
          <p:nvPr/>
        </p:nvSpPr>
        <p:spPr>
          <a:xfrm>
            <a:off x="4315968" y="2249424"/>
            <a:ext cx="274320" cy="585216"/>
          </a:xfrm>
          <a:prstGeom prst="rect">
            <a:avLst/>
          </a:prstGeom>
          <a:solidFill>
            <a:srgbClr val="0D7A8A"/>
          </a:solidFill>
          <a:ln w="12700">
            <a:solidFill>
              <a:srgbClr val="0D7A8A"/>
            </a:solidFill>
            <a:prstDash val="solid"/>
          </a:ln>
        </p:spPr>
        <p:txBody>
          <a:bodyPr/>
          <a:lstStyle/>
          <a:p>
            <a:endParaRPr lang="en-MT"/>
          </a:p>
        </p:txBody>
      </p:sp>
      <p:sp>
        <p:nvSpPr>
          <p:cNvPr id="18" name="Text 15"/>
          <p:cNvSpPr/>
          <p:nvPr/>
        </p:nvSpPr>
        <p:spPr>
          <a:xfrm>
            <a:off x="4334256" y="2249424"/>
            <a:ext cx="274320" cy="585216"/>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9" name="Text 16"/>
          <p:cNvSpPr/>
          <p:nvPr/>
        </p:nvSpPr>
        <p:spPr>
          <a:xfrm>
            <a:off x="4645152" y="2286000"/>
            <a:ext cx="4169664" cy="201168"/>
          </a:xfrm>
          <a:prstGeom prst="rect">
            <a:avLst/>
          </a:prstGeom>
          <a:noFill/>
          <a:ln/>
        </p:spPr>
        <p:txBody>
          <a:bodyPr wrap="square" rtlCol="0" anchor="ctr"/>
          <a:lstStyle/>
          <a:p>
            <a:pPr marL="0" indent="0">
              <a:buNone/>
            </a:pPr>
            <a:r>
              <a:rPr lang="en-US" sz="850" b="1" dirty="0">
                <a:solidFill>
                  <a:srgbClr val="1B3A5C"/>
                </a:solidFill>
                <a:latin typeface="Calibri" pitchFamily="34" charset="0"/>
                <a:ea typeface="Calibri" pitchFamily="34" charset="-122"/>
                <a:cs typeface="Calibri" pitchFamily="34" charset="-120"/>
              </a:rPr>
              <a:t>Patch-level local statistics are highly discriminative</a:t>
            </a:r>
            <a:endParaRPr lang="en-US" sz="850" dirty="0"/>
          </a:p>
        </p:txBody>
      </p:sp>
      <p:sp>
        <p:nvSpPr>
          <p:cNvPr id="20" name="Text 17"/>
          <p:cNvSpPr/>
          <p:nvPr/>
        </p:nvSpPr>
        <p:spPr>
          <a:xfrm>
            <a:off x="4645152" y="2505456"/>
            <a:ext cx="4169664" cy="292608"/>
          </a:xfrm>
          <a:prstGeom prst="rect">
            <a:avLst/>
          </a:prstGeom>
          <a:noFill/>
          <a:ln/>
        </p:spPr>
        <p:txBody>
          <a:bodyPr wrap="square" rtlCol="0" anchor="ctr"/>
          <a:lstStyle/>
          <a:p>
            <a:pPr marL="0" indent="0">
              <a:lnSpc>
                <a:spcPct val="110000"/>
              </a:lnSpc>
              <a:buNone/>
            </a:pPr>
            <a:r>
              <a:rPr lang="en-US" sz="780" dirty="0">
                <a:solidFill>
                  <a:srgbClr val="1C2B3A"/>
                </a:solidFill>
                <a:latin typeface="Calibri" pitchFamily="34" charset="0"/>
                <a:ea typeface="Calibri" pitchFamily="34" charset="-122"/>
                <a:cs typeface="Calibri" pitchFamily="34" charset="-120"/>
              </a:rPr>
              <a:t>2×2 patch shuffle → 89.91%; 16×16 → 97.69%. Dataset-specific signatures are embedded at fine spatial scales, not only in global scene layout.</a:t>
            </a:r>
            <a:endParaRPr lang="en-US" sz="780" dirty="0"/>
          </a:p>
        </p:txBody>
      </p:sp>
      <p:sp>
        <p:nvSpPr>
          <p:cNvPr id="21" name="Shape 18"/>
          <p:cNvSpPr/>
          <p:nvPr/>
        </p:nvSpPr>
        <p:spPr>
          <a:xfrm>
            <a:off x="4315968" y="2862072"/>
            <a:ext cx="4572000" cy="585216"/>
          </a:xfrm>
          <a:prstGeom prst="rect">
            <a:avLst/>
          </a:prstGeom>
          <a:solidFill>
            <a:srgbClr val="FFFFFF"/>
          </a:solidFill>
          <a:ln w="9525">
            <a:solidFill>
              <a:srgbClr val="E8E4DC"/>
            </a:solidFill>
            <a:prstDash val="solid"/>
          </a:ln>
        </p:spPr>
        <p:txBody>
          <a:bodyPr/>
          <a:lstStyle/>
          <a:p>
            <a:endParaRPr lang="en-MT"/>
          </a:p>
        </p:txBody>
      </p:sp>
      <p:sp>
        <p:nvSpPr>
          <p:cNvPr id="22" name="Shape 19"/>
          <p:cNvSpPr/>
          <p:nvPr/>
        </p:nvSpPr>
        <p:spPr>
          <a:xfrm>
            <a:off x="4315968" y="2862072"/>
            <a:ext cx="274320" cy="585216"/>
          </a:xfrm>
          <a:prstGeom prst="rect">
            <a:avLst/>
          </a:prstGeom>
          <a:solidFill>
            <a:srgbClr val="0D7A8A"/>
          </a:solidFill>
          <a:ln w="12700">
            <a:solidFill>
              <a:srgbClr val="0D7A8A"/>
            </a:solidFill>
            <a:prstDash val="solid"/>
          </a:ln>
        </p:spPr>
        <p:txBody>
          <a:bodyPr/>
          <a:lstStyle/>
          <a:p>
            <a:endParaRPr lang="en-MT"/>
          </a:p>
        </p:txBody>
      </p:sp>
      <p:sp>
        <p:nvSpPr>
          <p:cNvPr id="23" name="Text 20"/>
          <p:cNvSpPr/>
          <p:nvPr/>
        </p:nvSpPr>
        <p:spPr>
          <a:xfrm>
            <a:off x="4334256" y="2862072"/>
            <a:ext cx="274320" cy="585216"/>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4" name="Text 21"/>
          <p:cNvSpPr/>
          <p:nvPr/>
        </p:nvSpPr>
        <p:spPr>
          <a:xfrm>
            <a:off x="4645152" y="2898648"/>
            <a:ext cx="4169664" cy="201168"/>
          </a:xfrm>
          <a:prstGeom prst="rect">
            <a:avLst/>
          </a:prstGeom>
          <a:noFill/>
          <a:ln/>
        </p:spPr>
        <p:txBody>
          <a:bodyPr wrap="square" rtlCol="0" anchor="ctr"/>
          <a:lstStyle/>
          <a:p>
            <a:pPr marL="0" indent="0">
              <a:buNone/>
            </a:pPr>
            <a:r>
              <a:rPr lang="en-US" sz="850" b="1" dirty="0">
                <a:solidFill>
                  <a:srgbClr val="1B3A5C"/>
                </a:solidFill>
                <a:latin typeface="Calibri" pitchFamily="34" charset="0"/>
                <a:ea typeface="Calibri" pitchFamily="34" charset="-122"/>
                <a:cs typeface="Calibri" pitchFamily="34" charset="-120"/>
              </a:rPr>
              <a:t>Both frequency bands carry strong signal (High 98.64%, Low 96.99%)</a:t>
            </a:r>
            <a:endParaRPr lang="en-US" sz="850" dirty="0"/>
          </a:p>
        </p:txBody>
      </p:sp>
      <p:sp>
        <p:nvSpPr>
          <p:cNvPr id="25" name="Text 22"/>
          <p:cNvSpPr/>
          <p:nvPr/>
        </p:nvSpPr>
        <p:spPr>
          <a:xfrm>
            <a:off x="4645152" y="3118104"/>
            <a:ext cx="4169664" cy="292608"/>
          </a:xfrm>
          <a:prstGeom prst="rect">
            <a:avLst/>
          </a:prstGeom>
          <a:noFill/>
          <a:ln/>
        </p:spPr>
        <p:txBody>
          <a:bodyPr wrap="square" rtlCol="0" anchor="ctr"/>
          <a:lstStyle/>
          <a:p>
            <a:pPr marL="0" indent="0">
              <a:lnSpc>
                <a:spcPct val="110000"/>
              </a:lnSpc>
              <a:buNone/>
            </a:pPr>
            <a:r>
              <a:rPr lang="en-US" sz="780" dirty="0">
                <a:solidFill>
                  <a:srgbClr val="1C2B3A"/>
                </a:solidFill>
                <a:latin typeface="Calibri" pitchFamily="34" charset="0"/>
                <a:ea typeface="Calibri" pitchFamily="34" charset="-122"/>
                <a:cs typeface="Calibri" pitchFamily="34" charset="-120"/>
              </a:rPr>
              <a:t>Visual bias spans the full frequency spectrum — not concentrated in either texture detail or smooth structure alone.</a:t>
            </a:r>
            <a:endParaRPr lang="en-US" sz="780" dirty="0"/>
          </a:p>
        </p:txBody>
      </p:sp>
      <p:sp>
        <p:nvSpPr>
          <p:cNvPr id="26" name="Shape 23"/>
          <p:cNvSpPr/>
          <p:nvPr/>
        </p:nvSpPr>
        <p:spPr>
          <a:xfrm>
            <a:off x="4315968" y="3474720"/>
            <a:ext cx="4572000" cy="585216"/>
          </a:xfrm>
          <a:prstGeom prst="rect">
            <a:avLst/>
          </a:prstGeom>
          <a:solidFill>
            <a:srgbClr val="FFFFFF"/>
          </a:solidFill>
          <a:ln w="9525">
            <a:solidFill>
              <a:srgbClr val="E8E4DC"/>
            </a:solidFill>
            <a:prstDash val="solid"/>
          </a:ln>
        </p:spPr>
        <p:txBody>
          <a:bodyPr/>
          <a:lstStyle/>
          <a:p>
            <a:endParaRPr lang="en-MT"/>
          </a:p>
        </p:txBody>
      </p:sp>
      <p:sp>
        <p:nvSpPr>
          <p:cNvPr id="27" name="Shape 24"/>
          <p:cNvSpPr/>
          <p:nvPr/>
        </p:nvSpPr>
        <p:spPr>
          <a:xfrm>
            <a:off x="4315968" y="3474720"/>
            <a:ext cx="274320" cy="585216"/>
          </a:xfrm>
          <a:prstGeom prst="rect">
            <a:avLst/>
          </a:prstGeom>
          <a:solidFill>
            <a:srgbClr val="0D7A8A"/>
          </a:solidFill>
          <a:ln w="12700">
            <a:solidFill>
              <a:srgbClr val="0D7A8A"/>
            </a:solidFill>
            <a:prstDash val="solid"/>
          </a:ln>
        </p:spPr>
        <p:txBody>
          <a:bodyPr/>
          <a:lstStyle/>
          <a:p>
            <a:endParaRPr lang="en-MT"/>
          </a:p>
        </p:txBody>
      </p:sp>
      <p:sp>
        <p:nvSpPr>
          <p:cNvPr id="28" name="Text 25"/>
          <p:cNvSpPr/>
          <p:nvPr/>
        </p:nvSpPr>
        <p:spPr>
          <a:xfrm>
            <a:off x="4334256" y="3474720"/>
            <a:ext cx="274320" cy="585216"/>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9" name="Text 26"/>
          <p:cNvSpPr/>
          <p:nvPr/>
        </p:nvSpPr>
        <p:spPr>
          <a:xfrm>
            <a:off x="4645152" y="3511296"/>
            <a:ext cx="4169664" cy="201168"/>
          </a:xfrm>
          <a:prstGeom prst="rect">
            <a:avLst/>
          </a:prstGeom>
          <a:noFill/>
          <a:ln/>
        </p:spPr>
        <p:txBody>
          <a:bodyPr wrap="square" rtlCol="0" anchor="ctr"/>
          <a:lstStyle/>
          <a:p>
            <a:pPr marL="0" indent="0">
              <a:buNone/>
            </a:pPr>
            <a:r>
              <a:rPr lang="en-US" sz="850" b="1" dirty="0">
                <a:solidFill>
                  <a:srgbClr val="1B3A5C"/>
                </a:solidFill>
                <a:latin typeface="Calibri" pitchFamily="34" charset="0"/>
                <a:ea typeface="Calibri" pitchFamily="34" charset="-122"/>
                <a:cs typeface="Calibri" pitchFamily="34" charset="-120"/>
              </a:rPr>
              <a:t>Semantic representations match structural ones (Captions 90.99%)</a:t>
            </a:r>
            <a:endParaRPr lang="en-US" sz="850" dirty="0"/>
          </a:p>
        </p:txBody>
      </p:sp>
      <p:sp>
        <p:nvSpPr>
          <p:cNvPr id="30" name="Text 27"/>
          <p:cNvSpPr/>
          <p:nvPr/>
        </p:nvSpPr>
        <p:spPr>
          <a:xfrm>
            <a:off x="4645152" y="3730752"/>
            <a:ext cx="4169664" cy="292608"/>
          </a:xfrm>
          <a:prstGeom prst="rect">
            <a:avLst/>
          </a:prstGeom>
          <a:noFill/>
          <a:ln/>
        </p:spPr>
        <p:txBody>
          <a:bodyPr wrap="square" rtlCol="0" anchor="ctr"/>
          <a:lstStyle/>
          <a:p>
            <a:pPr marL="0" indent="0">
              <a:lnSpc>
                <a:spcPct val="110000"/>
              </a:lnSpc>
              <a:buNone/>
            </a:pPr>
            <a:r>
              <a:rPr lang="en-US" sz="780" dirty="0">
                <a:solidFill>
                  <a:srgbClr val="1C2B3A"/>
                </a:solidFill>
                <a:latin typeface="Calibri" pitchFamily="34" charset="0"/>
                <a:ea typeface="Calibri" pitchFamily="34" charset="-122"/>
                <a:cs typeface="Calibri" pitchFamily="34" charset="-120"/>
              </a:rPr>
              <a:t>Dataset identity survives compression to natural language. Stereotyping is not confined to pixel statistics but extends into semantic content.</a:t>
            </a:r>
            <a:endParaRPr lang="en-US" sz="780" dirty="0"/>
          </a:p>
        </p:txBody>
      </p:sp>
      <p:sp>
        <p:nvSpPr>
          <p:cNvPr id="31" name="Shape 28"/>
          <p:cNvSpPr/>
          <p:nvPr/>
        </p:nvSpPr>
        <p:spPr>
          <a:xfrm>
            <a:off x="4315968" y="4087368"/>
            <a:ext cx="4572000" cy="585216"/>
          </a:xfrm>
          <a:prstGeom prst="rect">
            <a:avLst/>
          </a:prstGeom>
          <a:solidFill>
            <a:srgbClr val="FFFFFF"/>
          </a:solidFill>
          <a:ln w="9525">
            <a:solidFill>
              <a:srgbClr val="E8E4DC"/>
            </a:solidFill>
            <a:prstDash val="solid"/>
          </a:ln>
        </p:spPr>
        <p:txBody>
          <a:bodyPr/>
          <a:lstStyle/>
          <a:p>
            <a:endParaRPr lang="en-MT"/>
          </a:p>
        </p:txBody>
      </p:sp>
      <p:sp>
        <p:nvSpPr>
          <p:cNvPr id="32" name="Shape 29"/>
          <p:cNvSpPr/>
          <p:nvPr/>
        </p:nvSpPr>
        <p:spPr>
          <a:xfrm>
            <a:off x="4315968" y="4087368"/>
            <a:ext cx="274320" cy="585216"/>
          </a:xfrm>
          <a:prstGeom prst="rect">
            <a:avLst/>
          </a:prstGeom>
          <a:solidFill>
            <a:srgbClr val="0D7A8A"/>
          </a:solidFill>
          <a:ln w="12700">
            <a:solidFill>
              <a:srgbClr val="0D7A8A"/>
            </a:solidFill>
            <a:prstDash val="solid"/>
          </a:ln>
        </p:spPr>
        <p:txBody>
          <a:bodyPr/>
          <a:lstStyle/>
          <a:p>
            <a:endParaRPr lang="en-MT"/>
          </a:p>
        </p:txBody>
      </p:sp>
      <p:sp>
        <p:nvSpPr>
          <p:cNvPr id="33" name="Text 30"/>
          <p:cNvSpPr/>
          <p:nvPr/>
        </p:nvSpPr>
        <p:spPr>
          <a:xfrm>
            <a:off x="4334256" y="4087368"/>
            <a:ext cx="274320" cy="585216"/>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34" name="Text 31"/>
          <p:cNvSpPr/>
          <p:nvPr/>
        </p:nvSpPr>
        <p:spPr>
          <a:xfrm>
            <a:off x="4645152" y="4123944"/>
            <a:ext cx="4169664" cy="201168"/>
          </a:xfrm>
          <a:prstGeom prst="rect">
            <a:avLst/>
          </a:prstGeom>
          <a:noFill/>
          <a:ln/>
        </p:spPr>
        <p:txBody>
          <a:bodyPr wrap="square" rtlCol="0" anchor="ctr"/>
          <a:lstStyle/>
          <a:p>
            <a:pPr marL="0" indent="0">
              <a:buNone/>
            </a:pPr>
            <a:r>
              <a:rPr lang="en-US" sz="850" b="1" dirty="0">
                <a:solidFill>
                  <a:srgbClr val="1B3A5C"/>
                </a:solidFill>
                <a:latin typeface="Calibri" pitchFamily="34" charset="0"/>
                <a:ea typeface="Calibri" pitchFamily="34" charset="-122"/>
                <a:cs typeface="Calibri" pitchFamily="34" charset="-120"/>
              </a:rPr>
              <a:t>Accuracies exceed Zeng et al. by 15–25 pp</a:t>
            </a:r>
            <a:endParaRPr lang="en-US" sz="850" dirty="0"/>
          </a:p>
        </p:txBody>
      </p:sp>
      <p:sp>
        <p:nvSpPr>
          <p:cNvPr id="35" name="Text 32"/>
          <p:cNvSpPr/>
          <p:nvPr/>
        </p:nvSpPr>
        <p:spPr>
          <a:xfrm>
            <a:off x="4645152" y="4343400"/>
            <a:ext cx="4169664" cy="292608"/>
          </a:xfrm>
          <a:prstGeom prst="rect">
            <a:avLst/>
          </a:prstGeom>
          <a:noFill/>
          <a:ln/>
        </p:spPr>
        <p:txBody>
          <a:bodyPr wrap="square" rtlCol="0" anchor="ctr"/>
          <a:lstStyle/>
          <a:p>
            <a:pPr marL="0" indent="0">
              <a:lnSpc>
                <a:spcPct val="110000"/>
              </a:lnSpc>
              <a:buNone/>
            </a:pPr>
            <a:r>
              <a:rPr lang="en-US" sz="780" dirty="0">
                <a:solidFill>
                  <a:srgbClr val="1C2B3A"/>
                </a:solidFill>
                <a:latin typeface="Calibri" pitchFamily="34" charset="0"/>
                <a:ea typeface="Calibri" pitchFamily="34" charset="-122"/>
                <a:cs typeface="Calibri" pitchFamily="34" charset="-120"/>
              </a:rPr>
              <a:t>Attributable to the inclusion of SDv1.5, whose generative pipeline imposes highly consistent visual priors — making it far more internally homogeneous and easier to identify as a class than purely web-scraped corpora.</a:t>
            </a:r>
            <a:endParaRPr lang="en-US" sz="780" dirty="0"/>
          </a:p>
        </p:txBody>
      </p:sp>
      <p:sp>
        <p:nvSpPr>
          <p:cNvPr id="36" name="Shape 33"/>
          <p:cNvSpPr/>
          <p:nvPr/>
        </p:nvSpPr>
        <p:spPr>
          <a:xfrm>
            <a:off x="256032" y="4846320"/>
            <a:ext cx="8631936" cy="201168"/>
          </a:xfrm>
          <a:prstGeom prst="rect">
            <a:avLst/>
          </a:prstGeom>
          <a:solidFill>
            <a:srgbClr val="EEF0F8"/>
          </a:solidFill>
          <a:ln w="6350">
            <a:solidFill>
              <a:srgbClr val="E8E4DC"/>
            </a:solidFill>
            <a:prstDash val="solid"/>
          </a:ln>
        </p:spPr>
        <p:txBody>
          <a:bodyPr/>
          <a:lstStyle/>
          <a:p>
            <a:endParaRPr lang="en-MT"/>
          </a:p>
        </p:txBody>
      </p:sp>
      <p:sp>
        <p:nvSpPr>
          <p:cNvPr id="37" name="Text 34"/>
          <p:cNvSpPr/>
          <p:nvPr/>
        </p:nvSpPr>
        <p:spPr>
          <a:xfrm>
            <a:off x="402336" y="4864608"/>
            <a:ext cx="8339328" cy="182880"/>
          </a:xfrm>
          <a:prstGeom prst="rect">
            <a:avLst/>
          </a:prstGeom>
          <a:noFill/>
          <a:ln/>
        </p:spPr>
        <p:txBody>
          <a:bodyPr wrap="square" rtlCol="0" anchor="ctr"/>
          <a:lstStyle/>
          <a:p>
            <a:pPr marL="0" indent="0">
              <a:buNone/>
            </a:pPr>
            <a:r>
              <a:rPr lang="en-US" sz="800" b="1" dirty="0">
                <a:solidFill>
                  <a:srgbClr val="1B3A5C"/>
                </a:solidFill>
                <a:latin typeface="Calibri" pitchFamily="34" charset="0"/>
                <a:ea typeface="Calibri" pitchFamily="34" charset="-122"/>
                <a:cs typeface="Calibri" pitchFamily="34" charset="-120"/>
              </a:rPr>
              <a:t>§4.2 Dataset Classification  ·  Table 4.3  ·  §4.3.3 Connections to Dataset Classification Results</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F7F4EE"/>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B3A5C"/>
          </a:solidFill>
          <a:ln w="12700">
            <a:solidFill>
              <a:srgbClr val="1B3A5C"/>
            </a:solidFill>
            <a:prstDash val="solid"/>
          </a:ln>
        </p:spPr>
        <p:txBody>
          <a:bodyPr/>
          <a:lstStyle/>
          <a:p>
            <a:endParaRPr lang="en-MT"/>
          </a:p>
        </p:txBody>
      </p:sp>
      <p:sp>
        <p:nvSpPr>
          <p:cNvPr id="3" name="Text 1"/>
          <p:cNvSpPr/>
          <p:nvPr/>
        </p:nvSpPr>
        <p:spPr>
          <a:xfrm>
            <a:off x="411480" y="0"/>
            <a:ext cx="8321040" cy="713232"/>
          </a:xfrm>
          <a:prstGeom prst="rect">
            <a:avLst/>
          </a:prstGeom>
          <a:noFill/>
          <a:ln/>
        </p:spPr>
        <p:txBody>
          <a:bodyPr wrap="square"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EVALUATION  ·  DEMOGRAPHIC PROBING  ·  GENDER SEPARABILITY</a:t>
            </a:r>
            <a:endParaRPr lang="en-US" sz="1500" dirty="0"/>
          </a:p>
        </p:txBody>
      </p:sp>
      <p:sp>
        <p:nvSpPr>
          <p:cNvPr id="4" name="Text 2"/>
          <p:cNvSpPr/>
          <p:nvPr/>
        </p:nvSpPr>
        <p:spPr>
          <a:xfrm>
            <a:off x="274320" y="804672"/>
            <a:ext cx="8595360" cy="201168"/>
          </a:xfrm>
          <a:prstGeom prst="rect">
            <a:avLst/>
          </a:prstGeom>
          <a:noFill/>
          <a:ln/>
        </p:spPr>
        <p:txBody>
          <a:bodyPr wrap="square" rtlCol="0" anchor="ctr"/>
          <a:lstStyle/>
          <a:p>
            <a:pPr marL="0" indent="0">
              <a:buNone/>
            </a:pPr>
            <a:r>
              <a:rPr lang="en-US" sz="900" b="1" dirty="0">
                <a:solidFill>
                  <a:srgbClr val="4A6274"/>
                </a:solidFill>
                <a:latin typeface="Calibri" pitchFamily="34" charset="0"/>
                <a:ea typeface="Calibri" pitchFamily="34" charset="-122"/>
                <a:cs typeface="Calibri" pitchFamily="34" charset="-120"/>
              </a:rPr>
              <a:t>AUC-based gender probing per transformation  ·  Chance = 0.500  ·  Table 4.4  ·  Replicates &amp; extends Meister et al. to SDv1.5 and Re-LAION-5B</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274320" y="1033272"/>
          <a:ext cx="5120640" cy="3031236"/>
        </p:xfrm>
        <a:graphic>
          <a:graphicData uri="http://schemas.openxmlformats.org/drawingml/2006/table">
            <a:tbl>
              <a:tblPr/>
              <a:tblGrid>
                <a:gridCol w="214884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tblGrid>
              <a:tr h="233172">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Transformation</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Probe</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Re-LAION-5B</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SDv1.5</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extLst>
                  <a:ext uri="{0D108BD9-81ED-4DB2-BD59-A6C34878D82A}">
                    <a16:rowId xmlns:a16="http://schemas.microsoft.com/office/drawing/2014/main" val="10000"/>
                  </a:ext>
                </a:extLst>
              </a:tr>
              <a:tr h="233172">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Base (unmodified)</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ResNet-50</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0.986</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0D6B5E"/>
                          </a:solidFill>
                          <a:latin typeface="Calibri" pitchFamily="34" charset="0"/>
                          <a:ea typeface="Calibri" pitchFamily="34" charset="-122"/>
                          <a:cs typeface="Calibri" pitchFamily="34" charset="-120"/>
                        </a:rPr>
                        <a:t>0.946</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33172">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Occlusion — full, no background</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ResNet-50</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850" dirty="0">
                          <a:solidFill>
                            <a:srgbClr val="9A5020"/>
                          </a:solidFill>
                          <a:latin typeface="Calibri" pitchFamily="34" charset="0"/>
                          <a:ea typeface="Calibri" pitchFamily="34" charset="-122"/>
                          <a:cs typeface="Calibri" pitchFamily="34" charset="-120"/>
                        </a:rPr>
                        <a:t>0.499 ≈ chance</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E8D8"/>
                    </a:solidFill>
                  </a:tcPr>
                </a:tc>
                <a:tc>
                  <a:txBody>
                    <a:bodyPr/>
                    <a:lstStyle/>
                    <a:p>
                      <a:pPr marL="0" indent="0" algn="ctr">
                        <a:buNone/>
                      </a:pPr>
                      <a:r>
                        <a:rPr lang="en-US" sz="850" b="1" dirty="0">
                          <a:solidFill>
                            <a:srgbClr val="0D6B5E"/>
                          </a:solidFill>
                          <a:latin typeface="Calibri" pitchFamily="34" charset="0"/>
                          <a:ea typeface="Calibri" pitchFamily="34" charset="-122"/>
                          <a:cs typeface="Calibri" pitchFamily="34" charset="-120"/>
                        </a:rPr>
                        <a:t>0.948</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0"/>
                    </a:solidFill>
                  </a:tcPr>
                </a:tc>
                <a:extLst>
                  <a:ext uri="{0D108BD9-81ED-4DB2-BD59-A6C34878D82A}">
                    <a16:rowId xmlns:a16="http://schemas.microsoft.com/office/drawing/2014/main" val="10002"/>
                  </a:ext>
                </a:extLst>
              </a:tr>
              <a:tr h="233172">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Occlusion — segm. mask</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ResNet-50</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9A5020"/>
                          </a:solidFill>
                          <a:latin typeface="Calibri" pitchFamily="34" charset="0"/>
                          <a:ea typeface="Calibri" pitchFamily="34" charset="-122"/>
                          <a:cs typeface="Calibri" pitchFamily="34" charset="-120"/>
                        </a:rPr>
                        <a:t>0.501 ≈ chance</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E8D8"/>
                    </a:solidFill>
                  </a:tcPr>
                </a:tc>
                <a:tc>
                  <a:txBody>
                    <a:bodyPr/>
                    <a:lstStyle/>
                    <a:p>
                      <a:pPr marL="0" indent="0" algn="ctr">
                        <a:buNone/>
                      </a:pPr>
                      <a:r>
                        <a:rPr lang="en-US" sz="850" b="1" dirty="0">
                          <a:solidFill>
                            <a:srgbClr val="0D6B5E"/>
                          </a:solidFill>
                          <a:latin typeface="Calibri" pitchFamily="34" charset="0"/>
                          <a:ea typeface="Calibri" pitchFamily="34" charset="-122"/>
                          <a:cs typeface="Calibri" pitchFamily="34" charset="-120"/>
                        </a:rPr>
                        <a:t>0.852</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33172">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Occlusion — segm. mask, no bg</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ResNet-50</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850" dirty="0">
                          <a:solidFill>
                            <a:srgbClr val="9A5020"/>
                          </a:solidFill>
                          <a:latin typeface="Calibri" pitchFamily="34" charset="0"/>
                          <a:ea typeface="Calibri" pitchFamily="34" charset="-122"/>
                          <a:cs typeface="Calibri" pitchFamily="34" charset="-120"/>
                        </a:rPr>
                        <a:t>0.501 ≈ chance</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E8D8"/>
                    </a:solidFill>
                  </a:tcPr>
                </a:tc>
                <a:tc>
                  <a:txBody>
                    <a:bodyPr/>
                    <a:lstStyle/>
                    <a:p>
                      <a:pPr marL="0" indent="0" algn="ctr">
                        <a:buNone/>
                      </a:pPr>
                      <a:r>
                        <a:rPr lang="en-US" sz="850" b="1" dirty="0">
                          <a:solidFill>
                            <a:srgbClr val="0D6B5E"/>
                          </a:solidFill>
                          <a:latin typeface="Calibri" pitchFamily="34" charset="0"/>
                          <a:ea typeface="Calibri" pitchFamily="34" charset="-122"/>
                          <a:cs typeface="Calibri" pitchFamily="34" charset="-120"/>
                        </a:rPr>
                        <a:t>0.834</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0"/>
                    </a:solidFill>
                  </a:tcPr>
                </a:tc>
                <a:extLst>
                  <a:ext uri="{0D108BD9-81ED-4DB2-BD59-A6C34878D82A}">
                    <a16:rowId xmlns:a16="http://schemas.microsoft.com/office/drawing/2014/main" val="10004"/>
                  </a:ext>
                </a:extLst>
              </a:tr>
              <a:tr h="233172">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Occlusion — rect. mask</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ResNet-50</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9A5020"/>
                          </a:solidFill>
                          <a:latin typeface="Calibri" pitchFamily="34" charset="0"/>
                          <a:ea typeface="Calibri" pitchFamily="34" charset="-122"/>
                          <a:cs typeface="Calibri" pitchFamily="34" charset="-120"/>
                        </a:rPr>
                        <a:t>0.501 ≈ chance</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E8D8"/>
                    </a:solidFill>
                  </a:tcPr>
                </a:tc>
                <a:tc>
                  <a:txBody>
                    <a:bodyPr/>
                    <a:lstStyle/>
                    <a:p>
                      <a:pPr marL="0" indent="0" algn="ctr">
                        <a:buNone/>
                      </a:pPr>
                      <a:r>
                        <a:rPr lang="en-US" sz="850" b="1" dirty="0">
                          <a:solidFill>
                            <a:srgbClr val="0D6B5E"/>
                          </a:solidFill>
                          <a:latin typeface="Calibri" pitchFamily="34" charset="0"/>
                          <a:ea typeface="Calibri" pitchFamily="34" charset="-122"/>
                          <a:cs typeface="Calibri" pitchFamily="34" charset="-120"/>
                        </a:rPr>
                        <a:t>0.747</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33172">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Occlusion — rect. mask, no bg</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ResNet-50</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850" dirty="0">
                          <a:solidFill>
                            <a:srgbClr val="9A5020"/>
                          </a:solidFill>
                          <a:latin typeface="Calibri" pitchFamily="34" charset="0"/>
                          <a:ea typeface="Calibri" pitchFamily="34" charset="-122"/>
                          <a:cs typeface="Calibri" pitchFamily="34" charset="-120"/>
                        </a:rPr>
                        <a:t>0.499 ≈ chance</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E8D8"/>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0.587</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0"/>
                    </a:solidFill>
                  </a:tcPr>
                </a:tc>
                <a:extLst>
                  <a:ext uri="{0D108BD9-81ED-4DB2-BD59-A6C34878D82A}">
                    <a16:rowId xmlns:a16="http://schemas.microsoft.com/office/drawing/2014/main" val="10006"/>
                  </a:ext>
                </a:extLst>
              </a:tr>
              <a:tr h="233172">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Pose keypoints (34-dim)</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MLP</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0.697</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0.680</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33172">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Captions</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SentenceT5</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0.901</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0.771</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extLst>
                  <a:ext uri="{0D108BD9-81ED-4DB2-BD59-A6C34878D82A}">
                    <a16:rowId xmlns:a16="http://schemas.microsoft.com/office/drawing/2014/main" val="10008"/>
                  </a:ext>
                </a:extLst>
              </a:tr>
              <a:tr h="233172">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Object detection</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Logistic Reg.</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0.692</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0.608</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33172">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Object det. (restricted vocab)</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Logistic Reg.</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0.615</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0.608</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extLst>
                  <a:ext uri="{0D108BD9-81ED-4DB2-BD59-A6C34878D82A}">
                    <a16:rowId xmlns:a16="http://schemas.microsoft.com/office/drawing/2014/main" val="10010"/>
                  </a:ext>
                </a:extLst>
              </a:tr>
              <a:tr h="233172">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Mean RGB</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Logistic Reg.</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0.600</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0.579</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233172">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Depth at pose keypoints</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Logistic Reg.</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0.559</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0.592</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extLst>
                  <a:ext uri="{0D108BD9-81ED-4DB2-BD59-A6C34878D82A}">
                    <a16:rowId xmlns:a16="http://schemas.microsoft.com/office/drawing/2014/main" val="10012"/>
                  </a:ext>
                </a:extLst>
              </a:tr>
            </a:tbl>
          </a:graphicData>
        </a:graphic>
      </p:graphicFrame>
      <p:sp>
        <p:nvSpPr>
          <p:cNvPr id="6" name="Shape 3"/>
          <p:cNvSpPr/>
          <p:nvPr/>
        </p:nvSpPr>
        <p:spPr>
          <a:xfrm>
            <a:off x="5623560" y="1033272"/>
            <a:ext cx="3264408" cy="3767328"/>
          </a:xfrm>
          <a:prstGeom prst="rect">
            <a:avLst/>
          </a:prstGeom>
          <a:solidFill>
            <a:srgbClr val="1B3A5C"/>
          </a:solidFill>
          <a:ln w="12700">
            <a:solidFill>
              <a:srgbClr val="1B3A5C"/>
            </a:solidFill>
            <a:prstDash val="solid"/>
          </a:ln>
          <a:effectLst>
            <a:outerShdw blurRad="63500" dist="25400" dir="8100000" algn="bl" rotWithShape="0">
              <a:srgbClr val="000000">
                <a:alpha val="10000"/>
              </a:srgbClr>
            </a:outerShdw>
          </a:effectLst>
        </p:spPr>
        <p:txBody>
          <a:bodyPr/>
          <a:lstStyle/>
          <a:p>
            <a:endParaRPr lang="en-MT"/>
          </a:p>
        </p:txBody>
      </p:sp>
      <p:sp>
        <p:nvSpPr>
          <p:cNvPr id="7" name="Shape 4"/>
          <p:cNvSpPr/>
          <p:nvPr/>
        </p:nvSpPr>
        <p:spPr>
          <a:xfrm>
            <a:off x="5623560" y="1033272"/>
            <a:ext cx="3264408" cy="64008"/>
          </a:xfrm>
          <a:prstGeom prst="rect">
            <a:avLst/>
          </a:prstGeom>
          <a:solidFill>
            <a:srgbClr val="0D7A8A"/>
          </a:solidFill>
          <a:ln w="12700">
            <a:solidFill>
              <a:srgbClr val="0D7A8A"/>
            </a:solidFill>
            <a:prstDash val="solid"/>
          </a:ln>
        </p:spPr>
        <p:txBody>
          <a:bodyPr/>
          <a:lstStyle/>
          <a:p>
            <a:endParaRPr lang="en-MT"/>
          </a:p>
        </p:txBody>
      </p:sp>
      <p:sp>
        <p:nvSpPr>
          <p:cNvPr id="8" name="Text 5"/>
          <p:cNvSpPr/>
          <p:nvPr/>
        </p:nvSpPr>
        <p:spPr>
          <a:xfrm>
            <a:off x="5623560" y="1124712"/>
            <a:ext cx="3264408" cy="201168"/>
          </a:xfrm>
          <a:prstGeom prst="rect">
            <a:avLst/>
          </a:prstGeom>
          <a:noFill/>
          <a:ln/>
        </p:spPr>
        <p:txBody>
          <a:bodyPr wrap="square" rtlCol="0" anchor="ctr"/>
          <a:lstStyle/>
          <a:p>
            <a:pPr marL="0" indent="0" algn="ctr">
              <a:buNone/>
            </a:pPr>
            <a:r>
              <a:rPr lang="en-US" sz="800" b="1" kern="0" spc="120" dirty="0">
                <a:solidFill>
                  <a:srgbClr val="0D7A8A"/>
                </a:solidFill>
                <a:latin typeface="Calibri" pitchFamily="34" charset="0"/>
                <a:ea typeface="Calibri" pitchFamily="34" charset="-122"/>
                <a:cs typeface="Calibri" pitchFamily="34" charset="-120"/>
              </a:rPr>
              <a:t>THE CENTRAL FINDING</a:t>
            </a:r>
            <a:endParaRPr lang="en-US" sz="800" dirty="0"/>
          </a:p>
        </p:txBody>
      </p:sp>
      <p:sp>
        <p:nvSpPr>
          <p:cNvPr id="9" name="Shape 6"/>
          <p:cNvSpPr/>
          <p:nvPr/>
        </p:nvSpPr>
        <p:spPr>
          <a:xfrm>
            <a:off x="5696712" y="1298448"/>
            <a:ext cx="3118104" cy="768096"/>
          </a:xfrm>
          <a:prstGeom prst="rect">
            <a:avLst/>
          </a:prstGeom>
          <a:solidFill>
            <a:srgbClr val="EAF4F0"/>
          </a:solidFill>
          <a:ln w="12700">
            <a:solidFill>
              <a:srgbClr val="EAF4F0"/>
            </a:solidFill>
            <a:prstDash val="solid"/>
          </a:ln>
        </p:spPr>
        <p:txBody>
          <a:bodyPr/>
          <a:lstStyle/>
          <a:p>
            <a:endParaRPr lang="en-MT"/>
          </a:p>
        </p:txBody>
      </p:sp>
      <p:sp>
        <p:nvSpPr>
          <p:cNvPr id="10" name="Text 7"/>
          <p:cNvSpPr/>
          <p:nvPr/>
        </p:nvSpPr>
        <p:spPr>
          <a:xfrm>
            <a:off x="5769864" y="1335024"/>
            <a:ext cx="2971800" cy="219456"/>
          </a:xfrm>
          <a:prstGeom prst="rect">
            <a:avLst/>
          </a:prstGeom>
          <a:noFill/>
          <a:ln/>
        </p:spPr>
        <p:txBody>
          <a:bodyPr wrap="square" rtlCol="0" anchor="ctr"/>
          <a:lstStyle/>
          <a:p>
            <a:r>
              <a:rPr lang="en-US" sz="850" b="1" dirty="0">
                <a:solidFill>
                  <a:srgbClr val="0D6B5E"/>
                </a:solidFill>
                <a:latin typeface="Calibri" pitchFamily="34" charset="0"/>
                <a:cs typeface="Calibri" pitchFamily="34" charset="-120"/>
              </a:rPr>
              <a:t>Re-LAION-5B</a:t>
            </a:r>
            <a:r>
              <a:rPr lang="en-US" sz="850" b="1" dirty="0">
                <a:solidFill>
                  <a:srgbClr val="0D6B5E"/>
                </a:solidFill>
                <a:latin typeface="Calibri" pitchFamily="34" charset="0"/>
                <a:ea typeface="Calibri" pitchFamily="34" charset="-122"/>
                <a:cs typeface="Calibri" pitchFamily="34" charset="-120"/>
              </a:rPr>
              <a:t>: </a:t>
            </a:r>
            <a:r>
              <a:rPr lang="en-GB" sz="850" b="1" dirty="0">
                <a:solidFill>
                  <a:srgbClr val="0D6B5E"/>
                </a:solidFill>
                <a:latin typeface="Calibri" pitchFamily="34" charset="0"/>
                <a:cs typeface="Calibri" pitchFamily="34" charset="-120"/>
              </a:rPr>
              <a:t>no</a:t>
            </a:r>
            <a:r>
              <a:rPr lang="en-GB" sz="900" dirty="0"/>
              <a:t> </a:t>
            </a:r>
            <a:r>
              <a:rPr lang="en-GB" sz="850" b="1" dirty="0">
                <a:solidFill>
                  <a:srgbClr val="0D6B5E"/>
                </a:solidFill>
                <a:latin typeface="Calibri" pitchFamily="34" charset="0"/>
                <a:cs typeface="Calibri" pitchFamily="34" charset="-120"/>
              </a:rPr>
              <a:t>background</a:t>
            </a:r>
            <a:r>
              <a:rPr lang="en-GB" sz="900" dirty="0"/>
              <a:t> </a:t>
            </a:r>
            <a:r>
              <a:rPr lang="en-GB" sz="850" b="1" dirty="0">
                <a:solidFill>
                  <a:srgbClr val="0D6B5E"/>
                </a:solidFill>
                <a:latin typeface="Calibri" pitchFamily="34" charset="0"/>
                <a:cs typeface="Calibri" pitchFamily="34" charset="-120"/>
              </a:rPr>
              <a:t>signal</a:t>
            </a:r>
            <a:endParaRPr lang="en-US" sz="850" b="1" dirty="0">
              <a:solidFill>
                <a:srgbClr val="0D6B5E"/>
              </a:solidFill>
              <a:latin typeface="Calibri" pitchFamily="34" charset="0"/>
              <a:cs typeface="Calibri" pitchFamily="34" charset="-120"/>
            </a:endParaRPr>
          </a:p>
        </p:txBody>
      </p:sp>
      <p:sp>
        <p:nvSpPr>
          <p:cNvPr id="11" name="Text 8"/>
          <p:cNvSpPr/>
          <p:nvPr/>
        </p:nvSpPr>
        <p:spPr>
          <a:xfrm>
            <a:off x="5769864" y="1572768"/>
            <a:ext cx="2971800" cy="493776"/>
          </a:xfrm>
          <a:prstGeom prst="rect">
            <a:avLst/>
          </a:prstGeom>
          <a:noFill/>
          <a:ln/>
        </p:spPr>
        <p:txBody>
          <a:bodyPr wrap="square" rtlCol="0" anchor="ctr"/>
          <a:lstStyle/>
          <a:p>
            <a:pPr>
              <a:lnSpc>
                <a:spcPct val="115000"/>
              </a:lnSpc>
            </a:pPr>
            <a:r>
              <a:rPr lang="en-US" sz="800" dirty="0"/>
              <a:t>All person-hidden variants collapse to chance — background carries no independent gender signal. Full-person-no-background also collapses to chance, though this result is ambiguous</a:t>
            </a:r>
          </a:p>
        </p:txBody>
      </p:sp>
      <p:sp>
        <p:nvSpPr>
          <p:cNvPr id="12" name="Shape 9"/>
          <p:cNvSpPr/>
          <p:nvPr/>
        </p:nvSpPr>
        <p:spPr>
          <a:xfrm>
            <a:off x="5696712" y="2093976"/>
            <a:ext cx="3118104" cy="768096"/>
          </a:xfrm>
          <a:prstGeom prst="rect">
            <a:avLst/>
          </a:prstGeom>
          <a:solidFill>
            <a:srgbClr val="FDE8D0"/>
          </a:solidFill>
          <a:ln w="12700">
            <a:solidFill>
              <a:srgbClr val="FDE8D0"/>
            </a:solidFill>
            <a:prstDash val="solid"/>
          </a:ln>
        </p:spPr>
        <p:txBody>
          <a:bodyPr/>
          <a:lstStyle/>
          <a:p>
            <a:endParaRPr lang="en-MT"/>
          </a:p>
        </p:txBody>
      </p:sp>
      <p:sp>
        <p:nvSpPr>
          <p:cNvPr id="5" name="Text 10"/>
          <p:cNvSpPr/>
          <p:nvPr/>
        </p:nvSpPr>
        <p:spPr>
          <a:xfrm>
            <a:off x="5769864" y="2130552"/>
            <a:ext cx="2971800" cy="219456"/>
          </a:xfrm>
          <a:prstGeom prst="rect">
            <a:avLst/>
          </a:prstGeom>
          <a:noFill/>
          <a:ln/>
        </p:spPr>
        <p:txBody>
          <a:bodyPr wrap="square" rtlCol="0" anchor="ctr"/>
          <a:lstStyle/>
          <a:p>
            <a:pPr marL="0" indent="0">
              <a:buNone/>
            </a:pPr>
            <a:r>
              <a:rPr lang="en-US" sz="850" b="1" dirty="0">
                <a:solidFill>
                  <a:srgbClr val="8B3000"/>
                </a:solidFill>
                <a:latin typeface="Calibri" pitchFamily="34" charset="0"/>
                <a:ea typeface="Calibri" pitchFamily="34" charset="-122"/>
                <a:cs typeface="Calibri" pitchFamily="34" charset="-120"/>
              </a:rPr>
              <a:t>SDv1.5: scene-distributed</a:t>
            </a:r>
            <a:endParaRPr lang="en-US" sz="850" dirty="0"/>
          </a:p>
        </p:txBody>
      </p:sp>
      <p:sp>
        <p:nvSpPr>
          <p:cNvPr id="14" name="Text 11"/>
          <p:cNvSpPr/>
          <p:nvPr/>
        </p:nvSpPr>
        <p:spPr>
          <a:xfrm>
            <a:off x="5769864" y="2368296"/>
            <a:ext cx="2971800" cy="493776"/>
          </a:xfrm>
          <a:prstGeom prst="rect">
            <a:avLst/>
          </a:prstGeom>
          <a:noFill/>
          <a:ln/>
        </p:spPr>
        <p:txBody>
          <a:bodyPr wrap="square" rtlCol="0" anchor="ctr"/>
          <a:lstStyle/>
          <a:p>
            <a:pPr marL="0" indent="0">
              <a:lnSpc>
                <a:spcPct val="115000"/>
              </a:lnSpc>
              <a:buNone/>
            </a:pPr>
            <a:r>
              <a:rPr lang="en-US" sz="800" dirty="0">
                <a:solidFill>
                  <a:srgbClr val="1C2B3A"/>
                </a:solidFill>
                <a:latin typeface="Calibri" pitchFamily="34" charset="0"/>
                <a:ea typeface="Calibri" pitchFamily="34" charset="-122"/>
                <a:cs typeface="Calibri" pitchFamily="34" charset="-120"/>
              </a:rPr>
              <a:t>Background alone (MaskRect) → 0.747. Person silhouette alone (MaskSegm NoBg) → 0.834. Captions → 0.771. Demographic signal persists cross-modally.</a:t>
            </a:r>
            <a:endParaRPr lang="en-US" sz="800" dirty="0"/>
          </a:p>
        </p:txBody>
      </p:sp>
      <p:sp>
        <p:nvSpPr>
          <p:cNvPr id="15" name="Shape 12"/>
          <p:cNvSpPr/>
          <p:nvPr/>
        </p:nvSpPr>
        <p:spPr>
          <a:xfrm>
            <a:off x="5696712" y="2889504"/>
            <a:ext cx="3118104" cy="768096"/>
          </a:xfrm>
          <a:prstGeom prst="rect">
            <a:avLst/>
          </a:prstGeom>
          <a:solidFill>
            <a:srgbClr val="E8EEF8"/>
          </a:solidFill>
          <a:ln w="12700">
            <a:solidFill>
              <a:srgbClr val="E8EEF8"/>
            </a:solidFill>
            <a:prstDash val="solid"/>
          </a:ln>
        </p:spPr>
        <p:txBody>
          <a:bodyPr/>
          <a:lstStyle/>
          <a:p>
            <a:endParaRPr lang="en-MT"/>
          </a:p>
        </p:txBody>
      </p:sp>
      <p:sp>
        <p:nvSpPr>
          <p:cNvPr id="16" name="Text 13"/>
          <p:cNvSpPr/>
          <p:nvPr/>
        </p:nvSpPr>
        <p:spPr>
          <a:xfrm>
            <a:off x="5769864" y="2926080"/>
            <a:ext cx="2971800" cy="219456"/>
          </a:xfrm>
          <a:prstGeom prst="rect">
            <a:avLst/>
          </a:prstGeom>
          <a:noFill/>
          <a:ln/>
        </p:spPr>
        <p:txBody>
          <a:bodyPr wrap="square" rtlCol="0" anchor="ctr"/>
          <a:lstStyle/>
          <a:p>
            <a:pPr marL="0" indent="0">
              <a:buNone/>
            </a:pPr>
            <a:r>
              <a:rPr lang="en-US" sz="850" b="1" dirty="0">
                <a:solidFill>
                  <a:srgbClr val="1B3A5C"/>
                </a:solidFill>
                <a:latin typeface="Calibri" pitchFamily="34" charset="0"/>
                <a:ea typeface="Calibri" pitchFamily="34" charset="-122"/>
                <a:cs typeface="Calibri" pitchFamily="34" charset="-120"/>
              </a:rPr>
              <a:t>Background is the primary SDv1.5 carrier</a:t>
            </a:r>
            <a:endParaRPr lang="en-US" sz="850" dirty="0"/>
          </a:p>
        </p:txBody>
      </p:sp>
      <p:sp>
        <p:nvSpPr>
          <p:cNvPr id="17" name="Text 14"/>
          <p:cNvSpPr/>
          <p:nvPr/>
        </p:nvSpPr>
        <p:spPr>
          <a:xfrm>
            <a:off x="5769864" y="3163824"/>
            <a:ext cx="2971800" cy="493776"/>
          </a:xfrm>
          <a:prstGeom prst="rect">
            <a:avLst/>
          </a:prstGeom>
          <a:noFill/>
          <a:ln/>
        </p:spPr>
        <p:txBody>
          <a:bodyPr wrap="square" rtlCol="0" anchor="ctr"/>
          <a:lstStyle/>
          <a:p>
            <a:pPr marL="0" indent="0">
              <a:lnSpc>
                <a:spcPct val="115000"/>
              </a:lnSpc>
              <a:buNone/>
            </a:pPr>
            <a:r>
              <a:rPr lang="en-US" sz="800" dirty="0">
                <a:solidFill>
                  <a:srgbClr val="1C2B3A"/>
                </a:solidFill>
                <a:latin typeface="Calibri" pitchFamily="34" charset="0"/>
                <a:ea typeface="Calibri" pitchFamily="34" charset="-122"/>
                <a:cs typeface="Calibri" pitchFamily="34" charset="-120"/>
              </a:rPr>
              <a:t>Removing the background (MaskRect NoBg) drops from 0.747 to 0.587 — the sharpest single reduction. Scene context is the dominant carrier, not person geometry.</a:t>
            </a:r>
            <a:endParaRPr lang="en-US" sz="800" dirty="0"/>
          </a:p>
        </p:txBody>
      </p:sp>
      <p:sp>
        <p:nvSpPr>
          <p:cNvPr id="18" name="Shape 15"/>
          <p:cNvSpPr/>
          <p:nvPr/>
        </p:nvSpPr>
        <p:spPr>
          <a:xfrm>
            <a:off x="5696712" y="3685032"/>
            <a:ext cx="3118104" cy="768096"/>
          </a:xfrm>
          <a:prstGeom prst="rect">
            <a:avLst/>
          </a:prstGeom>
          <a:solidFill>
            <a:srgbClr val="F4F8E8"/>
          </a:solidFill>
          <a:ln w="12700">
            <a:solidFill>
              <a:srgbClr val="F4F8E8"/>
            </a:solidFill>
            <a:prstDash val="solid"/>
          </a:ln>
        </p:spPr>
        <p:txBody>
          <a:bodyPr/>
          <a:lstStyle/>
          <a:p>
            <a:endParaRPr lang="en-MT"/>
          </a:p>
        </p:txBody>
      </p:sp>
      <p:sp>
        <p:nvSpPr>
          <p:cNvPr id="19" name="Text 16"/>
          <p:cNvSpPr/>
          <p:nvPr/>
        </p:nvSpPr>
        <p:spPr>
          <a:xfrm>
            <a:off x="5769864" y="3721608"/>
            <a:ext cx="2971800" cy="219456"/>
          </a:xfrm>
          <a:prstGeom prst="rect">
            <a:avLst/>
          </a:prstGeom>
          <a:noFill/>
          <a:ln/>
        </p:spPr>
        <p:txBody>
          <a:bodyPr wrap="square" rtlCol="0" anchor="ctr"/>
          <a:lstStyle/>
          <a:p>
            <a:pPr marL="0" indent="0">
              <a:buNone/>
            </a:pPr>
            <a:r>
              <a:rPr lang="en-US" sz="850" b="1" dirty="0">
                <a:solidFill>
                  <a:srgbClr val="3A6020"/>
                </a:solidFill>
                <a:latin typeface="Calibri" pitchFamily="34" charset="0"/>
                <a:ea typeface="Calibri" pitchFamily="34" charset="-122"/>
                <a:cs typeface="Calibri" pitchFamily="34" charset="-120"/>
              </a:rPr>
              <a:t>Mean RGB replicates Meister et al.</a:t>
            </a:r>
            <a:endParaRPr lang="en-US" sz="850" dirty="0"/>
          </a:p>
        </p:txBody>
      </p:sp>
      <p:sp>
        <p:nvSpPr>
          <p:cNvPr id="20" name="Text 17"/>
          <p:cNvSpPr/>
          <p:nvPr/>
        </p:nvSpPr>
        <p:spPr>
          <a:xfrm>
            <a:off x="5769864" y="3959352"/>
            <a:ext cx="2971800" cy="493776"/>
          </a:xfrm>
          <a:prstGeom prst="rect">
            <a:avLst/>
          </a:prstGeom>
          <a:noFill/>
          <a:ln/>
        </p:spPr>
        <p:txBody>
          <a:bodyPr wrap="square" rtlCol="0" anchor="ctr"/>
          <a:lstStyle/>
          <a:p>
            <a:pPr marL="0" indent="0">
              <a:lnSpc>
                <a:spcPct val="115000"/>
              </a:lnSpc>
              <a:buNone/>
            </a:pPr>
            <a:r>
              <a:rPr lang="en-US" sz="800" dirty="0">
                <a:solidFill>
                  <a:srgbClr val="1C2B3A"/>
                </a:solidFill>
                <a:latin typeface="Calibri" pitchFamily="34" charset="0"/>
                <a:ea typeface="Calibri" pitchFamily="34" charset="-122"/>
                <a:cs typeface="Calibri" pitchFamily="34" charset="-120"/>
              </a:rPr>
              <a:t>Re-LAION-5B 0.600, SDv1.5 0.579 — comparable to Meister et al.'s 0.580 on COCO, confirming photometric stereotyping at scale.</a:t>
            </a:r>
            <a:endParaRPr lang="en-US" sz="800" dirty="0"/>
          </a:p>
        </p:txBody>
      </p:sp>
      <p:sp>
        <p:nvSpPr>
          <p:cNvPr id="21" name="Shape 18"/>
          <p:cNvSpPr/>
          <p:nvPr/>
        </p:nvSpPr>
        <p:spPr>
          <a:xfrm>
            <a:off x="256032" y="4846320"/>
            <a:ext cx="8631936" cy="201168"/>
          </a:xfrm>
          <a:prstGeom prst="rect">
            <a:avLst/>
          </a:prstGeom>
          <a:solidFill>
            <a:srgbClr val="EEF0F8"/>
          </a:solidFill>
          <a:ln w="6350">
            <a:solidFill>
              <a:srgbClr val="E8E4DC"/>
            </a:solidFill>
            <a:prstDash val="solid"/>
          </a:ln>
        </p:spPr>
        <p:txBody>
          <a:bodyPr/>
          <a:lstStyle/>
          <a:p>
            <a:endParaRPr lang="en-MT"/>
          </a:p>
        </p:txBody>
      </p:sp>
      <p:sp>
        <p:nvSpPr>
          <p:cNvPr id="22" name="Text 19"/>
          <p:cNvSpPr/>
          <p:nvPr/>
        </p:nvSpPr>
        <p:spPr>
          <a:xfrm>
            <a:off x="402336" y="4864608"/>
            <a:ext cx="8339328" cy="182880"/>
          </a:xfrm>
          <a:prstGeom prst="rect">
            <a:avLst/>
          </a:prstGeom>
          <a:noFill/>
          <a:ln/>
        </p:spPr>
        <p:txBody>
          <a:bodyPr wrap="square" rtlCol="0" anchor="ctr"/>
          <a:lstStyle/>
          <a:p>
            <a:pPr marL="0" indent="0">
              <a:buNone/>
            </a:pPr>
            <a:r>
              <a:rPr lang="en-US" sz="800" b="1" dirty="0">
                <a:solidFill>
                  <a:srgbClr val="1B3A5C"/>
                </a:solidFill>
                <a:latin typeface="Calibri" pitchFamily="34" charset="0"/>
                <a:ea typeface="Calibri" pitchFamily="34" charset="-122"/>
                <a:cs typeface="Calibri" pitchFamily="34" charset="-120"/>
              </a:rPr>
              <a:t>§4.3.1 Gender Artifact Analysis  ·  Table 4.4  ·  Replicates Meister et al. occlusion protocol — applied to profession-conditioned imagery  ·  Extended to SDv1.5</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bg>
      <p:bgPr>
        <a:solidFill>
          <a:srgbClr val="F7F4EE"/>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B3A5C"/>
          </a:solidFill>
          <a:ln w="12700">
            <a:solidFill>
              <a:srgbClr val="1B3A5C"/>
            </a:solidFill>
            <a:prstDash val="solid"/>
          </a:ln>
        </p:spPr>
        <p:txBody>
          <a:bodyPr/>
          <a:lstStyle/>
          <a:p>
            <a:endParaRPr lang="en-MT"/>
          </a:p>
        </p:txBody>
      </p:sp>
      <p:sp>
        <p:nvSpPr>
          <p:cNvPr id="3" name="Text 1"/>
          <p:cNvSpPr/>
          <p:nvPr/>
        </p:nvSpPr>
        <p:spPr>
          <a:xfrm>
            <a:off x="411480" y="0"/>
            <a:ext cx="8321040" cy="713232"/>
          </a:xfrm>
          <a:prstGeom prst="rect">
            <a:avLst/>
          </a:prstGeom>
          <a:noFill/>
          <a:ln/>
        </p:spPr>
        <p:txBody>
          <a:bodyPr wrap="square"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EVALUATION  ·  DEMOGRAPHIC PROBING  ·  SKIN TONE SEPARABILITY</a:t>
            </a:r>
            <a:endParaRPr lang="en-US" sz="1500" dirty="0"/>
          </a:p>
        </p:txBody>
      </p:sp>
      <p:sp>
        <p:nvSpPr>
          <p:cNvPr id="4" name="Text 2"/>
          <p:cNvSpPr/>
          <p:nvPr/>
        </p:nvSpPr>
        <p:spPr>
          <a:xfrm>
            <a:off x="274320" y="804672"/>
            <a:ext cx="8595360" cy="201168"/>
          </a:xfrm>
          <a:prstGeom prst="rect">
            <a:avLst/>
          </a:prstGeom>
          <a:noFill/>
          <a:ln/>
        </p:spPr>
        <p:txBody>
          <a:bodyPr wrap="square" rtlCol="0" anchor="ctr"/>
          <a:lstStyle/>
          <a:p>
            <a:pPr marL="0" indent="0">
              <a:buNone/>
            </a:pPr>
            <a:r>
              <a:rPr lang="en-US" sz="900" b="1" dirty="0">
                <a:solidFill>
                  <a:srgbClr val="4A6274"/>
                </a:solidFill>
                <a:latin typeface="Calibri" pitchFamily="34" charset="0"/>
                <a:ea typeface="Calibri" pitchFamily="34" charset="-122"/>
                <a:cs typeface="Calibri" pitchFamily="34" charset="-120"/>
              </a:rPr>
              <a:t>Macro-averaged AUC across MST 1–8 (MST 9–10 absent from both corpora)  ·  Chance = 0.500  ·  Table 4.5</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274320" y="1033272"/>
          <a:ext cx="5120640" cy="3031236"/>
        </p:xfrm>
        <a:graphic>
          <a:graphicData uri="http://schemas.openxmlformats.org/drawingml/2006/table">
            <a:tbl>
              <a:tblPr/>
              <a:tblGrid>
                <a:gridCol w="214884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tblGrid>
              <a:tr h="233172">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Transformation</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Probe</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Re-LAION-5B</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SDv1.5</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extLst>
                  <a:ext uri="{0D108BD9-81ED-4DB2-BD59-A6C34878D82A}">
                    <a16:rowId xmlns:a16="http://schemas.microsoft.com/office/drawing/2014/main" val="10000"/>
                  </a:ext>
                </a:extLst>
              </a:tr>
              <a:tr h="233172">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Base (unmodified)</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ResNet-50</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0.968</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0D6B5E"/>
                          </a:solidFill>
                          <a:latin typeface="Calibri" pitchFamily="34" charset="0"/>
                          <a:ea typeface="Calibri" pitchFamily="34" charset="-122"/>
                          <a:cs typeface="Calibri" pitchFamily="34" charset="-120"/>
                        </a:rPr>
                        <a:t>0.900</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33172">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Occlusion — full, no background</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ResNet-50</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850" dirty="0">
                          <a:solidFill>
                            <a:srgbClr val="9A5020"/>
                          </a:solidFill>
                          <a:latin typeface="Calibri" pitchFamily="34" charset="0"/>
                          <a:ea typeface="Calibri" pitchFamily="34" charset="-122"/>
                          <a:cs typeface="Calibri" pitchFamily="34" charset="-120"/>
                        </a:rPr>
                        <a:t>0.514 ≈ chance</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E8D8"/>
                    </a:solidFill>
                  </a:tcPr>
                </a:tc>
                <a:tc>
                  <a:txBody>
                    <a:bodyPr/>
                    <a:lstStyle/>
                    <a:p>
                      <a:pPr marL="0" indent="0" algn="ctr">
                        <a:buNone/>
                      </a:pPr>
                      <a:r>
                        <a:rPr lang="en-US" sz="850" b="1" dirty="0">
                          <a:solidFill>
                            <a:srgbClr val="0D6B5E"/>
                          </a:solidFill>
                          <a:latin typeface="Calibri" pitchFamily="34" charset="0"/>
                          <a:ea typeface="Calibri" pitchFamily="34" charset="-122"/>
                          <a:cs typeface="Calibri" pitchFamily="34" charset="-120"/>
                        </a:rPr>
                        <a:t>0.899</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0"/>
                    </a:solidFill>
                  </a:tcPr>
                </a:tc>
                <a:extLst>
                  <a:ext uri="{0D108BD9-81ED-4DB2-BD59-A6C34878D82A}">
                    <a16:rowId xmlns:a16="http://schemas.microsoft.com/office/drawing/2014/main" val="10002"/>
                  </a:ext>
                </a:extLst>
              </a:tr>
              <a:tr h="233172">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Occlusion — segm. mask</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ResNet-50</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9A5020"/>
                          </a:solidFill>
                          <a:latin typeface="Calibri" pitchFamily="34" charset="0"/>
                          <a:ea typeface="Calibri" pitchFamily="34" charset="-122"/>
                          <a:cs typeface="Calibri" pitchFamily="34" charset="-120"/>
                        </a:rPr>
                        <a:t>0.514 ≈ chance</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E8D8"/>
                    </a:solidFill>
                  </a:tcPr>
                </a:tc>
                <a:tc>
                  <a:txBody>
                    <a:bodyPr/>
                    <a:lstStyle/>
                    <a:p>
                      <a:pPr marL="0" indent="0" algn="ctr">
                        <a:buNone/>
                      </a:pPr>
                      <a:r>
                        <a:rPr lang="en-US" sz="850" b="1" dirty="0">
                          <a:solidFill>
                            <a:srgbClr val="0D6B5E"/>
                          </a:solidFill>
                          <a:latin typeface="Calibri" pitchFamily="34" charset="0"/>
                          <a:ea typeface="Calibri" pitchFamily="34" charset="-122"/>
                          <a:cs typeface="Calibri" pitchFamily="34" charset="-120"/>
                        </a:rPr>
                        <a:t>0.774</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33172">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Occlusion — segm. mask, no bg</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ResNet-50</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850" dirty="0">
                          <a:solidFill>
                            <a:srgbClr val="9A5020"/>
                          </a:solidFill>
                          <a:latin typeface="Calibri" pitchFamily="34" charset="0"/>
                          <a:ea typeface="Calibri" pitchFamily="34" charset="-122"/>
                          <a:cs typeface="Calibri" pitchFamily="34" charset="-120"/>
                        </a:rPr>
                        <a:t>0.515 ≈ chance</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E8D8"/>
                    </a:solidFill>
                  </a:tcPr>
                </a:tc>
                <a:tc>
                  <a:txBody>
                    <a:bodyPr/>
                    <a:lstStyle/>
                    <a:p>
                      <a:pPr marL="0" indent="0" algn="ctr">
                        <a:buNone/>
                      </a:pPr>
                      <a:r>
                        <a:rPr lang="en-US" sz="850" b="1" dirty="0">
                          <a:solidFill>
                            <a:srgbClr val="0D6B5E"/>
                          </a:solidFill>
                          <a:latin typeface="Calibri" pitchFamily="34" charset="0"/>
                          <a:ea typeface="Calibri" pitchFamily="34" charset="-122"/>
                          <a:cs typeface="Calibri" pitchFamily="34" charset="-120"/>
                        </a:rPr>
                        <a:t>0.704</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0"/>
                    </a:solidFill>
                  </a:tcPr>
                </a:tc>
                <a:extLst>
                  <a:ext uri="{0D108BD9-81ED-4DB2-BD59-A6C34878D82A}">
                    <a16:rowId xmlns:a16="http://schemas.microsoft.com/office/drawing/2014/main" val="10004"/>
                  </a:ext>
                </a:extLst>
              </a:tr>
              <a:tr h="233172">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Occlusion — rect. mask</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ResNet-50</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9A5020"/>
                          </a:solidFill>
                          <a:latin typeface="Calibri" pitchFamily="34" charset="0"/>
                          <a:ea typeface="Calibri" pitchFamily="34" charset="-122"/>
                          <a:cs typeface="Calibri" pitchFamily="34" charset="-120"/>
                        </a:rPr>
                        <a:t>0.514 ≈ chance</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E8D8"/>
                    </a:solidFill>
                  </a:tcPr>
                </a:tc>
                <a:tc>
                  <a:txBody>
                    <a:bodyPr/>
                    <a:lstStyle/>
                    <a:p>
                      <a:pPr marL="0" indent="0" algn="ctr">
                        <a:buNone/>
                      </a:pPr>
                      <a:r>
                        <a:rPr lang="en-US" sz="850" b="1" dirty="0">
                          <a:solidFill>
                            <a:srgbClr val="0D6B5E"/>
                          </a:solidFill>
                          <a:latin typeface="Calibri" pitchFamily="34" charset="0"/>
                          <a:ea typeface="Calibri" pitchFamily="34" charset="-122"/>
                          <a:cs typeface="Calibri" pitchFamily="34" charset="-120"/>
                        </a:rPr>
                        <a:t>0.728</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33172">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Occlusion — rect. mask, no bg</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ResNet-50</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850" dirty="0">
                          <a:solidFill>
                            <a:srgbClr val="9A5020"/>
                          </a:solidFill>
                          <a:latin typeface="Calibri" pitchFamily="34" charset="0"/>
                          <a:ea typeface="Calibri" pitchFamily="34" charset="-122"/>
                          <a:cs typeface="Calibri" pitchFamily="34" charset="-120"/>
                        </a:rPr>
                        <a:t>0.515 ≈ chance</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E8D8"/>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0.660</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0"/>
                    </a:solidFill>
                  </a:tcPr>
                </a:tc>
                <a:extLst>
                  <a:ext uri="{0D108BD9-81ED-4DB2-BD59-A6C34878D82A}">
                    <a16:rowId xmlns:a16="http://schemas.microsoft.com/office/drawing/2014/main" val="10006"/>
                  </a:ext>
                </a:extLst>
              </a:tr>
              <a:tr h="233172">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Captions</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SentenceT5</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0.749</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0.673</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33172">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Object detection</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Logistic Reg.</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0.611</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0.663</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extLst>
                  <a:ext uri="{0D108BD9-81ED-4DB2-BD59-A6C34878D82A}">
                    <a16:rowId xmlns:a16="http://schemas.microsoft.com/office/drawing/2014/main" val="10008"/>
                  </a:ext>
                </a:extLst>
              </a:tr>
              <a:tr h="233172">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Pose keypoints</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MLP</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0.596</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0.666</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33172">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Depth at pose keypoints</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Logistic Reg.</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0.598</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0.655</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extLst>
                  <a:ext uri="{0D108BD9-81ED-4DB2-BD59-A6C34878D82A}">
                    <a16:rowId xmlns:a16="http://schemas.microsoft.com/office/drawing/2014/main" val="10010"/>
                  </a:ext>
                </a:extLst>
              </a:tr>
              <a:tr h="233172">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Object det. (restricted vocab)</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Logistic Reg.</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0.591</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0.626</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233172">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Mean RGB</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Logistic Reg.</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0.563</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0.543</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extLst>
                  <a:ext uri="{0D108BD9-81ED-4DB2-BD59-A6C34878D82A}">
                    <a16:rowId xmlns:a16="http://schemas.microsoft.com/office/drawing/2014/main" val="10012"/>
                  </a:ext>
                </a:extLst>
              </a:tr>
            </a:tbl>
          </a:graphicData>
        </a:graphic>
      </p:graphicFrame>
      <p:sp>
        <p:nvSpPr>
          <p:cNvPr id="6" name="Shape 3"/>
          <p:cNvSpPr/>
          <p:nvPr/>
        </p:nvSpPr>
        <p:spPr>
          <a:xfrm>
            <a:off x="5623560" y="1033272"/>
            <a:ext cx="3264408" cy="3767328"/>
          </a:xfrm>
          <a:prstGeom prst="rect">
            <a:avLst/>
          </a:prstGeom>
          <a:solidFill>
            <a:srgbClr val="1B3A5C"/>
          </a:solidFill>
          <a:ln w="12700">
            <a:solidFill>
              <a:srgbClr val="1B3A5C"/>
            </a:solidFill>
            <a:prstDash val="solid"/>
          </a:ln>
          <a:effectLst>
            <a:outerShdw blurRad="63500" dist="25400" dir="8100000" algn="bl" rotWithShape="0">
              <a:srgbClr val="000000">
                <a:alpha val="10000"/>
              </a:srgbClr>
            </a:outerShdw>
          </a:effectLst>
        </p:spPr>
        <p:txBody>
          <a:bodyPr/>
          <a:lstStyle/>
          <a:p>
            <a:endParaRPr lang="en-MT"/>
          </a:p>
        </p:txBody>
      </p:sp>
      <p:sp>
        <p:nvSpPr>
          <p:cNvPr id="7" name="Shape 4"/>
          <p:cNvSpPr/>
          <p:nvPr/>
        </p:nvSpPr>
        <p:spPr>
          <a:xfrm>
            <a:off x="5623560" y="1033272"/>
            <a:ext cx="3264408" cy="64008"/>
          </a:xfrm>
          <a:prstGeom prst="rect">
            <a:avLst/>
          </a:prstGeom>
          <a:solidFill>
            <a:srgbClr val="C9A84C"/>
          </a:solidFill>
          <a:ln w="12700">
            <a:solidFill>
              <a:srgbClr val="C9A84C"/>
            </a:solidFill>
            <a:prstDash val="solid"/>
          </a:ln>
        </p:spPr>
        <p:txBody>
          <a:bodyPr/>
          <a:lstStyle/>
          <a:p>
            <a:endParaRPr lang="en-MT"/>
          </a:p>
        </p:txBody>
      </p:sp>
      <p:sp>
        <p:nvSpPr>
          <p:cNvPr id="8" name="Text 5"/>
          <p:cNvSpPr/>
          <p:nvPr/>
        </p:nvSpPr>
        <p:spPr>
          <a:xfrm>
            <a:off x="5623560" y="1124712"/>
            <a:ext cx="3264408" cy="201168"/>
          </a:xfrm>
          <a:prstGeom prst="rect">
            <a:avLst/>
          </a:prstGeom>
          <a:noFill/>
          <a:ln/>
        </p:spPr>
        <p:txBody>
          <a:bodyPr wrap="square" rtlCol="0" anchor="ctr"/>
          <a:lstStyle/>
          <a:p>
            <a:pPr marL="0" indent="0" algn="ctr">
              <a:buNone/>
            </a:pPr>
            <a:r>
              <a:rPr lang="en-US" sz="800" b="1" kern="0" spc="120" dirty="0">
                <a:solidFill>
                  <a:srgbClr val="C9A84C"/>
                </a:solidFill>
                <a:latin typeface="Calibri" pitchFamily="34" charset="0"/>
                <a:ea typeface="Calibri" pitchFamily="34" charset="-122"/>
                <a:cs typeface="Calibri" pitchFamily="34" charset="-120"/>
              </a:rPr>
              <a:t>KEY FINDINGS</a:t>
            </a:r>
            <a:endParaRPr lang="en-US" sz="800" dirty="0"/>
          </a:p>
        </p:txBody>
      </p:sp>
      <p:sp>
        <p:nvSpPr>
          <p:cNvPr id="9" name="Shape 6"/>
          <p:cNvSpPr/>
          <p:nvPr/>
        </p:nvSpPr>
        <p:spPr>
          <a:xfrm>
            <a:off x="5696712" y="1298448"/>
            <a:ext cx="3118104" cy="768096"/>
          </a:xfrm>
          <a:prstGeom prst="rect">
            <a:avLst/>
          </a:prstGeom>
          <a:solidFill>
            <a:srgbClr val="EAF4F0"/>
          </a:solidFill>
          <a:ln w="12700">
            <a:solidFill>
              <a:srgbClr val="EAF4F0"/>
            </a:solidFill>
            <a:prstDash val="solid"/>
          </a:ln>
        </p:spPr>
        <p:txBody>
          <a:bodyPr/>
          <a:lstStyle/>
          <a:p>
            <a:endParaRPr lang="en-MT"/>
          </a:p>
        </p:txBody>
      </p:sp>
      <p:sp>
        <p:nvSpPr>
          <p:cNvPr id="10" name="Text 7"/>
          <p:cNvSpPr/>
          <p:nvPr/>
        </p:nvSpPr>
        <p:spPr>
          <a:xfrm>
            <a:off x="5769864" y="1335024"/>
            <a:ext cx="2971800" cy="219456"/>
          </a:xfrm>
          <a:prstGeom prst="rect">
            <a:avLst/>
          </a:prstGeom>
          <a:noFill/>
          <a:ln/>
        </p:spPr>
        <p:txBody>
          <a:bodyPr wrap="square" rtlCol="0" anchor="ctr"/>
          <a:lstStyle/>
          <a:p>
            <a:pPr marL="0" indent="0">
              <a:buNone/>
            </a:pPr>
            <a:r>
              <a:rPr lang="en-US" sz="850" b="1" dirty="0">
                <a:solidFill>
                  <a:srgbClr val="0D6B5E"/>
                </a:solidFill>
                <a:latin typeface="Calibri" pitchFamily="34" charset="0"/>
                <a:ea typeface="Calibri" pitchFamily="34" charset="-122"/>
                <a:cs typeface="Calibri" pitchFamily="34" charset="-120"/>
              </a:rPr>
              <a:t>Same structural asymmetry as gender</a:t>
            </a:r>
            <a:endParaRPr lang="en-US" sz="850" dirty="0"/>
          </a:p>
        </p:txBody>
      </p:sp>
      <p:sp>
        <p:nvSpPr>
          <p:cNvPr id="11" name="Text 8"/>
          <p:cNvSpPr/>
          <p:nvPr/>
        </p:nvSpPr>
        <p:spPr>
          <a:xfrm>
            <a:off x="5769864" y="1538648"/>
            <a:ext cx="2971800" cy="493776"/>
          </a:xfrm>
          <a:prstGeom prst="rect">
            <a:avLst/>
          </a:prstGeom>
          <a:noFill/>
          <a:ln/>
        </p:spPr>
        <p:txBody>
          <a:bodyPr wrap="square" rtlCol="0" anchor="ctr"/>
          <a:lstStyle/>
          <a:p>
            <a:pPr>
              <a:lnSpc>
                <a:spcPct val="115000"/>
              </a:lnSpc>
            </a:pPr>
            <a:r>
              <a:rPr lang="en-US" sz="800" dirty="0"/>
              <a:t>Re-LAION-5B: all occlusion variants at chance (0.514–0.515) — background carries no independent skin tone signal. Full-person-no-background result is ambiguous. SDv1.5: contextual signal retained across every masking strategy (0.660–0.899).</a:t>
            </a:r>
          </a:p>
        </p:txBody>
      </p:sp>
      <p:sp>
        <p:nvSpPr>
          <p:cNvPr id="12" name="Shape 9"/>
          <p:cNvSpPr/>
          <p:nvPr/>
        </p:nvSpPr>
        <p:spPr>
          <a:xfrm>
            <a:off x="5696712" y="2093976"/>
            <a:ext cx="3118104" cy="768096"/>
          </a:xfrm>
          <a:prstGeom prst="rect">
            <a:avLst/>
          </a:prstGeom>
          <a:solidFill>
            <a:srgbClr val="FDE8D0"/>
          </a:solidFill>
          <a:ln w="12700">
            <a:solidFill>
              <a:srgbClr val="FDE8D0"/>
            </a:solidFill>
            <a:prstDash val="solid"/>
          </a:ln>
        </p:spPr>
        <p:txBody>
          <a:bodyPr/>
          <a:lstStyle/>
          <a:p>
            <a:endParaRPr lang="en-MT"/>
          </a:p>
        </p:txBody>
      </p:sp>
      <p:sp>
        <p:nvSpPr>
          <p:cNvPr id="13" name="Text 10"/>
          <p:cNvSpPr/>
          <p:nvPr/>
        </p:nvSpPr>
        <p:spPr>
          <a:xfrm>
            <a:off x="5769864" y="2130552"/>
            <a:ext cx="2971800" cy="219456"/>
          </a:xfrm>
          <a:prstGeom prst="rect">
            <a:avLst/>
          </a:prstGeom>
          <a:noFill/>
          <a:ln/>
        </p:spPr>
        <p:txBody>
          <a:bodyPr wrap="square" rtlCol="0" anchor="ctr"/>
          <a:lstStyle/>
          <a:p>
            <a:pPr marL="0" indent="0">
              <a:buNone/>
            </a:pPr>
            <a:r>
              <a:rPr lang="en-US" sz="850" b="1" dirty="0">
                <a:solidFill>
                  <a:srgbClr val="8B3000"/>
                </a:solidFill>
                <a:latin typeface="Calibri" pitchFamily="34" charset="0"/>
                <a:ea typeface="Calibri" pitchFamily="34" charset="-122"/>
                <a:cs typeface="Calibri" pitchFamily="34" charset="-120"/>
              </a:rPr>
              <a:t>Caption reversal — Re-LAION-5B stronger</a:t>
            </a:r>
            <a:endParaRPr lang="en-US" sz="850" dirty="0"/>
          </a:p>
        </p:txBody>
      </p:sp>
      <p:sp>
        <p:nvSpPr>
          <p:cNvPr id="5" name="Text 11"/>
          <p:cNvSpPr/>
          <p:nvPr/>
        </p:nvSpPr>
        <p:spPr>
          <a:xfrm>
            <a:off x="5769864" y="2368296"/>
            <a:ext cx="2971800" cy="493776"/>
          </a:xfrm>
          <a:prstGeom prst="rect">
            <a:avLst/>
          </a:prstGeom>
          <a:noFill/>
          <a:ln/>
        </p:spPr>
        <p:txBody>
          <a:bodyPr wrap="square" rtlCol="0" anchor="ctr"/>
          <a:lstStyle/>
          <a:p>
            <a:pPr marL="0" indent="0">
              <a:lnSpc>
                <a:spcPct val="115000"/>
              </a:lnSpc>
              <a:buNone/>
            </a:pPr>
            <a:r>
              <a:rPr lang="en-US" sz="800" dirty="0">
                <a:solidFill>
                  <a:srgbClr val="1C2B3A"/>
                </a:solidFill>
                <a:latin typeface="Calibri" pitchFamily="34" charset="0"/>
                <a:ea typeface="Calibri" pitchFamily="34" charset="-122"/>
                <a:cs typeface="Calibri" pitchFamily="34" charset="-120"/>
              </a:rPr>
              <a:t>Re-LAION-5B captions → 0.749 vs SDv1.5 → 0.673. The only probe where the real corpus outperforms the generative one. Suggests richer linguistic skin-tone stereotyping in web-scraped data.</a:t>
            </a:r>
            <a:endParaRPr lang="en-US" sz="800" dirty="0"/>
          </a:p>
        </p:txBody>
      </p:sp>
      <p:sp>
        <p:nvSpPr>
          <p:cNvPr id="15" name="Shape 12"/>
          <p:cNvSpPr/>
          <p:nvPr/>
        </p:nvSpPr>
        <p:spPr>
          <a:xfrm>
            <a:off x="5696712" y="2889504"/>
            <a:ext cx="3118104" cy="768096"/>
          </a:xfrm>
          <a:prstGeom prst="rect">
            <a:avLst/>
          </a:prstGeom>
          <a:solidFill>
            <a:srgbClr val="E8EEF8"/>
          </a:solidFill>
          <a:ln w="12700">
            <a:solidFill>
              <a:srgbClr val="E8EEF8"/>
            </a:solidFill>
            <a:prstDash val="solid"/>
          </a:ln>
        </p:spPr>
        <p:txBody>
          <a:bodyPr/>
          <a:lstStyle/>
          <a:p>
            <a:endParaRPr lang="en-MT"/>
          </a:p>
        </p:txBody>
      </p:sp>
      <p:sp>
        <p:nvSpPr>
          <p:cNvPr id="16" name="Text 13"/>
          <p:cNvSpPr/>
          <p:nvPr/>
        </p:nvSpPr>
        <p:spPr>
          <a:xfrm>
            <a:off x="5769864" y="2926080"/>
            <a:ext cx="2971800" cy="219456"/>
          </a:xfrm>
          <a:prstGeom prst="rect">
            <a:avLst/>
          </a:prstGeom>
          <a:noFill/>
          <a:ln/>
        </p:spPr>
        <p:txBody>
          <a:bodyPr wrap="square" rtlCol="0" anchor="ctr"/>
          <a:lstStyle/>
          <a:p>
            <a:pPr marL="0" indent="0">
              <a:buNone/>
            </a:pPr>
            <a:r>
              <a:rPr lang="en-US" sz="850" b="1" dirty="0">
                <a:solidFill>
                  <a:srgbClr val="1B3A5C"/>
                </a:solidFill>
                <a:latin typeface="Calibri" pitchFamily="34" charset="0"/>
                <a:ea typeface="Calibri" pitchFamily="34" charset="-122"/>
                <a:cs typeface="Calibri" pitchFamily="34" charset="-120"/>
              </a:rPr>
              <a:t>Tonal extremes drive contextual signal</a:t>
            </a:r>
            <a:endParaRPr lang="en-US" sz="850" dirty="0"/>
          </a:p>
        </p:txBody>
      </p:sp>
      <p:sp>
        <p:nvSpPr>
          <p:cNvPr id="17" name="Text 14"/>
          <p:cNvSpPr/>
          <p:nvPr/>
        </p:nvSpPr>
        <p:spPr>
          <a:xfrm>
            <a:off x="5769864" y="3163824"/>
            <a:ext cx="2971800" cy="493776"/>
          </a:xfrm>
          <a:prstGeom prst="rect">
            <a:avLst/>
          </a:prstGeom>
          <a:noFill/>
          <a:ln/>
        </p:spPr>
        <p:txBody>
          <a:bodyPr wrap="square" rtlCol="0" anchor="ctr"/>
          <a:lstStyle/>
          <a:p>
            <a:pPr marL="0" indent="0">
              <a:lnSpc>
                <a:spcPct val="115000"/>
              </a:lnSpc>
              <a:buNone/>
            </a:pPr>
            <a:r>
              <a:rPr lang="en-US" sz="800" dirty="0">
                <a:solidFill>
                  <a:srgbClr val="1C2B3A"/>
                </a:solidFill>
                <a:latin typeface="Calibri" pitchFamily="34" charset="0"/>
                <a:ea typeface="Calibri" pitchFamily="34" charset="-122"/>
                <a:cs typeface="Calibri" pitchFamily="34" charset="-120"/>
              </a:rPr>
              <a:t>MST 1 and MST 8 achieve the highest per-class AUCs across all SDv1.5 occlusion variants; MST 4–5 remain close to chance. Strongest contextual priors at the tonal extremes.</a:t>
            </a:r>
            <a:endParaRPr lang="en-US" sz="800" dirty="0"/>
          </a:p>
        </p:txBody>
      </p:sp>
      <p:sp>
        <p:nvSpPr>
          <p:cNvPr id="18" name="Shape 15"/>
          <p:cNvSpPr/>
          <p:nvPr/>
        </p:nvSpPr>
        <p:spPr>
          <a:xfrm>
            <a:off x="5696712" y="3685032"/>
            <a:ext cx="3118104" cy="768096"/>
          </a:xfrm>
          <a:prstGeom prst="rect">
            <a:avLst/>
          </a:prstGeom>
          <a:solidFill>
            <a:srgbClr val="F4F8E8"/>
          </a:solidFill>
          <a:ln w="12700">
            <a:solidFill>
              <a:srgbClr val="F4F8E8"/>
            </a:solidFill>
            <a:prstDash val="solid"/>
          </a:ln>
        </p:spPr>
        <p:txBody>
          <a:bodyPr/>
          <a:lstStyle/>
          <a:p>
            <a:endParaRPr lang="en-MT"/>
          </a:p>
        </p:txBody>
      </p:sp>
      <p:sp>
        <p:nvSpPr>
          <p:cNvPr id="19" name="Text 16"/>
          <p:cNvSpPr/>
          <p:nvPr/>
        </p:nvSpPr>
        <p:spPr>
          <a:xfrm>
            <a:off x="5769864" y="3721608"/>
            <a:ext cx="2971800" cy="219456"/>
          </a:xfrm>
          <a:prstGeom prst="rect">
            <a:avLst/>
          </a:prstGeom>
          <a:noFill/>
          <a:ln/>
        </p:spPr>
        <p:txBody>
          <a:bodyPr wrap="square" rtlCol="0" anchor="ctr"/>
          <a:lstStyle/>
          <a:p>
            <a:pPr marL="0" indent="0">
              <a:buNone/>
            </a:pPr>
            <a:r>
              <a:rPr lang="en-US" sz="850" b="1" dirty="0">
                <a:solidFill>
                  <a:srgbClr val="3A6020"/>
                </a:solidFill>
                <a:latin typeface="Calibri" pitchFamily="34" charset="0"/>
                <a:ea typeface="Calibri" pitchFamily="34" charset="-122"/>
                <a:cs typeface="Calibri" pitchFamily="34" charset="-120"/>
              </a:rPr>
              <a:t>Mean RGB weaker for skin tone than gender</a:t>
            </a:r>
            <a:endParaRPr lang="en-US" sz="850" dirty="0"/>
          </a:p>
        </p:txBody>
      </p:sp>
      <p:sp>
        <p:nvSpPr>
          <p:cNvPr id="20" name="Text 17"/>
          <p:cNvSpPr/>
          <p:nvPr/>
        </p:nvSpPr>
        <p:spPr>
          <a:xfrm>
            <a:off x="5769864" y="3959352"/>
            <a:ext cx="2971800" cy="493776"/>
          </a:xfrm>
          <a:prstGeom prst="rect">
            <a:avLst/>
          </a:prstGeom>
          <a:noFill/>
          <a:ln/>
        </p:spPr>
        <p:txBody>
          <a:bodyPr wrap="square" rtlCol="0" anchor="ctr"/>
          <a:lstStyle/>
          <a:p>
            <a:pPr marL="0" indent="0">
              <a:lnSpc>
                <a:spcPct val="115000"/>
              </a:lnSpc>
              <a:buNone/>
            </a:pPr>
            <a:r>
              <a:rPr lang="en-US" sz="800" dirty="0">
                <a:solidFill>
                  <a:srgbClr val="1C2B3A"/>
                </a:solidFill>
                <a:latin typeface="Calibri" pitchFamily="34" charset="0"/>
                <a:ea typeface="Calibri" pitchFamily="34" charset="-122"/>
                <a:cs typeface="Calibri" pitchFamily="34" charset="-120"/>
              </a:rPr>
              <a:t>0.563 / 0.543 vs gender's 0.600 / 0.579. Averaging across the full image dilutes the localised skin tone signal more severely than the broader gender-correlated colour variation.</a:t>
            </a:r>
            <a:endParaRPr lang="en-US" sz="800" dirty="0"/>
          </a:p>
        </p:txBody>
      </p:sp>
      <p:sp>
        <p:nvSpPr>
          <p:cNvPr id="21" name="Shape 18"/>
          <p:cNvSpPr/>
          <p:nvPr/>
        </p:nvSpPr>
        <p:spPr>
          <a:xfrm>
            <a:off x="256032" y="4846320"/>
            <a:ext cx="8631936" cy="201168"/>
          </a:xfrm>
          <a:prstGeom prst="rect">
            <a:avLst/>
          </a:prstGeom>
          <a:solidFill>
            <a:srgbClr val="EEF0F8"/>
          </a:solidFill>
          <a:ln w="6350">
            <a:solidFill>
              <a:srgbClr val="E8E4DC"/>
            </a:solidFill>
            <a:prstDash val="solid"/>
          </a:ln>
        </p:spPr>
        <p:txBody>
          <a:bodyPr/>
          <a:lstStyle/>
          <a:p>
            <a:endParaRPr lang="en-MT"/>
          </a:p>
        </p:txBody>
      </p:sp>
      <p:sp>
        <p:nvSpPr>
          <p:cNvPr id="22" name="Text 19"/>
          <p:cNvSpPr/>
          <p:nvPr/>
        </p:nvSpPr>
        <p:spPr>
          <a:xfrm>
            <a:off x="402336" y="4864608"/>
            <a:ext cx="8339328" cy="182880"/>
          </a:xfrm>
          <a:prstGeom prst="rect">
            <a:avLst/>
          </a:prstGeom>
          <a:noFill/>
          <a:ln/>
        </p:spPr>
        <p:txBody>
          <a:bodyPr wrap="square" rtlCol="0" anchor="ctr"/>
          <a:lstStyle/>
          <a:p>
            <a:pPr marL="0" indent="0">
              <a:buNone/>
            </a:pPr>
            <a:r>
              <a:rPr lang="en-US" sz="800" b="1" dirty="0">
                <a:solidFill>
                  <a:srgbClr val="1B3A5C"/>
                </a:solidFill>
                <a:latin typeface="Calibri" pitchFamily="34" charset="0"/>
                <a:ea typeface="Calibri" pitchFamily="34" charset="-122"/>
                <a:cs typeface="Calibri" pitchFamily="34" charset="-120"/>
              </a:rPr>
              <a:t>§4.3.2 Skin Tone Artifact Analysis  ·  Tables 4.5 &amp; 4.6  ·  §4.3.3 Connections to Dataset Classification Results</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bg>
      <p:bgPr>
        <a:solidFill>
          <a:srgbClr val="F7F4EE"/>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B3A5C"/>
          </a:solidFill>
          <a:ln w="12700">
            <a:solidFill>
              <a:srgbClr val="1B3A5C"/>
            </a:solidFill>
            <a:prstDash val="solid"/>
          </a:ln>
        </p:spPr>
        <p:txBody>
          <a:bodyPr/>
          <a:lstStyle/>
          <a:p>
            <a:endParaRPr lang="en-MT"/>
          </a:p>
        </p:txBody>
      </p:sp>
      <p:sp>
        <p:nvSpPr>
          <p:cNvPr id="3" name="Text 1"/>
          <p:cNvSpPr/>
          <p:nvPr/>
        </p:nvSpPr>
        <p:spPr>
          <a:xfrm>
            <a:off x="411480" y="0"/>
            <a:ext cx="8321040" cy="713232"/>
          </a:xfrm>
          <a:prstGeom prst="rect">
            <a:avLst/>
          </a:prstGeom>
          <a:noFill/>
          <a:ln/>
        </p:spPr>
        <p:txBody>
          <a:bodyPr wrap="square"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EVALUATION  ·  INFERENCE-TIME DEBIASING  ·  DOCTOR CORPUS  ·  10,000 IMAGES</a:t>
            </a:r>
            <a:endParaRPr lang="en-US" sz="1500" dirty="0"/>
          </a:p>
        </p:txBody>
      </p:sp>
      <p:sp>
        <p:nvSpPr>
          <p:cNvPr id="4" name="Shape 2"/>
          <p:cNvSpPr/>
          <p:nvPr/>
        </p:nvSpPr>
        <p:spPr>
          <a:xfrm>
            <a:off x="256032" y="804672"/>
            <a:ext cx="8631936" cy="347472"/>
          </a:xfrm>
          <a:prstGeom prst="rect">
            <a:avLst/>
          </a:prstGeom>
          <a:solidFill>
            <a:srgbClr val="FFFFFF"/>
          </a:solidFill>
          <a:ln w="9525">
            <a:solidFill>
              <a:srgbClr val="E8E4DC"/>
            </a:solidFill>
            <a:prstDash val="solid"/>
          </a:ln>
        </p:spPr>
        <p:txBody>
          <a:bodyPr/>
          <a:lstStyle/>
          <a:p>
            <a:endParaRPr lang="en-MT"/>
          </a:p>
        </p:txBody>
      </p:sp>
      <p:sp>
        <p:nvSpPr>
          <p:cNvPr id="5" name="Text 3"/>
          <p:cNvSpPr/>
          <p:nvPr/>
        </p:nvSpPr>
        <p:spPr>
          <a:xfrm>
            <a:off x="402336" y="822960"/>
            <a:ext cx="8339328" cy="310896"/>
          </a:xfrm>
          <a:prstGeom prst="rect">
            <a:avLst/>
          </a:prstGeom>
          <a:noFill/>
          <a:ln/>
        </p:spPr>
        <p:txBody>
          <a:bodyPr wrap="square" rtlCol="0" anchor="ctr"/>
          <a:lstStyle/>
          <a:p>
            <a:pPr marL="0" indent="0">
              <a:lnSpc>
                <a:spcPct val="115000"/>
              </a:lnSpc>
              <a:buNone/>
            </a:pPr>
            <a:r>
              <a:rPr lang="en-US" sz="850" b="1" dirty="0">
                <a:solidFill>
                  <a:srgbClr val="1B3A5C"/>
                </a:solidFill>
                <a:latin typeface="Calibri" pitchFamily="34" charset="0"/>
                <a:ea typeface="Calibri" pitchFamily="34" charset="-122"/>
                <a:cs typeface="Calibri" pitchFamily="34" charset="-120"/>
              </a:rPr>
              <a:t>Pipeline:  </a:t>
            </a:r>
            <a:r>
              <a:rPr lang="en-US" sz="850" dirty="0">
                <a:solidFill>
                  <a:srgbClr val="1C2B3A"/>
                </a:solidFill>
                <a:latin typeface="Calibri" pitchFamily="34" charset="0"/>
                <a:ea typeface="Calibri" pitchFamily="34" charset="-122"/>
                <a:cs typeface="Calibri" pitchFamily="34" charset="-120"/>
              </a:rPr>
              <a:t>ITI-GEN demographic conditioning  +  ControlNet OpenPose structural conditioning  +  Chamfer latent-space colour alignment  ·  Guidance scale s = 7.0  ·  50 inference steps (no LCM-LoRA)  ·  Labels from generation config, not automated annotation</a:t>
            </a:r>
            <a:endParaRPr lang="en-US" sz="850" dirty="0"/>
          </a:p>
        </p:txBody>
      </p:sp>
      <p:sp>
        <p:nvSpPr>
          <p:cNvPr id="6" name="Text 4"/>
          <p:cNvSpPr/>
          <p:nvPr/>
        </p:nvSpPr>
        <p:spPr>
          <a:xfrm>
            <a:off x="274320" y="1207008"/>
            <a:ext cx="4206240" cy="201168"/>
          </a:xfrm>
          <a:prstGeom prst="rect">
            <a:avLst/>
          </a:prstGeom>
          <a:noFill/>
          <a:ln/>
        </p:spPr>
        <p:txBody>
          <a:bodyPr wrap="square" rtlCol="0" anchor="ctr"/>
          <a:lstStyle/>
          <a:p>
            <a:pPr marL="0" indent="0">
              <a:buNone/>
            </a:pPr>
            <a:r>
              <a:rPr lang="en-US" sz="900" b="1" dirty="0">
                <a:solidFill>
                  <a:srgbClr val="4A6274"/>
                </a:solidFill>
                <a:latin typeface="Calibri" pitchFamily="34" charset="0"/>
                <a:ea typeface="Calibri" pitchFamily="34" charset="-122"/>
                <a:cs typeface="Calibri" pitchFamily="34" charset="-120"/>
              </a:rPr>
              <a:t>Gender Probing AUC — SDv1.5 standard vs debiased  (Table 4.7)</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274320" y="1426464"/>
          <a:ext cx="4206240" cy="2798064"/>
        </p:xfrm>
        <a:graphic>
          <a:graphicData uri="http://schemas.openxmlformats.org/drawingml/2006/table">
            <a:tbl>
              <a:tblPr/>
              <a:tblGrid>
                <a:gridCol w="228600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tblGrid>
              <a:tr h="233172">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Representation</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SDv1.5</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Debiased</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extLst>
                  <a:ext uri="{0D108BD9-81ED-4DB2-BD59-A6C34878D82A}">
                    <a16:rowId xmlns:a16="http://schemas.microsoft.com/office/drawing/2014/main" val="10000"/>
                  </a:ext>
                </a:extLst>
              </a:tr>
              <a:tr h="233172">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Base (unmodified)</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0.946</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50" b="1" i="1" dirty="0">
                          <a:solidFill>
                            <a:srgbClr val="0D6B5E"/>
                          </a:solidFill>
                          <a:latin typeface="Calibri" pitchFamily="34" charset="0"/>
                          <a:ea typeface="Calibri" pitchFamily="34" charset="-122"/>
                          <a:cs typeface="Calibri" pitchFamily="34" charset="-120"/>
                        </a:rPr>
                        <a:t>≈1.000</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33172">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Occlusion — full no bg</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0.948</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850" b="1" dirty="0">
                          <a:solidFill>
                            <a:srgbClr val="0D6B5E"/>
                          </a:solidFill>
                          <a:latin typeface="Calibri" pitchFamily="34" charset="0"/>
                          <a:ea typeface="Calibri" pitchFamily="34" charset="-122"/>
                          <a:cs typeface="Calibri" pitchFamily="34" charset="-120"/>
                        </a:rPr>
                        <a:t>0.998</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0"/>
                    </a:solidFill>
                  </a:tcPr>
                </a:tc>
                <a:extLst>
                  <a:ext uri="{0D108BD9-81ED-4DB2-BD59-A6C34878D82A}">
                    <a16:rowId xmlns:a16="http://schemas.microsoft.com/office/drawing/2014/main" val="10002"/>
                  </a:ext>
                </a:extLst>
              </a:tr>
              <a:tr h="233172">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Occlusion — segm. mask</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0.852</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0D6B5E"/>
                          </a:solidFill>
                          <a:latin typeface="Calibri" pitchFamily="34" charset="0"/>
                          <a:ea typeface="Calibri" pitchFamily="34" charset="-122"/>
                          <a:cs typeface="Calibri" pitchFamily="34" charset="-120"/>
                        </a:rPr>
                        <a:t>0.999</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33172">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Occlusion — segm. mask NB</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0.834</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850" b="1" dirty="0">
                          <a:solidFill>
                            <a:srgbClr val="0D6B5E"/>
                          </a:solidFill>
                          <a:latin typeface="Calibri" pitchFamily="34" charset="0"/>
                          <a:ea typeface="Calibri" pitchFamily="34" charset="-122"/>
                          <a:cs typeface="Calibri" pitchFamily="34" charset="-120"/>
                        </a:rPr>
                        <a:t>0.985</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0"/>
                    </a:solidFill>
                  </a:tcPr>
                </a:tc>
                <a:extLst>
                  <a:ext uri="{0D108BD9-81ED-4DB2-BD59-A6C34878D82A}">
                    <a16:rowId xmlns:a16="http://schemas.microsoft.com/office/drawing/2014/main" val="10004"/>
                  </a:ext>
                </a:extLst>
              </a:tr>
              <a:tr h="233172">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Occlusion — rect. mask</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0.747</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0D6B5E"/>
                          </a:solidFill>
                          <a:latin typeface="Calibri" pitchFamily="34" charset="0"/>
                          <a:ea typeface="Calibri" pitchFamily="34" charset="-122"/>
                          <a:cs typeface="Calibri" pitchFamily="34" charset="-120"/>
                        </a:rPr>
                        <a:t>0.995</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33172">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Occlusion — rect. mask NB</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850" i="1" dirty="0">
                          <a:solidFill>
                            <a:srgbClr val="4A6274"/>
                          </a:solidFill>
                          <a:latin typeface="Calibri" pitchFamily="34" charset="0"/>
                          <a:ea typeface="Calibri" pitchFamily="34" charset="-122"/>
                          <a:cs typeface="Calibri" pitchFamily="34" charset="-120"/>
                        </a:rPr>
                        <a:t>0.587 †</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850" b="1" dirty="0">
                          <a:solidFill>
                            <a:srgbClr val="9A5020"/>
                          </a:solidFill>
                          <a:latin typeface="Calibri" pitchFamily="34" charset="0"/>
                          <a:ea typeface="Calibri" pitchFamily="34" charset="-122"/>
                          <a:cs typeface="Calibri" pitchFamily="34" charset="-120"/>
                        </a:rPr>
                        <a:t>0.701</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0"/>
                    </a:solidFill>
                  </a:tcPr>
                </a:tc>
                <a:extLst>
                  <a:ext uri="{0D108BD9-81ED-4DB2-BD59-A6C34878D82A}">
                    <a16:rowId xmlns:a16="http://schemas.microsoft.com/office/drawing/2014/main" val="10006"/>
                  </a:ext>
                </a:extLst>
              </a:tr>
              <a:tr h="233172">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Mean RGB</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0.579</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0D6B5E"/>
                          </a:solidFill>
                          <a:latin typeface="Calibri" pitchFamily="34" charset="0"/>
                          <a:ea typeface="Calibri" pitchFamily="34" charset="-122"/>
                          <a:cs typeface="Calibri" pitchFamily="34" charset="-120"/>
                        </a:rPr>
                        <a:t>0.507 ≈ chance</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0"/>
                    </a:solidFill>
                  </a:tcPr>
                </a:tc>
                <a:extLst>
                  <a:ext uri="{0D108BD9-81ED-4DB2-BD59-A6C34878D82A}">
                    <a16:rowId xmlns:a16="http://schemas.microsoft.com/office/drawing/2014/main" val="10007"/>
                  </a:ext>
                </a:extLst>
              </a:tr>
              <a:tr h="233172">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Object detection</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0.608</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850" b="1" dirty="0">
                          <a:solidFill>
                            <a:srgbClr val="0D6B5E"/>
                          </a:solidFill>
                          <a:latin typeface="Calibri" pitchFamily="34" charset="0"/>
                          <a:ea typeface="Calibri" pitchFamily="34" charset="-122"/>
                          <a:cs typeface="Calibri" pitchFamily="34" charset="-120"/>
                        </a:rPr>
                        <a:t>0.449 ≈ chance</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0"/>
                    </a:solidFill>
                  </a:tcPr>
                </a:tc>
                <a:extLst>
                  <a:ext uri="{0D108BD9-81ED-4DB2-BD59-A6C34878D82A}">
                    <a16:rowId xmlns:a16="http://schemas.microsoft.com/office/drawing/2014/main" val="10008"/>
                  </a:ext>
                </a:extLst>
              </a:tr>
              <a:tr h="233172">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Pose keypoints</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0.680</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0D6B5E"/>
                          </a:solidFill>
                          <a:latin typeface="Calibri" pitchFamily="34" charset="0"/>
                          <a:ea typeface="Calibri" pitchFamily="34" charset="-122"/>
                          <a:cs typeface="Calibri" pitchFamily="34" charset="-120"/>
                        </a:rPr>
                        <a:t>0.475 ≈ chance</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33172">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Depth at pose keypoints</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0.592</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850" b="1" dirty="0">
                          <a:solidFill>
                            <a:srgbClr val="0D6B5E"/>
                          </a:solidFill>
                          <a:latin typeface="Calibri" pitchFamily="34" charset="0"/>
                          <a:ea typeface="Calibri" pitchFamily="34" charset="-122"/>
                          <a:cs typeface="Calibri" pitchFamily="34" charset="-120"/>
                        </a:rPr>
                        <a:t>0.454 ≈ chance</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0"/>
                    </a:solidFill>
                  </a:tcPr>
                </a:tc>
                <a:extLst>
                  <a:ext uri="{0D108BD9-81ED-4DB2-BD59-A6C34878D82A}">
                    <a16:rowId xmlns:a16="http://schemas.microsoft.com/office/drawing/2014/main" val="10010"/>
                  </a:ext>
                </a:extLst>
              </a:tr>
              <a:tr h="233172">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Captions</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0.771</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0D6B5E"/>
                          </a:solidFill>
                          <a:latin typeface="Calibri" pitchFamily="34" charset="0"/>
                          <a:ea typeface="Calibri" pitchFamily="34" charset="-122"/>
                          <a:cs typeface="Calibri" pitchFamily="34" charset="-120"/>
                        </a:rPr>
                        <a:t>0.530</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
        <p:nvSpPr>
          <p:cNvPr id="8" name="Text 5"/>
          <p:cNvSpPr/>
          <p:nvPr/>
        </p:nvSpPr>
        <p:spPr>
          <a:xfrm>
            <a:off x="4663440" y="1207008"/>
            <a:ext cx="4206240" cy="201168"/>
          </a:xfrm>
          <a:prstGeom prst="rect">
            <a:avLst/>
          </a:prstGeom>
          <a:noFill/>
          <a:ln/>
        </p:spPr>
        <p:txBody>
          <a:bodyPr wrap="square" rtlCol="0" anchor="ctr"/>
          <a:lstStyle/>
          <a:p>
            <a:pPr marL="0" indent="0">
              <a:buNone/>
            </a:pPr>
            <a:r>
              <a:rPr lang="en-US" sz="900" b="1" dirty="0">
                <a:solidFill>
                  <a:srgbClr val="4A6274"/>
                </a:solidFill>
                <a:latin typeface="Calibri" pitchFamily="34" charset="0"/>
                <a:ea typeface="Calibri" pitchFamily="34" charset="-122"/>
                <a:cs typeface="Calibri" pitchFamily="34" charset="-120"/>
              </a:rPr>
              <a:t>Skin Tone Probing Macro-AUC — SDv1.5 vs debiased  (Table 4.8)</a:t>
            </a:r>
            <a:endParaRPr lang="en-US" sz="900" dirty="0"/>
          </a:p>
        </p:txBody>
      </p:sp>
      <p:graphicFrame>
        <p:nvGraphicFramePr>
          <p:cNvPr id="29" name="Table 1"/>
          <p:cNvGraphicFramePr>
            <a:graphicFrameLocks noGrp="1"/>
          </p:cNvGraphicFramePr>
          <p:nvPr>
            <p:extLst>
              <p:ext uri="{D42A27DB-BD31-4B8C-83A1-F6EECF244321}">
                <p14:modId xmlns:p14="http://schemas.microsoft.com/office/powerpoint/2010/main" val="1579011935"/>
              </p:ext>
            </p:extLst>
          </p:nvPr>
        </p:nvGraphicFramePr>
        <p:xfrm>
          <a:off x="4663440" y="1426464"/>
          <a:ext cx="4206240" cy="2798064"/>
        </p:xfrm>
        <a:graphic>
          <a:graphicData uri="http://schemas.openxmlformats.org/drawingml/2006/table">
            <a:tbl>
              <a:tblPr/>
              <a:tblGrid>
                <a:gridCol w="228600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tblGrid>
              <a:tr h="233172">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Representation</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SDv1.5</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Debiased</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extLst>
                  <a:ext uri="{0D108BD9-81ED-4DB2-BD59-A6C34878D82A}">
                    <a16:rowId xmlns:a16="http://schemas.microsoft.com/office/drawing/2014/main" val="10000"/>
                  </a:ext>
                </a:extLst>
              </a:tr>
              <a:tr h="233172">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Base (unmodified)</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0.900</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0.861</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33172">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Occlusion — full no bg</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0.899</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0.823</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extLst>
                  <a:ext uri="{0D108BD9-81ED-4DB2-BD59-A6C34878D82A}">
                    <a16:rowId xmlns:a16="http://schemas.microsoft.com/office/drawing/2014/main" val="10002"/>
                  </a:ext>
                </a:extLst>
              </a:tr>
              <a:tr h="233172">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Occlusion — segm. mask</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0.774</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0.729</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33172">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Occlusion — segm. mask NB</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0.704</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0.663</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extLst>
                  <a:ext uri="{0D108BD9-81ED-4DB2-BD59-A6C34878D82A}">
                    <a16:rowId xmlns:a16="http://schemas.microsoft.com/office/drawing/2014/main" val="10004"/>
                  </a:ext>
                </a:extLst>
              </a:tr>
              <a:tr h="233172">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Occlusion — rect. mask</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0.728</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0.632</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33172">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Occlusion — rect. mask NB</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0.660</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0.543</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extLst>
                  <a:ext uri="{0D108BD9-81ED-4DB2-BD59-A6C34878D82A}">
                    <a16:rowId xmlns:a16="http://schemas.microsoft.com/office/drawing/2014/main" val="10006"/>
                  </a:ext>
                </a:extLst>
              </a:tr>
              <a:tr h="233172">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Mean RGB</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0.543</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0D6B5E"/>
                          </a:solidFill>
                          <a:latin typeface="Calibri" pitchFamily="34" charset="0"/>
                          <a:ea typeface="Calibri" pitchFamily="34" charset="-122"/>
                          <a:cs typeface="Calibri" pitchFamily="34" charset="-120"/>
                        </a:rPr>
                        <a:t>0.482 ≈ chance</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33172">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Object detection</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0.663</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850" b="1" dirty="0">
                          <a:solidFill>
                            <a:srgbClr val="0D6B5E"/>
                          </a:solidFill>
                          <a:latin typeface="Calibri" pitchFamily="34" charset="0"/>
                          <a:ea typeface="Calibri" pitchFamily="34" charset="-122"/>
                          <a:cs typeface="Calibri" pitchFamily="34" charset="-120"/>
                        </a:rPr>
                        <a:t>0.439 ≈ chance</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0"/>
                    </a:solidFill>
                  </a:tcPr>
                </a:tc>
                <a:extLst>
                  <a:ext uri="{0D108BD9-81ED-4DB2-BD59-A6C34878D82A}">
                    <a16:rowId xmlns:a16="http://schemas.microsoft.com/office/drawing/2014/main" val="10008"/>
                  </a:ext>
                </a:extLst>
              </a:tr>
              <a:tr h="233172">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Pose keypoints</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0.666</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0D6B5E"/>
                          </a:solidFill>
                          <a:latin typeface="Calibri" pitchFamily="34" charset="0"/>
                          <a:ea typeface="Calibri" pitchFamily="34" charset="-122"/>
                          <a:cs typeface="Calibri" pitchFamily="34" charset="-120"/>
                        </a:rPr>
                        <a:t>0.483 ≈ chance</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33172">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Depth at pose keypoints</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0.655</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850" b="1" dirty="0">
                          <a:solidFill>
                            <a:srgbClr val="0D6B5E"/>
                          </a:solidFill>
                          <a:latin typeface="Calibri" pitchFamily="34" charset="0"/>
                          <a:ea typeface="Calibri" pitchFamily="34" charset="-122"/>
                          <a:cs typeface="Calibri" pitchFamily="34" charset="-120"/>
                        </a:rPr>
                        <a:t>0.443 ≈ chance</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0"/>
                    </a:solidFill>
                  </a:tcPr>
                </a:tc>
                <a:extLst>
                  <a:ext uri="{0D108BD9-81ED-4DB2-BD59-A6C34878D82A}">
                    <a16:rowId xmlns:a16="http://schemas.microsoft.com/office/drawing/2014/main" val="10010"/>
                  </a:ext>
                </a:extLst>
              </a:tr>
              <a:tr h="233172">
                <a:tc>
                  <a:txBody>
                    <a:bodyPr/>
                    <a:lstStyle/>
                    <a:p>
                      <a:pPr marL="0" indent="0" algn="l">
                        <a:buNone/>
                      </a:pPr>
                      <a:r>
                        <a:rPr lang="en-US" sz="850" dirty="0">
                          <a:solidFill>
                            <a:srgbClr val="1C2B3A"/>
                          </a:solidFill>
                          <a:latin typeface="Calibri" pitchFamily="34" charset="0"/>
                          <a:ea typeface="Calibri" pitchFamily="34" charset="-122"/>
                          <a:cs typeface="Calibri" pitchFamily="34" charset="-120"/>
                        </a:rPr>
                        <a:t>Captions</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C2B3A"/>
                          </a:solidFill>
                          <a:latin typeface="Calibri" pitchFamily="34" charset="0"/>
                          <a:ea typeface="Calibri" pitchFamily="34" charset="-122"/>
                          <a:cs typeface="Calibri" pitchFamily="34" charset="-120"/>
                        </a:rPr>
                        <a:t>0.673</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0D6B5E"/>
                          </a:solidFill>
                          <a:latin typeface="Calibri" pitchFamily="34" charset="0"/>
                          <a:ea typeface="Calibri" pitchFamily="34" charset="-122"/>
                          <a:cs typeface="Calibri" pitchFamily="34" charset="-120"/>
                        </a:rPr>
                        <a:t>0.490 ≈ chance</a:t>
                      </a:r>
                      <a:endParaRPr lang="en-US" sz="850" dirty="0">
                        <a:latin typeface="Calibri" charset="0"/>
                        <a:ea typeface="Calibri" charset="0"/>
                        <a:cs typeface="Calibr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
        <p:nvSpPr>
          <p:cNvPr id="10" name="Shape 6"/>
          <p:cNvSpPr/>
          <p:nvPr/>
        </p:nvSpPr>
        <p:spPr>
          <a:xfrm>
            <a:off x="256032" y="4572000"/>
            <a:ext cx="8631936" cy="256032"/>
          </a:xfrm>
          <a:prstGeom prst="rect">
            <a:avLst/>
          </a:prstGeom>
          <a:solidFill>
            <a:srgbClr val="EAF4F0"/>
          </a:solidFill>
          <a:ln w="9525">
            <a:solidFill>
              <a:srgbClr val="0D7A8A"/>
            </a:solidFill>
            <a:prstDash val="solid"/>
          </a:ln>
        </p:spPr>
        <p:txBody>
          <a:bodyPr/>
          <a:lstStyle/>
          <a:p>
            <a:endParaRPr lang="en-MT"/>
          </a:p>
        </p:txBody>
      </p:sp>
      <p:sp>
        <p:nvSpPr>
          <p:cNvPr id="11" name="Text 7"/>
          <p:cNvSpPr/>
          <p:nvPr/>
        </p:nvSpPr>
        <p:spPr>
          <a:xfrm>
            <a:off x="402336" y="4581144"/>
            <a:ext cx="8339328" cy="237744"/>
          </a:xfrm>
          <a:prstGeom prst="rect">
            <a:avLst/>
          </a:prstGeom>
          <a:noFill/>
          <a:ln/>
        </p:spPr>
        <p:txBody>
          <a:bodyPr wrap="square" rtlCol="0" anchor="ctr"/>
          <a:lstStyle/>
          <a:p>
            <a:pPr marL="0" indent="0">
              <a:lnSpc>
                <a:spcPct val="110000"/>
              </a:lnSpc>
              <a:buNone/>
            </a:pPr>
            <a:r>
              <a:rPr lang="en-US" sz="780" b="1" dirty="0">
                <a:solidFill>
                  <a:srgbClr val="0D7A8A"/>
                </a:solidFill>
                <a:latin typeface="Calibri" pitchFamily="34" charset="0"/>
                <a:ea typeface="Calibri" pitchFamily="34" charset="-122"/>
                <a:cs typeface="Calibri" pitchFamily="34" charset="-120"/>
              </a:rPr>
              <a:t>Success:  </a:t>
            </a:r>
            <a:r>
              <a:rPr lang="en-US" sz="780" dirty="0">
                <a:solidFill>
                  <a:srgbClr val="1C2B3A"/>
                </a:solidFill>
                <a:latin typeface="Calibri" pitchFamily="34" charset="0"/>
                <a:ea typeface="Calibri" pitchFamily="34" charset="-122"/>
                <a:cs typeface="Calibri" pitchFamily="34" charset="-120"/>
              </a:rPr>
              <a:t>Every non-person probe → chance (gender &amp; skin tone).  Mean RGB ST → 0.482 (Chamfer confirmed).  Captions −24pp (gender) −18pp (skin tone).  </a:t>
            </a:r>
            <a:r>
              <a:rPr lang="en-US" sz="780" b="1" dirty="0">
                <a:solidFill>
                  <a:srgbClr val="8B3000"/>
                </a:solidFill>
                <a:latin typeface="Calibri" pitchFamily="34" charset="0"/>
                <a:ea typeface="Calibri" pitchFamily="34" charset="-122"/>
                <a:cs typeface="Calibri" pitchFamily="34" charset="-120"/>
              </a:rPr>
              <a:t>Limitation:  </a:t>
            </a:r>
            <a:r>
              <a:rPr lang="en-US" sz="780" dirty="0">
                <a:solidFill>
                  <a:srgbClr val="1C2B3A"/>
                </a:solidFill>
                <a:latin typeface="Calibri" pitchFamily="34" charset="0"/>
                <a:ea typeface="Calibri" pitchFamily="34" charset="-122"/>
                <a:cs typeface="Calibri" pitchFamily="34" charset="-120"/>
              </a:rPr>
              <a:t>Rect. mask NoBg AUC 0.701 / 0.632 — background partially entangled.  † SDv1.5 rect. mask NoBg (0.587) reflects majority-class collapse — not directly comparable.</a:t>
            </a:r>
            <a:endParaRPr lang="en-US" sz="780" dirty="0"/>
          </a:p>
        </p:txBody>
      </p:sp>
      <p:sp>
        <p:nvSpPr>
          <p:cNvPr id="12" name="Shape 8"/>
          <p:cNvSpPr/>
          <p:nvPr/>
        </p:nvSpPr>
        <p:spPr>
          <a:xfrm>
            <a:off x="256032" y="4846320"/>
            <a:ext cx="8631936" cy="201168"/>
          </a:xfrm>
          <a:prstGeom prst="rect">
            <a:avLst/>
          </a:prstGeom>
          <a:solidFill>
            <a:srgbClr val="EEF0F8"/>
          </a:solidFill>
          <a:ln w="6350">
            <a:solidFill>
              <a:srgbClr val="E8E4DC"/>
            </a:solidFill>
            <a:prstDash val="solid"/>
          </a:ln>
        </p:spPr>
        <p:txBody>
          <a:bodyPr/>
          <a:lstStyle/>
          <a:p>
            <a:endParaRPr lang="en-MT"/>
          </a:p>
        </p:txBody>
      </p:sp>
      <p:sp>
        <p:nvSpPr>
          <p:cNvPr id="13" name="Text 9"/>
          <p:cNvSpPr/>
          <p:nvPr/>
        </p:nvSpPr>
        <p:spPr>
          <a:xfrm>
            <a:off x="402336" y="4864608"/>
            <a:ext cx="8339328" cy="182880"/>
          </a:xfrm>
          <a:prstGeom prst="rect">
            <a:avLst/>
          </a:prstGeom>
          <a:noFill/>
          <a:ln/>
        </p:spPr>
        <p:txBody>
          <a:bodyPr wrap="square" rtlCol="0" anchor="ctr"/>
          <a:lstStyle/>
          <a:p>
            <a:pPr marL="0" indent="0">
              <a:buNone/>
            </a:pPr>
            <a:r>
              <a:rPr lang="en-US" sz="800" b="1" dirty="0">
                <a:solidFill>
                  <a:srgbClr val="1B3A5C"/>
                </a:solidFill>
                <a:latin typeface="Calibri" pitchFamily="34" charset="0"/>
                <a:ea typeface="Calibri" pitchFamily="34" charset="-122"/>
                <a:cs typeface="Calibri" pitchFamily="34" charset="-120"/>
              </a:rPr>
              <a:t>§4.4 Debiasing Evaluation  ·  §4.4.1 Demographic Distribution Shift  ·  §4.4.2 Probing Accuracy on the Debiased Corpus  ·  Tables 4.7 &amp; 4.8</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0">
            <a:extLst>
              <a:ext uri="{FF2B5EF4-FFF2-40B4-BE49-F238E27FC236}">
                <a16:creationId xmlns:a16="http://schemas.microsoft.com/office/drawing/2014/main" id="{0868EAF6-3B7F-9F95-A1C3-34EFB4DE3938}"/>
              </a:ext>
            </a:extLst>
          </p:cNvPr>
          <p:cNvSpPr/>
          <p:nvPr/>
        </p:nvSpPr>
        <p:spPr>
          <a:xfrm>
            <a:off x="0" y="0"/>
            <a:ext cx="9144000" cy="713232"/>
          </a:xfrm>
          <a:prstGeom prst="rect">
            <a:avLst/>
          </a:prstGeom>
          <a:solidFill>
            <a:srgbClr val="1B3A5C"/>
          </a:solidFill>
          <a:ln w="12700">
            <a:solidFill>
              <a:srgbClr val="1B3A5C"/>
            </a:solidFill>
            <a:prstDash val="solid"/>
          </a:ln>
        </p:spPr>
        <p:txBody>
          <a:bodyPr/>
          <a:lstStyle/>
          <a:p>
            <a:endParaRPr lang="en-MT"/>
          </a:p>
        </p:txBody>
      </p:sp>
      <p:sp>
        <p:nvSpPr>
          <p:cNvPr id="5" name="Text 1">
            <a:extLst>
              <a:ext uri="{FF2B5EF4-FFF2-40B4-BE49-F238E27FC236}">
                <a16:creationId xmlns:a16="http://schemas.microsoft.com/office/drawing/2014/main" id="{DB8B9670-D1A6-62B2-068F-460F69398513}"/>
              </a:ext>
            </a:extLst>
          </p:cNvPr>
          <p:cNvSpPr/>
          <p:nvPr/>
        </p:nvSpPr>
        <p:spPr>
          <a:xfrm>
            <a:off x="411480" y="0"/>
            <a:ext cx="8321040" cy="713232"/>
          </a:xfrm>
          <a:prstGeom prst="rect">
            <a:avLst/>
          </a:prstGeom>
          <a:noFill/>
          <a:ln/>
        </p:spPr>
        <p:txBody>
          <a:bodyPr wrap="square" rtlCol="0" anchor="ctr"/>
          <a:lstStyle/>
          <a:p>
            <a:r>
              <a:rPr lang="en-US" sz="1500" b="1" dirty="0">
                <a:solidFill>
                  <a:srgbClr val="FFFFFF"/>
                </a:solidFill>
                <a:latin typeface="Georgia" pitchFamily="34" charset="0"/>
                <a:ea typeface="Georgia" pitchFamily="34" charset="-122"/>
                <a:cs typeface="Georgia" pitchFamily="34" charset="-120"/>
              </a:rPr>
              <a:t>EVALUATION  ·  INFERENCE-TIME DEBIASING  FIGURES</a:t>
            </a:r>
            <a:endParaRPr lang="en-US" sz="1500" dirty="0"/>
          </a:p>
        </p:txBody>
      </p:sp>
      <p:grpSp>
        <p:nvGrpSpPr>
          <p:cNvPr id="14" name="Group 13">
            <a:extLst>
              <a:ext uri="{FF2B5EF4-FFF2-40B4-BE49-F238E27FC236}">
                <a16:creationId xmlns:a16="http://schemas.microsoft.com/office/drawing/2014/main" id="{BA6C6A76-2D4B-FBBE-569F-42B03D6AE21B}"/>
              </a:ext>
            </a:extLst>
          </p:cNvPr>
          <p:cNvGrpSpPr/>
          <p:nvPr/>
        </p:nvGrpSpPr>
        <p:grpSpPr>
          <a:xfrm>
            <a:off x="0" y="1378227"/>
            <a:ext cx="9144000" cy="2819090"/>
            <a:chOff x="0" y="1378227"/>
            <a:chExt cx="9144000" cy="2819090"/>
          </a:xfrm>
        </p:grpSpPr>
        <p:pic>
          <p:nvPicPr>
            <p:cNvPr id="12" name="Picture 11">
              <a:extLst>
                <a:ext uri="{FF2B5EF4-FFF2-40B4-BE49-F238E27FC236}">
                  <a16:creationId xmlns:a16="http://schemas.microsoft.com/office/drawing/2014/main" id="{C5A4BC2B-EF78-EF57-D0B7-100449625D25}"/>
                </a:ext>
              </a:extLst>
            </p:cNvPr>
            <p:cNvPicPr>
              <a:picLocks noChangeAspect="1"/>
            </p:cNvPicPr>
            <p:nvPr/>
          </p:nvPicPr>
          <p:blipFill>
            <a:blip r:embed="rId2"/>
            <a:srcRect t="12244"/>
            <a:stretch>
              <a:fillRect/>
            </a:stretch>
          </p:blipFill>
          <p:spPr>
            <a:xfrm>
              <a:off x="0" y="1378227"/>
              <a:ext cx="9144000" cy="2096450"/>
            </a:xfrm>
            <a:prstGeom prst="rect">
              <a:avLst/>
            </a:prstGeom>
            <a:ln>
              <a:noFill/>
            </a:ln>
          </p:spPr>
        </p:pic>
        <p:sp>
          <p:nvSpPr>
            <p:cNvPr id="13" name="TextBox 12">
              <a:extLst>
                <a:ext uri="{FF2B5EF4-FFF2-40B4-BE49-F238E27FC236}">
                  <a16:creationId xmlns:a16="http://schemas.microsoft.com/office/drawing/2014/main" id="{56CA726B-C5DF-6E36-92E1-F7AFF334C22E}"/>
                </a:ext>
              </a:extLst>
            </p:cNvPr>
            <p:cNvSpPr txBox="1"/>
            <p:nvPr/>
          </p:nvSpPr>
          <p:spPr>
            <a:xfrm>
              <a:off x="771939" y="3489431"/>
              <a:ext cx="7600122" cy="707886"/>
            </a:xfrm>
            <a:prstGeom prst="rect">
              <a:avLst/>
            </a:prstGeom>
            <a:noFill/>
          </p:spPr>
          <p:txBody>
            <a:bodyPr wrap="square" rtlCol="0">
              <a:spAutoFit/>
            </a:bodyPr>
            <a:lstStyle/>
            <a:p>
              <a:r>
                <a:rPr lang="en-US" sz="800" dirty="0"/>
                <a:t>Figure 7: Controlled generation grid illustrating uniform demographic conditioning across Monk Skin Tone (MST 1–10) and binary gender. Images are generated using the debiasing pipeline (ITI-GEN + ControlNet </a:t>
              </a:r>
              <a:r>
                <a:rPr lang="en-US" sz="800" dirty="0" err="1"/>
                <a:t>OpenPose</a:t>
              </a:r>
              <a:r>
                <a:rPr lang="en-US" sz="800" dirty="0"/>
                <a:t> + Chamfer </a:t>
              </a:r>
              <a:r>
                <a:rPr lang="en-US" sz="800" dirty="0" err="1"/>
                <a:t>colour</a:t>
              </a:r>
              <a:r>
                <a:rPr lang="en-US" sz="800" dirty="0"/>
                <a:t> alignment) under fixed pose and composition constraints. Rows correspond to gender (female, male), while columns represent increasing MST values from light (1) to dark (10). The grid demonstrates successful control over primary demographic attributes; however, consistent background structure and scene composition across samples highlight residual entanglement, indicating that inference-time interventions do not fully eliminate spurious correlations.</a:t>
              </a:r>
            </a:p>
            <a:p>
              <a:endParaRPr lang="en-MT" sz="800" dirty="0"/>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5">
    <p:bg>
      <p:bgPr>
        <a:solidFill>
          <a:srgbClr val="F7F4EE"/>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B3A5C"/>
          </a:solidFill>
          <a:ln w="12700">
            <a:solidFill>
              <a:srgbClr val="1B3A5C"/>
            </a:solidFill>
            <a:prstDash val="solid"/>
          </a:ln>
        </p:spPr>
        <p:txBody>
          <a:bodyPr/>
          <a:lstStyle/>
          <a:p>
            <a:endParaRPr lang="en-MT"/>
          </a:p>
        </p:txBody>
      </p:sp>
      <p:sp>
        <p:nvSpPr>
          <p:cNvPr id="3" name="Text 1"/>
          <p:cNvSpPr/>
          <p:nvPr/>
        </p:nvSpPr>
        <p:spPr>
          <a:xfrm>
            <a:off x="411480" y="0"/>
            <a:ext cx="8321040" cy="713232"/>
          </a:xfrm>
          <a:prstGeom prst="rect">
            <a:avLst/>
          </a:prstGeom>
          <a:noFill/>
          <a:ln/>
        </p:spPr>
        <p:txBody>
          <a:bodyPr wrap="square"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CONCLUSIONS  &amp;  FUTURE WORK</a:t>
            </a:r>
            <a:endParaRPr lang="en-US" sz="1500" dirty="0"/>
          </a:p>
        </p:txBody>
      </p:sp>
      <p:sp>
        <p:nvSpPr>
          <p:cNvPr id="4" name="Shape 2"/>
          <p:cNvSpPr/>
          <p:nvPr/>
        </p:nvSpPr>
        <p:spPr>
          <a:xfrm>
            <a:off x="256032" y="841248"/>
            <a:ext cx="5760720" cy="621792"/>
          </a:xfrm>
          <a:prstGeom prst="rect">
            <a:avLst/>
          </a:prstGeom>
          <a:solidFill>
            <a:srgbClr val="FFFFFF"/>
          </a:solidFill>
          <a:ln w="9525">
            <a:solidFill>
              <a:srgbClr val="E8E4DC"/>
            </a:solidFill>
            <a:prstDash val="solid"/>
          </a:ln>
        </p:spPr>
        <p:txBody>
          <a:bodyPr/>
          <a:lstStyle/>
          <a:p>
            <a:endParaRPr lang="en-MT"/>
          </a:p>
        </p:txBody>
      </p:sp>
      <p:sp>
        <p:nvSpPr>
          <p:cNvPr id="5" name="Shape 3"/>
          <p:cNvSpPr/>
          <p:nvPr/>
        </p:nvSpPr>
        <p:spPr>
          <a:xfrm>
            <a:off x="256032" y="841248"/>
            <a:ext cx="347472" cy="621792"/>
          </a:xfrm>
          <a:prstGeom prst="rect">
            <a:avLst/>
          </a:prstGeom>
          <a:solidFill>
            <a:srgbClr val="0D7A8A"/>
          </a:solidFill>
          <a:ln w="12700">
            <a:solidFill>
              <a:srgbClr val="0D7A8A"/>
            </a:solidFill>
            <a:prstDash val="solid"/>
          </a:ln>
        </p:spPr>
        <p:txBody>
          <a:bodyPr/>
          <a:lstStyle/>
          <a:p>
            <a:endParaRPr lang="en-MT"/>
          </a:p>
        </p:txBody>
      </p:sp>
      <p:sp>
        <p:nvSpPr>
          <p:cNvPr id="6" name="Text 4"/>
          <p:cNvSpPr/>
          <p:nvPr/>
        </p:nvSpPr>
        <p:spPr>
          <a:xfrm>
            <a:off x="256032" y="841248"/>
            <a:ext cx="347472" cy="621792"/>
          </a:xfrm>
          <a:prstGeom prst="rect">
            <a:avLst/>
          </a:prstGeom>
          <a:noFill/>
          <a:ln/>
        </p:spPr>
        <p:txBody>
          <a:bodyPr wrap="square"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O1</a:t>
            </a:r>
            <a:endParaRPr lang="en-US" sz="750" dirty="0"/>
          </a:p>
        </p:txBody>
      </p:sp>
      <p:sp>
        <p:nvSpPr>
          <p:cNvPr id="7" name="Text 5"/>
          <p:cNvSpPr/>
          <p:nvPr/>
        </p:nvSpPr>
        <p:spPr>
          <a:xfrm>
            <a:off x="676656" y="877824"/>
            <a:ext cx="5266944" cy="182880"/>
          </a:xfrm>
          <a:prstGeom prst="rect">
            <a:avLst/>
          </a:prstGeom>
          <a:noFill/>
          <a:ln/>
        </p:spPr>
        <p:txBody>
          <a:bodyPr wrap="square" rtlCol="0" anchor="ctr"/>
          <a:lstStyle/>
          <a:p>
            <a:pPr marL="0" indent="0">
              <a:buNone/>
            </a:pPr>
            <a:r>
              <a:rPr lang="en-US" sz="850" b="1" dirty="0">
                <a:solidFill>
                  <a:srgbClr val="1B3A5C"/>
                </a:solidFill>
                <a:latin typeface="Calibri" pitchFamily="34" charset="0"/>
                <a:ea typeface="Calibri" pitchFamily="34" charset="-122"/>
                <a:cs typeface="Calibri" pitchFamily="34" charset="-120"/>
              </a:rPr>
              <a:t>Dataset Acquisition &amp; Annotation</a:t>
            </a:r>
            <a:endParaRPr lang="en-US" sz="850" dirty="0"/>
          </a:p>
        </p:txBody>
      </p:sp>
      <p:sp>
        <p:nvSpPr>
          <p:cNvPr id="8" name="Text 6"/>
          <p:cNvSpPr/>
          <p:nvPr/>
        </p:nvSpPr>
        <p:spPr>
          <a:xfrm>
            <a:off x="676656" y="1078992"/>
            <a:ext cx="4114800" cy="347472"/>
          </a:xfrm>
          <a:prstGeom prst="rect">
            <a:avLst/>
          </a:prstGeom>
          <a:noFill/>
          <a:ln/>
        </p:spPr>
        <p:txBody>
          <a:bodyPr wrap="square" rtlCol="0" anchor="ctr"/>
          <a:lstStyle/>
          <a:p>
            <a:pPr marL="0" indent="0">
              <a:lnSpc>
                <a:spcPct val="110000"/>
              </a:lnSpc>
              <a:buNone/>
            </a:pPr>
            <a:r>
              <a:rPr lang="en-US" sz="780" dirty="0">
                <a:solidFill>
                  <a:srgbClr val="1C2B3A"/>
                </a:solidFill>
                <a:latin typeface="Calibri" pitchFamily="34" charset="0"/>
                <a:ea typeface="Calibri" pitchFamily="34" charset="-122"/>
                <a:cs typeface="Calibri" pitchFamily="34" charset="-120"/>
              </a:rPr>
              <a:t>200K images per dataset across 200 ISCO-08 occupations. Structural validation pipeline developed from scratch (CLIP + YOLO + FaceMesh). Demographic annotation on the full 10-point MST scale — extending prior binary/Fitzpatrick approaches.</a:t>
            </a:r>
            <a:endParaRPr lang="en-US" sz="780" dirty="0"/>
          </a:p>
        </p:txBody>
      </p:sp>
      <p:sp>
        <p:nvSpPr>
          <p:cNvPr id="9" name="Text 7"/>
          <p:cNvSpPr/>
          <p:nvPr/>
        </p:nvSpPr>
        <p:spPr>
          <a:xfrm>
            <a:off x="4773168" y="1078992"/>
            <a:ext cx="1170432" cy="347472"/>
          </a:xfrm>
          <a:prstGeom prst="rect">
            <a:avLst/>
          </a:prstGeom>
          <a:noFill/>
          <a:ln/>
        </p:spPr>
        <p:txBody>
          <a:bodyPr wrap="square" rtlCol="0" anchor="ctr"/>
          <a:lstStyle/>
          <a:p>
            <a:pPr marL="0" indent="0" algn="r">
              <a:buNone/>
            </a:pPr>
            <a:r>
              <a:rPr lang="en-US" sz="750" i="1" dirty="0">
                <a:solidFill>
                  <a:srgbClr val="4A6274"/>
                </a:solidFill>
                <a:latin typeface="Calibri" pitchFamily="34" charset="0"/>
                <a:ea typeface="Calibri" pitchFamily="34" charset="-122"/>
                <a:cs typeface="Calibri" pitchFamily="34" charset="-120"/>
              </a:rPr>
              <a:t>§5.1, Objective 1</a:t>
            </a:r>
            <a:endParaRPr lang="en-US" sz="750" dirty="0"/>
          </a:p>
        </p:txBody>
      </p:sp>
      <p:sp>
        <p:nvSpPr>
          <p:cNvPr id="10" name="Shape 8"/>
          <p:cNvSpPr/>
          <p:nvPr/>
        </p:nvSpPr>
        <p:spPr>
          <a:xfrm>
            <a:off x="256032" y="1499616"/>
            <a:ext cx="5760720" cy="621792"/>
          </a:xfrm>
          <a:prstGeom prst="rect">
            <a:avLst/>
          </a:prstGeom>
          <a:solidFill>
            <a:srgbClr val="FFFFFF"/>
          </a:solidFill>
          <a:ln w="9525">
            <a:solidFill>
              <a:srgbClr val="E8E4DC"/>
            </a:solidFill>
            <a:prstDash val="solid"/>
          </a:ln>
        </p:spPr>
        <p:txBody>
          <a:bodyPr/>
          <a:lstStyle/>
          <a:p>
            <a:endParaRPr lang="en-MT"/>
          </a:p>
        </p:txBody>
      </p:sp>
      <p:sp>
        <p:nvSpPr>
          <p:cNvPr id="11" name="Shape 9"/>
          <p:cNvSpPr/>
          <p:nvPr/>
        </p:nvSpPr>
        <p:spPr>
          <a:xfrm>
            <a:off x="256032" y="1499616"/>
            <a:ext cx="347472" cy="621792"/>
          </a:xfrm>
          <a:prstGeom prst="rect">
            <a:avLst/>
          </a:prstGeom>
          <a:solidFill>
            <a:srgbClr val="0D6B5E"/>
          </a:solidFill>
          <a:ln w="12700">
            <a:solidFill>
              <a:srgbClr val="0D6B5E"/>
            </a:solidFill>
            <a:prstDash val="solid"/>
          </a:ln>
        </p:spPr>
        <p:txBody>
          <a:bodyPr/>
          <a:lstStyle/>
          <a:p>
            <a:endParaRPr lang="en-MT"/>
          </a:p>
        </p:txBody>
      </p:sp>
      <p:sp>
        <p:nvSpPr>
          <p:cNvPr id="12" name="Text 10"/>
          <p:cNvSpPr/>
          <p:nvPr/>
        </p:nvSpPr>
        <p:spPr>
          <a:xfrm>
            <a:off x="256032" y="1499616"/>
            <a:ext cx="347472" cy="621792"/>
          </a:xfrm>
          <a:prstGeom prst="rect">
            <a:avLst/>
          </a:prstGeom>
          <a:noFill/>
          <a:ln/>
        </p:spPr>
        <p:txBody>
          <a:bodyPr wrap="square"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O2</a:t>
            </a:r>
            <a:endParaRPr lang="en-US" sz="750" dirty="0"/>
          </a:p>
        </p:txBody>
      </p:sp>
      <p:sp>
        <p:nvSpPr>
          <p:cNvPr id="13" name="Text 11"/>
          <p:cNvSpPr/>
          <p:nvPr/>
        </p:nvSpPr>
        <p:spPr>
          <a:xfrm>
            <a:off x="676656" y="1536192"/>
            <a:ext cx="5266944" cy="182880"/>
          </a:xfrm>
          <a:prstGeom prst="rect">
            <a:avLst/>
          </a:prstGeom>
          <a:noFill/>
          <a:ln/>
        </p:spPr>
        <p:txBody>
          <a:bodyPr wrap="square" rtlCol="0" anchor="ctr"/>
          <a:lstStyle/>
          <a:p>
            <a:pPr marL="0" indent="0">
              <a:buNone/>
            </a:pPr>
            <a:r>
              <a:rPr lang="en-US" sz="850" b="1" dirty="0">
                <a:solidFill>
                  <a:srgbClr val="1B3A5C"/>
                </a:solidFill>
                <a:latin typeface="Calibri" pitchFamily="34" charset="0"/>
                <a:ea typeface="Calibri" pitchFamily="34" charset="-122"/>
                <a:cs typeface="Calibri" pitchFamily="34" charset="-120"/>
              </a:rPr>
              <a:t>Spurious Feature Detection</a:t>
            </a:r>
            <a:endParaRPr lang="en-US" sz="850" dirty="0"/>
          </a:p>
        </p:txBody>
      </p:sp>
      <p:sp>
        <p:nvSpPr>
          <p:cNvPr id="14" name="Text 12"/>
          <p:cNvSpPr/>
          <p:nvPr/>
        </p:nvSpPr>
        <p:spPr>
          <a:xfrm>
            <a:off x="676656" y="1737360"/>
            <a:ext cx="4114800" cy="347472"/>
          </a:xfrm>
          <a:prstGeom prst="rect">
            <a:avLst/>
          </a:prstGeom>
          <a:noFill/>
          <a:ln/>
        </p:spPr>
        <p:txBody>
          <a:bodyPr wrap="square" rtlCol="0" anchor="ctr"/>
          <a:lstStyle/>
          <a:p>
            <a:pPr marL="0" indent="0">
              <a:lnSpc>
                <a:spcPct val="110000"/>
              </a:lnSpc>
              <a:buNone/>
            </a:pPr>
            <a:r>
              <a:rPr lang="en-US" sz="780" dirty="0">
                <a:solidFill>
                  <a:srgbClr val="1C2B3A"/>
                </a:solidFill>
                <a:latin typeface="Calibri" pitchFamily="34" charset="0"/>
                <a:ea typeface="Calibri" pitchFamily="34" charset="-122"/>
                <a:cs typeface="Calibri" pitchFamily="34" charset="-120"/>
              </a:rPr>
              <a:t>15 transformations, all exceeding 33.3% chance (min. mean RGB 64.19%). Extended Zeng et al. to 3-class design enabling per-class attribution. Dataset identity embedded in multiple correlated cues — not a single isolated artefact.</a:t>
            </a:r>
            <a:endParaRPr lang="en-US" sz="780" dirty="0"/>
          </a:p>
        </p:txBody>
      </p:sp>
      <p:sp>
        <p:nvSpPr>
          <p:cNvPr id="15" name="Text 13"/>
          <p:cNvSpPr/>
          <p:nvPr/>
        </p:nvSpPr>
        <p:spPr>
          <a:xfrm>
            <a:off x="4773168" y="1737360"/>
            <a:ext cx="1170432" cy="347472"/>
          </a:xfrm>
          <a:prstGeom prst="rect">
            <a:avLst/>
          </a:prstGeom>
          <a:noFill/>
          <a:ln/>
        </p:spPr>
        <p:txBody>
          <a:bodyPr wrap="square" rtlCol="0" anchor="ctr"/>
          <a:lstStyle/>
          <a:p>
            <a:pPr marL="0" indent="0" algn="r">
              <a:buNone/>
            </a:pPr>
            <a:r>
              <a:rPr lang="en-US" sz="750" i="1" dirty="0">
                <a:solidFill>
                  <a:srgbClr val="4A6274"/>
                </a:solidFill>
                <a:latin typeface="Calibri" pitchFamily="34" charset="0"/>
                <a:ea typeface="Calibri" pitchFamily="34" charset="-122"/>
                <a:cs typeface="Calibri" pitchFamily="34" charset="-120"/>
              </a:rPr>
              <a:t>§5.1, Objective 2  ·  §4.2</a:t>
            </a:r>
            <a:endParaRPr lang="en-US" sz="750" dirty="0"/>
          </a:p>
        </p:txBody>
      </p:sp>
      <p:sp>
        <p:nvSpPr>
          <p:cNvPr id="16" name="Shape 14"/>
          <p:cNvSpPr/>
          <p:nvPr/>
        </p:nvSpPr>
        <p:spPr>
          <a:xfrm>
            <a:off x="256032" y="2157984"/>
            <a:ext cx="5760720" cy="621792"/>
          </a:xfrm>
          <a:prstGeom prst="rect">
            <a:avLst/>
          </a:prstGeom>
          <a:solidFill>
            <a:srgbClr val="FFFFFF"/>
          </a:solidFill>
          <a:ln w="9525">
            <a:solidFill>
              <a:srgbClr val="E8E4DC"/>
            </a:solidFill>
            <a:prstDash val="solid"/>
          </a:ln>
        </p:spPr>
        <p:txBody>
          <a:bodyPr/>
          <a:lstStyle/>
          <a:p>
            <a:endParaRPr lang="en-MT"/>
          </a:p>
        </p:txBody>
      </p:sp>
      <p:sp>
        <p:nvSpPr>
          <p:cNvPr id="17" name="Shape 15"/>
          <p:cNvSpPr/>
          <p:nvPr/>
        </p:nvSpPr>
        <p:spPr>
          <a:xfrm>
            <a:off x="256032" y="2157984"/>
            <a:ext cx="347472" cy="621792"/>
          </a:xfrm>
          <a:prstGeom prst="rect">
            <a:avLst/>
          </a:prstGeom>
          <a:solidFill>
            <a:srgbClr val="1B3A5C"/>
          </a:solidFill>
          <a:ln w="12700">
            <a:solidFill>
              <a:srgbClr val="1B3A5C"/>
            </a:solidFill>
            <a:prstDash val="solid"/>
          </a:ln>
        </p:spPr>
        <p:txBody>
          <a:bodyPr/>
          <a:lstStyle/>
          <a:p>
            <a:endParaRPr lang="en-MT"/>
          </a:p>
        </p:txBody>
      </p:sp>
      <p:sp>
        <p:nvSpPr>
          <p:cNvPr id="18" name="Text 16"/>
          <p:cNvSpPr/>
          <p:nvPr/>
        </p:nvSpPr>
        <p:spPr>
          <a:xfrm>
            <a:off x="256032" y="2157984"/>
            <a:ext cx="347472" cy="621792"/>
          </a:xfrm>
          <a:prstGeom prst="rect">
            <a:avLst/>
          </a:prstGeom>
          <a:noFill/>
          <a:ln/>
        </p:spPr>
        <p:txBody>
          <a:bodyPr wrap="square"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O3</a:t>
            </a:r>
            <a:endParaRPr lang="en-US" sz="750" dirty="0"/>
          </a:p>
        </p:txBody>
      </p:sp>
      <p:sp>
        <p:nvSpPr>
          <p:cNvPr id="19" name="Text 17"/>
          <p:cNvSpPr/>
          <p:nvPr/>
        </p:nvSpPr>
        <p:spPr>
          <a:xfrm>
            <a:off x="676656" y="2194560"/>
            <a:ext cx="5266944" cy="182880"/>
          </a:xfrm>
          <a:prstGeom prst="rect">
            <a:avLst/>
          </a:prstGeom>
          <a:noFill/>
          <a:ln/>
        </p:spPr>
        <p:txBody>
          <a:bodyPr wrap="square" rtlCol="0" anchor="ctr"/>
          <a:lstStyle/>
          <a:p>
            <a:pPr marL="0" indent="0">
              <a:buNone/>
            </a:pPr>
            <a:r>
              <a:rPr lang="en-US" sz="850" b="1" dirty="0">
                <a:solidFill>
                  <a:srgbClr val="1B3A5C"/>
                </a:solidFill>
                <a:latin typeface="Calibri" pitchFamily="34" charset="0"/>
                <a:ea typeface="Calibri" pitchFamily="34" charset="-122"/>
                <a:cs typeface="Calibri" pitchFamily="34" charset="-120"/>
              </a:rPr>
              <a:t>Demographic Correlation Assessment</a:t>
            </a:r>
            <a:endParaRPr lang="en-US" sz="850" dirty="0"/>
          </a:p>
        </p:txBody>
      </p:sp>
      <p:sp>
        <p:nvSpPr>
          <p:cNvPr id="20" name="Text 18"/>
          <p:cNvSpPr/>
          <p:nvPr/>
        </p:nvSpPr>
        <p:spPr>
          <a:xfrm>
            <a:off x="676656" y="2395728"/>
            <a:ext cx="4114800" cy="347472"/>
          </a:xfrm>
          <a:prstGeom prst="rect">
            <a:avLst/>
          </a:prstGeom>
          <a:noFill/>
          <a:ln/>
        </p:spPr>
        <p:txBody>
          <a:bodyPr wrap="square" rtlCol="0" anchor="ctr"/>
          <a:lstStyle/>
          <a:p>
            <a:pPr marL="0" indent="0">
              <a:lnSpc>
                <a:spcPct val="110000"/>
              </a:lnSpc>
              <a:buNone/>
            </a:pPr>
            <a:r>
              <a:rPr lang="en-US" sz="780" dirty="0">
                <a:solidFill>
                  <a:srgbClr val="1C2B3A"/>
                </a:solidFill>
                <a:latin typeface="Calibri" pitchFamily="34" charset="0"/>
                <a:ea typeface="Calibri" pitchFamily="34" charset="-122"/>
                <a:cs typeface="Calibri" pitchFamily="34" charset="-120"/>
              </a:rPr>
              <a:t>Fundamental asymmetry identified: Re-LAION-5B localises all signal within the person; SDv1.5 projects it onto background, silhouette, objects, and language. Gender AUC from background alone: 0.747. Skin tone: 0.728.</a:t>
            </a:r>
            <a:endParaRPr lang="en-US" sz="780" dirty="0"/>
          </a:p>
        </p:txBody>
      </p:sp>
      <p:sp>
        <p:nvSpPr>
          <p:cNvPr id="21" name="Text 19"/>
          <p:cNvSpPr/>
          <p:nvPr/>
        </p:nvSpPr>
        <p:spPr>
          <a:xfrm>
            <a:off x="4773168" y="2395728"/>
            <a:ext cx="1170432" cy="347472"/>
          </a:xfrm>
          <a:prstGeom prst="rect">
            <a:avLst/>
          </a:prstGeom>
          <a:noFill/>
          <a:ln/>
        </p:spPr>
        <p:txBody>
          <a:bodyPr wrap="square" rtlCol="0" anchor="ctr"/>
          <a:lstStyle/>
          <a:p>
            <a:pPr marL="0" indent="0" algn="r">
              <a:buNone/>
            </a:pPr>
            <a:r>
              <a:rPr lang="en-US" sz="750" i="1" dirty="0">
                <a:solidFill>
                  <a:srgbClr val="4A6274"/>
                </a:solidFill>
                <a:latin typeface="Calibri" pitchFamily="34" charset="0"/>
                <a:ea typeface="Calibri" pitchFamily="34" charset="-122"/>
                <a:cs typeface="Calibri" pitchFamily="34" charset="-120"/>
              </a:rPr>
              <a:t>§5.1, Objective 3  ·  §4.3.1–4.3.2</a:t>
            </a:r>
            <a:endParaRPr lang="en-US" sz="750" dirty="0"/>
          </a:p>
        </p:txBody>
      </p:sp>
      <p:sp>
        <p:nvSpPr>
          <p:cNvPr id="22" name="Shape 20"/>
          <p:cNvSpPr/>
          <p:nvPr/>
        </p:nvSpPr>
        <p:spPr>
          <a:xfrm>
            <a:off x="256032" y="2816352"/>
            <a:ext cx="5760720" cy="621792"/>
          </a:xfrm>
          <a:prstGeom prst="rect">
            <a:avLst/>
          </a:prstGeom>
          <a:solidFill>
            <a:srgbClr val="FFFFFF"/>
          </a:solidFill>
          <a:ln w="9525">
            <a:solidFill>
              <a:srgbClr val="E8E4DC"/>
            </a:solidFill>
            <a:prstDash val="solid"/>
          </a:ln>
        </p:spPr>
        <p:txBody>
          <a:bodyPr/>
          <a:lstStyle/>
          <a:p>
            <a:endParaRPr lang="en-MT"/>
          </a:p>
        </p:txBody>
      </p:sp>
      <p:sp>
        <p:nvSpPr>
          <p:cNvPr id="23" name="Shape 21"/>
          <p:cNvSpPr/>
          <p:nvPr/>
        </p:nvSpPr>
        <p:spPr>
          <a:xfrm>
            <a:off x="256032" y="2816352"/>
            <a:ext cx="347472" cy="621792"/>
          </a:xfrm>
          <a:prstGeom prst="rect">
            <a:avLst/>
          </a:prstGeom>
          <a:solidFill>
            <a:srgbClr val="5A1A7A"/>
          </a:solidFill>
          <a:ln w="12700">
            <a:solidFill>
              <a:srgbClr val="5A1A7A"/>
            </a:solidFill>
            <a:prstDash val="solid"/>
          </a:ln>
        </p:spPr>
        <p:txBody>
          <a:bodyPr/>
          <a:lstStyle/>
          <a:p>
            <a:endParaRPr lang="en-MT"/>
          </a:p>
        </p:txBody>
      </p:sp>
      <p:sp>
        <p:nvSpPr>
          <p:cNvPr id="24" name="Text 22"/>
          <p:cNvSpPr/>
          <p:nvPr/>
        </p:nvSpPr>
        <p:spPr>
          <a:xfrm>
            <a:off x="256032" y="2816352"/>
            <a:ext cx="347472" cy="621792"/>
          </a:xfrm>
          <a:prstGeom prst="rect">
            <a:avLst/>
          </a:prstGeom>
          <a:noFill/>
          <a:ln/>
        </p:spPr>
        <p:txBody>
          <a:bodyPr wrap="square"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O4</a:t>
            </a:r>
            <a:endParaRPr lang="en-US" sz="750" dirty="0"/>
          </a:p>
        </p:txBody>
      </p:sp>
      <p:sp>
        <p:nvSpPr>
          <p:cNvPr id="25" name="Text 23"/>
          <p:cNvSpPr/>
          <p:nvPr/>
        </p:nvSpPr>
        <p:spPr>
          <a:xfrm>
            <a:off x="676656" y="2852928"/>
            <a:ext cx="5266944" cy="182880"/>
          </a:xfrm>
          <a:prstGeom prst="rect">
            <a:avLst/>
          </a:prstGeom>
          <a:noFill/>
          <a:ln/>
        </p:spPr>
        <p:txBody>
          <a:bodyPr wrap="square" rtlCol="0" anchor="ctr"/>
          <a:lstStyle/>
          <a:p>
            <a:pPr marL="0" indent="0">
              <a:buNone/>
            </a:pPr>
            <a:r>
              <a:rPr lang="en-US" sz="850" b="1" dirty="0">
                <a:solidFill>
                  <a:srgbClr val="1B3A5C"/>
                </a:solidFill>
                <a:latin typeface="Calibri" pitchFamily="34" charset="0"/>
                <a:ea typeface="Calibri" pitchFamily="34" charset="-122"/>
                <a:cs typeface="Calibri" pitchFamily="34" charset="-120"/>
              </a:rPr>
              <a:t>Inference-Time Debiasing</a:t>
            </a:r>
            <a:endParaRPr lang="en-US" sz="850" dirty="0"/>
          </a:p>
        </p:txBody>
      </p:sp>
      <p:sp>
        <p:nvSpPr>
          <p:cNvPr id="26" name="Text 24"/>
          <p:cNvSpPr/>
          <p:nvPr/>
        </p:nvSpPr>
        <p:spPr>
          <a:xfrm>
            <a:off x="676656" y="3054096"/>
            <a:ext cx="4114800" cy="347472"/>
          </a:xfrm>
          <a:prstGeom prst="rect">
            <a:avLst/>
          </a:prstGeom>
          <a:noFill/>
          <a:ln/>
        </p:spPr>
        <p:txBody>
          <a:bodyPr wrap="square" rtlCol="0" anchor="ctr"/>
          <a:lstStyle/>
          <a:p>
            <a:pPr marL="0" indent="0">
              <a:lnSpc>
                <a:spcPct val="110000"/>
              </a:lnSpc>
              <a:buNone/>
            </a:pPr>
            <a:r>
              <a:rPr lang="en-US" sz="780" dirty="0">
                <a:solidFill>
                  <a:srgbClr val="1C2B3A"/>
                </a:solidFill>
                <a:latin typeface="Calibri" pitchFamily="34" charset="0"/>
                <a:ea typeface="Calibri" pitchFamily="34" charset="-122"/>
                <a:cs typeface="Calibri" pitchFamily="34" charset="-120"/>
              </a:rPr>
              <a:t>ITI-GEN + ControlNet + Chamfer pipeline eliminates low-level spurious correlations across all non-person probes. Mean RGB skin tone → 0.482 (chance). Background AUC persists at 0.701 (gender) / 0.632 (skin tone).</a:t>
            </a:r>
            <a:endParaRPr lang="en-US" sz="780" dirty="0"/>
          </a:p>
        </p:txBody>
      </p:sp>
      <p:sp>
        <p:nvSpPr>
          <p:cNvPr id="27" name="Text 25"/>
          <p:cNvSpPr/>
          <p:nvPr/>
        </p:nvSpPr>
        <p:spPr>
          <a:xfrm>
            <a:off x="4773168" y="3054096"/>
            <a:ext cx="1170432" cy="347472"/>
          </a:xfrm>
          <a:prstGeom prst="rect">
            <a:avLst/>
          </a:prstGeom>
          <a:noFill/>
          <a:ln/>
        </p:spPr>
        <p:txBody>
          <a:bodyPr wrap="square" rtlCol="0" anchor="ctr"/>
          <a:lstStyle/>
          <a:p>
            <a:pPr marL="0" indent="0" algn="r">
              <a:buNone/>
            </a:pPr>
            <a:r>
              <a:rPr lang="en-US" sz="750" i="1" dirty="0">
                <a:solidFill>
                  <a:srgbClr val="4A6274"/>
                </a:solidFill>
                <a:latin typeface="Calibri" pitchFamily="34" charset="0"/>
                <a:ea typeface="Calibri" pitchFamily="34" charset="-122"/>
                <a:cs typeface="Calibri" pitchFamily="34" charset="-120"/>
              </a:rPr>
              <a:t>§5.1, Objective 4  ·  §4.4</a:t>
            </a:r>
            <a:endParaRPr lang="en-US" sz="750" dirty="0"/>
          </a:p>
        </p:txBody>
      </p:sp>
      <p:sp>
        <p:nvSpPr>
          <p:cNvPr id="28" name="Shape 26"/>
          <p:cNvSpPr/>
          <p:nvPr/>
        </p:nvSpPr>
        <p:spPr>
          <a:xfrm>
            <a:off x="256032" y="3474720"/>
            <a:ext cx="5760720" cy="621792"/>
          </a:xfrm>
          <a:prstGeom prst="rect">
            <a:avLst/>
          </a:prstGeom>
          <a:solidFill>
            <a:srgbClr val="FFFFFF"/>
          </a:solidFill>
          <a:ln w="9525">
            <a:solidFill>
              <a:srgbClr val="E8E4DC"/>
            </a:solidFill>
            <a:prstDash val="solid"/>
          </a:ln>
        </p:spPr>
        <p:txBody>
          <a:bodyPr/>
          <a:lstStyle/>
          <a:p>
            <a:endParaRPr lang="en-MT"/>
          </a:p>
        </p:txBody>
      </p:sp>
      <p:sp>
        <p:nvSpPr>
          <p:cNvPr id="29" name="Shape 27"/>
          <p:cNvSpPr/>
          <p:nvPr/>
        </p:nvSpPr>
        <p:spPr>
          <a:xfrm>
            <a:off x="256032" y="3474720"/>
            <a:ext cx="347472" cy="621792"/>
          </a:xfrm>
          <a:prstGeom prst="rect">
            <a:avLst/>
          </a:prstGeom>
          <a:solidFill>
            <a:srgbClr val="C9A84C"/>
          </a:solidFill>
          <a:ln w="12700">
            <a:solidFill>
              <a:srgbClr val="C9A84C"/>
            </a:solidFill>
            <a:prstDash val="solid"/>
          </a:ln>
        </p:spPr>
        <p:txBody>
          <a:bodyPr/>
          <a:lstStyle/>
          <a:p>
            <a:endParaRPr lang="en-MT"/>
          </a:p>
        </p:txBody>
      </p:sp>
      <p:sp>
        <p:nvSpPr>
          <p:cNvPr id="30" name="Text 28"/>
          <p:cNvSpPr/>
          <p:nvPr/>
        </p:nvSpPr>
        <p:spPr>
          <a:xfrm>
            <a:off x="256032" y="3474720"/>
            <a:ext cx="347472" cy="621792"/>
          </a:xfrm>
          <a:prstGeom prst="rect">
            <a:avLst/>
          </a:prstGeom>
          <a:noFill/>
          <a:ln/>
        </p:spPr>
        <p:txBody>
          <a:bodyPr wrap="square"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O5</a:t>
            </a:r>
            <a:endParaRPr lang="en-US" sz="750" dirty="0"/>
          </a:p>
        </p:txBody>
      </p:sp>
      <p:sp>
        <p:nvSpPr>
          <p:cNvPr id="31" name="Text 29"/>
          <p:cNvSpPr/>
          <p:nvPr/>
        </p:nvSpPr>
        <p:spPr>
          <a:xfrm>
            <a:off x="676656" y="3511296"/>
            <a:ext cx="5266944" cy="182880"/>
          </a:xfrm>
          <a:prstGeom prst="rect">
            <a:avLst/>
          </a:prstGeom>
          <a:noFill/>
          <a:ln/>
        </p:spPr>
        <p:txBody>
          <a:bodyPr wrap="square" rtlCol="0" anchor="ctr"/>
          <a:lstStyle/>
          <a:p>
            <a:pPr marL="0" indent="0">
              <a:buNone/>
            </a:pPr>
            <a:r>
              <a:rPr lang="en-US" sz="850" b="1" dirty="0">
                <a:solidFill>
                  <a:srgbClr val="1B3A5C"/>
                </a:solidFill>
                <a:latin typeface="Calibri" pitchFamily="34" charset="0"/>
                <a:ea typeface="Calibri" pitchFamily="34" charset="-122"/>
                <a:cs typeface="Calibri" pitchFamily="34" charset="-120"/>
              </a:rPr>
              <a:t>Synthesis of Bias Mechanisms</a:t>
            </a:r>
            <a:endParaRPr lang="en-US" sz="850" dirty="0"/>
          </a:p>
        </p:txBody>
      </p:sp>
      <p:sp>
        <p:nvSpPr>
          <p:cNvPr id="32" name="Text 30"/>
          <p:cNvSpPr/>
          <p:nvPr/>
        </p:nvSpPr>
        <p:spPr>
          <a:xfrm>
            <a:off x="676656" y="3712464"/>
            <a:ext cx="4114800" cy="347472"/>
          </a:xfrm>
          <a:prstGeom prst="rect">
            <a:avLst/>
          </a:prstGeom>
          <a:noFill/>
          <a:ln/>
        </p:spPr>
        <p:txBody>
          <a:bodyPr wrap="square" rtlCol="0" anchor="ctr"/>
          <a:lstStyle/>
          <a:p>
            <a:pPr marL="0" indent="0">
              <a:lnSpc>
                <a:spcPct val="110000"/>
              </a:lnSpc>
              <a:buNone/>
            </a:pPr>
            <a:r>
              <a:rPr lang="en-US" sz="780" dirty="0">
                <a:solidFill>
                  <a:srgbClr val="1C2B3A"/>
                </a:solidFill>
                <a:latin typeface="Calibri" pitchFamily="34" charset="0"/>
                <a:ea typeface="Calibri" pitchFamily="34" charset="-122"/>
                <a:cs typeface="Calibri" pitchFamily="34" charset="-120"/>
              </a:rPr>
              <a:t>Two-stage propagation: Re-LAION-5B under-represents women but background context carries no independent signal. SDv1.5 amplifies and transforms this — projecting priors coherently onto scene, object layout, and semantic content.</a:t>
            </a:r>
            <a:endParaRPr lang="en-US" sz="780" dirty="0"/>
          </a:p>
        </p:txBody>
      </p:sp>
      <p:sp>
        <p:nvSpPr>
          <p:cNvPr id="33" name="Text 31"/>
          <p:cNvSpPr/>
          <p:nvPr/>
        </p:nvSpPr>
        <p:spPr>
          <a:xfrm>
            <a:off x="4773168" y="3712464"/>
            <a:ext cx="1170432" cy="347472"/>
          </a:xfrm>
          <a:prstGeom prst="rect">
            <a:avLst/>
          </a:prstGeom>
          <a:noFill/>
          <a:ln/>
        </p:spPr>
        <p:txBody>
          <a:bodyPr wrap="square" rtlCol="0" anchor="ctr"/>
          <a:lstStyle/>
          <a:p>
            <a:pPr marL="0" indent="0" algn="r">
              <a:buNone/>
            </a:pPr>
            <a:r>
              <a:rPr lang="en-US" sz="750" i="1" dirty="0">
                <a:solidFill>
                  <a:srgbClr val="4A6274"/>
                </a:solidFill>
                <a:latin typeface="Calibri" pitchFamily="34" charset="0"/>
                <a:ea typeface="Calibri" pitchFamily="34" charset="-122"/>
                <a:cs typeface="Calibri" pitchFamily="34" charset="-120"/>
              </a:rPr>
              <a:t>§5.1, Objective 5  ·  §4.6</a:t>
            </a:r>
            <a:endParaRPr lang="en-US" sz="750" dirty="0"/>
          </a:p>
        </p:txBody>
      </p:sp>
      <p:sp>
        <p:nvSpPr>
          <p:cNvPr id="34" name="Shape 32"/>
          <p:cNvSpPr/>
          <p:nvPr/>
        </p:nvSpPr>
        <p:spPr>
          <a:xfrm>
            <a:off x="6199632" y="841248"/>
            <a:ext cx="2688336" cy="3328416"/>
          </a:xfrm>
          <a:prstGeom prst="rect">
            <a:avLst/>
          </a:prstGeom>
          <a:solidFill>
            <a:srgbClr val="1B3A5C"/>
          </a:solidFill>
          <a:ln w="12700">
            <a:solidFill>
              <a:srgbClr val="1B3A5C"/>
            </a:solidFill>
            <a:prstDash val="solid"/>
          </a:ln>
          <a:effectLst>
            <a:outerShdw blurRad="63500" dist="25400" dir="8100000" algn="bl" rotWithShape="0">
              <a:srgbClr val="000000">
                <a:alpha val="10000"/>
              </a:srgbClr>
            </a:outerShdw>
          </a:effectLst>
        </p:spPr>
        <p:txBody>
          <a:bodyPr/>
          <a:lstStyle/>
          <a:p>
            <a:endParaRPr lang="en-MT"/>
          </a:p>
        </p:txBody>
      </p:sp>
      <p:sp>
        <p:nvSpPr>
          <p:cNvPr id="35" name="Shape 33"/>
          <p:cNvSpPr/>
          <p:nvPr/>
        </p:nvSpPr>
        <p:spPr>
          <a:xfrm>
            <a:off x="6199632" y="841248"/>
            <a:ext cx="2688336" cy="64008"/>
          </a:xfrm>
          <a:prstGeom prst="rect">
            <a:avLst/>
          </a:prstGeom>
          <a:solidFill>
            <a:srgbClr val="C9A84C"/>
          </a:solidFill>
          <a:ln w="12700">
            <a:solidFill>
              <a:srgbClr val="C9A84C"/>
            </a:solidFill>
            <a:prstDash val="solid"/>
          </a:ln>
        </p:spPr>
        <p:txBody>
          <a:bodyPr/>
          <a:lstStyle/>
          <a:p>
            <a:endParaRPr lang="en-MT"/>
          </a:p>
        </p:txBody>
      </p:sp>
      <p:sp>
        <p:nvSpPr>
          <p:cNvPr id="36" name="Text 34"/>
          <p:cNvSpPr/>
          <p:nvPr/>
        </p:nvSpPr>
        <p:spPr>
          <a:xfrm>
            <a:off x="6199632" y="923544"/>
            <a:ext cx="2688336" cy="201168"/>
          </a:xfrm>
          <a:prstGeom prst="rect">
            <a:avLst/>
          </a:prstGeom>
          <a:noFill/>
          <a:ln/>
        </p:spPr>
        <p:txBody>
          <a:bodyPr wrap="square" rtlCol="0" anchor="ctr"/>
          <a:lstStyle/>
          <a:p>
            <a:pPr marL="0" indent="0" algn="ctr">
              <a:buNone/>
            </a:pPr>
            <a:r>
              <a:rPr lang="en-US" sz="800" b="1" kern="0" spc="120" dirty="0">
                <a:solidFill>
                  <a:srgbClr val="C9A84C"/>
                </a:solidFill>
                <a:latin typeface="Calibri" pitchFamily="34" charset="0"/>
                <a:ea typeface="Calibri" pitchFamily="34" charset="-122"/>
                <a:cs typeface="Calibri" pitchFamily="34" charset="-120"/>
              </a:rPr>
              <a:t>FUTURE WORK</a:t>
            </a:r>
            <a:endParaRPr lang="en-US" sz="800" dirty="0"/>
          </a:p>
        </p:txBody>
      </p:sp>
      <p:sp>
        <p:nvSpPr>
          <p:cNvPr id="37" name="Shape 35"/>
          <p:cNvSpPr/>
          <p:nvPr/>
        </p:nvSpPr>
        <p:spPr>
          <a:xfrm>
            <a:off x="6291072" y="1216152"/>
            <a:ext cx="91440" cy="91440"/>
          </a:xfrm>
          <a:prstGeom prst="ellipse">
            <a:avLst/>
          </a:prstGeom>
          <a:solidFill>
            <a:srgbClr val="C9A84C"/>
          </a:solidFill>
          <a:ln w="12700">
            <a:solidFill>
              <a:srgbClr val="C9A84C"/>
            </a:solidFill>
            <a:prstDash val="solid"/>
          </a:ln>
        </p:spPr>
        <p:txBody>
          <a:bodyPr/>
          <a:lstStyle/>
          <a:p>
            <a:endParaRPr lang="en-MT"/>
          </a:p>
        </p:txBody>
      </p:sp>
      <p:sp>
        <p:nvSpPr>
          <p:cNvPr id="38" name="Text 36"/>
          <p:cNvSpPr/>
          <p:nvPr/>
        </p:nvSpPr>
        <p:spPr>
          <a:xfrm>
            <a:off x="6428232" y="1170432"/>
            <a:ext cx="2377440" cy="438912"/>
          </a:xfrm>
          <a:prstGeom prst="rect">
            <a:avLst/>
          </a:prstGeom>
          <a:noFill/>
          <a:ln/>
        </p:spPr>
        <p:txBody>
          <a:bodyPr wrap="square" rtlCol="0" anchor="ctr"/>
          <a:lstStyle/>
          <a:p>
            <a:pPr marL="0" indent="0">
              <a:lnSpc>
                <a:spcPct val="115000"/>
              </a:lnSpc>
              <a:buNone/>
            </a:pPr>
            <a:r>
              <a:rPr lang="en-US" sz="780" dirty="0">
                <a:solidFill>
                  <a:srgbClr val="C0D4E0"/>
                </a:solidFill>
                <a:latin typeface="Calibri" pitchFamily="34" charset="0"/>
                <a:ea typeface="Calibri" pitchFamily="34" charset="-122"/>
                <a:cs typeface="Calibri" pitchFamily="34" charset="-120"/>
              </a:rPr>
              <a:t>Background conditioning — target scene composition directly; adversarial background debiasing or UCE weight editing</a:t>
            </a:r>
            <a:endParaRPr lang="en-US" sz="780" dirty="0"/>
          </a:p>
        </p:txBody>
      </p:sp>
      <p:sp>
        <p:nvSpPr>
          <p:cNvPr id="39" name="Shape 37"/>
          <p:cNvSpPr/>
          <p:nvPr/>
        </p:nvSpPr>
        <p:spPr>
          <a:xfrm>
            <a:off x="6291072" y="1673352"/>
            <a:ext cx="91440" cy="91440"/>
          </a:xfrm>
          <a:prstGeom prst="ellipse">
            <a:avLst/>
          </a:prstGeom>
          <a:solidFill>
            <a:srgbClr val="C9A84C"/>
          </a:solidFill>
          <a:ln w="12700">
            <a:solidFill>
              <a:srgbClr val="C9A84C"/>
            </a:solidFill>
            <a:prstDash val="solid"/>
          </a:ln>
        </p:spPr>
        <p:txBody>
          <a:bodyPr/>
          <a:lstStyle/>
          <a:p>
            <a:endParaRPr lang="en-MT"/>
          </a:p>
        </p:txBody>
      </p:sp>
      <p:sp>
        <p:nvSpPr>
          <p:cNvPr id="40" name="Text 38"/>
          <p:cNvSpPr/>
          <p:nvPr/>
        </p:nvSpPr>
        <p:spPr>
          <a:xfrm>
            <a:off x="6428232" y="1627632"/>
            <a:ext cx="2377440" cy="438912"/>
          </a:xfrm>
          <a:prstGeom prst="rect">
            <a:avLst/>
          </a:prstGeom>
          <a:noFill/>
          <a:ln/>
        </p:spPr>
        <p:txBody>
          <a:bodyPr wrap="square" rtlCol="0" anchor="ctr"/>
          <a:lstStyle/>
          <a:p>
            <a:pPr marL="0" indent="0">
              <a:lnSpc>
                <a:spcPct val="115000"/>
              </a:lnSpc>
              <a:buNone/>
            </a:pPr>
            <a:r>
              <a:rPr lang="en-US" sz="780" dirty="0">
                <a:solidFill>
                  <a:srgbClr val="C0D4E0"/>
                </a:solidFill>
                <a:latin typeface="Calibri" pitchFamily="34" charset="0"/>
                <a:ea typeface="Calibri" pitchFamily="34" charset="-122"/>
                <a:cs typeface="Calibri" pitchFamily="34" charset="-120"/>
              </a:rPr>
              <a:t>Extend debiasing evaluation across all 10 ISCO-08 groups — not only doctor</a:t>
            </a:r>
            <a:endParaRPr lang="en-US" sz="780" dirty="0"/>
          </a:p>
        </p:txBody>
      </p:sp>
      <p:sp>
        <p:nvSpPr>
          <p:cNvPr id="41" name="Shape 39"/>
          <p:cNvSpPr/>
          <p:nvPr/>
        </p:nvSpPr>
        <p:spPr>
          <a:xfrm>
            <a:off x="6291072" y="2130552"/>
            <a:ext cx="91440" cy="91440"/>
          </a:xfrm>
          <a:prstGeom prst="ellipse">
            <a:avLst/>
          </a:prstGeom>
          <a:solidFill>
            <a:srgbClr val="C9A84C"/>
          </a:solidFill>
          <a:ln w="12700">
            <a:solidFill>
              <a:srgbClr val="C9A84C"/>
            </a:solidFill>
            <a:prstDash val="solid"/>
          </a:ln>
        </p:spPr>
        <p:txBody>
          <a:bodyPr/>
          <a:lstStyle/>
          <a:p>
            <a:endParaRPr lang="en-MT"/>
          </a:p>
        </p:txBody>
      </p:sp>
      <p:sp>
        <p:nvSpPr>
          <p:cNvPr id="42" name="Text 40"/>
          <p:cNvSpPr/>
          <p:nvPr/>
        </p:nvSpPr>
        <p:spPr>
          <a:xfrm>
            <a:off x="6428232" y="2084832"/>
            <a:ext cx="2377440" cy="438912"/>
          </a:xfrm>
          <a:prstGeom prst="rect">
            <a:avLst/>
          </a:prstGeom>
          <a:noFill/>
          <a:ln/>
        </p:spPr>
        <p:txBody>
          <a:bodyPr wrap="square" rtlCol="0" anchor="ctr"/>
          <a:lstStyle/>
          <a:p>
            <a:pPr marL="0" indent="0">
              <a:lnSpc>
                <a:spcPct val="115000"/>
              </a:lnSpc>
              <a:buNone/>
            </a:pPr>
            <a:r>
              <a:rPr lang="en-US" sz="780" dirty="0">
                <a:solidFill>
                  <a:srgbClr val="C0D4E0"/>
                </a:solidFill>
                <a:latin typeface="Calibri" pitchFamily="34" charset="0"/>
                <a:ea typeface="Calibri" pitchFamily="34" charset="-122"/>
                <a:cs typeface="Calibri" pitchFamily="34" charset="-120"/>
              </a:rPr>
              <a:t>Validated automated skin tone annotation on debiased corpus to confirm photometric fidelity</a:t>
            </a:r>
            <a:endParaRPr lang="en-US" sz="780" dirty="0"/>
          </a:p>
        </p:txBody>
      </p:sp>
      <p:sp>
        <p:nvSpPr>
          <p:cNvPr id="43" name="Shape 41"/>
          <p:cNvSpPr/>
          <p:nvPr/>
        </p:nvSpPr>
        <p:spPr>
          <a:xfrm>
            <a:off x="6291072" y="2587752"/>
            <a:ext cx="91440" cy="91440"/>
          </a:xfrm>
          <a:prstGeom prst="ellipse">
            <a:avLst/>
          </a:prstGeom>
          <a:solidFill>
            <a:srgbClr val="C9A84C"/>
          </a:solidFill>
          <a:ln w="12700">
            <a:solidFill>
              <a:srgbClr val="C9A84C"/>
            </a:solidFill>
            <a:prstDash val="solid"/>
          </a:ln>
        </p:spPr>
        <p:txBody>
          <a:bodyPr/>
          <a:lstStyle/>
          <a:p>
            <a:endParaRPr lang="en-MT"/>
          </a:p>
        </p:txBody>
      </p:sp>
      <p:sp>
        <p:nvSpPr>
          <p:cNvPr id="44" name="Text 42"/>
          <p:cNvSpPr/>
          <p:nvPr/>
        </p:nvSpPr>
        <p:spPr>
          <a:xfrm>
            <a:off x="6428232" y="2542032"/>
            <a:ext cx="2377440" cy="438912"/>
          </a:xfrm>
          <a:prstGeom prst="rect">
            <a:avLst/>
          </a:prstGeom>
          <a:noFill/>
          <a:ln/>
        </p:spPr>
        <p:txBody>
          <a:bodyPr wrap="square" rtlCol="0" anchor="ctr"/>
          <a:lstStyle/>
          <a:p>
            <a:pPr marL="0" indent="0">
              <a:lnSpc>
                <a:spcPct val="115000"/>
              </a:lnSpc>
              <a:buNone/>
            </a:pPr>
            <a:r>
              <a:rPr lang="en-US" sz="780" dirty="0">
                <a:solidFill>
                  <a:srgbClr val="C0D4E0"/>
                </a:solidFill>
                <a:latin typeface="Calibri" pitchFamily="34" charset="0"/>
                <a:ea typeface="Calibri" pitchFamily="34" charset="-122"/>
                <a:cs typeface="Calibri" pitchFamily="34" charset="-120"/>
              </a:rPr>
              <a:t>Larger shard sample (&gt;4 of 128) to verify spurious feature profiles hold corpus-wide</a:t>
            </a:r>
            <a:endParaRPr lang="en-US" sz="780" dirty="0"/>
          </a:p>
        </p:txBody>
      </p:sp>
      <p:sp>
        <p:nvSpPr>
          <p:cNvPr id="45" name="Shape 43"/>
          <p:cNvSpPr/>
          <p:nvPr/>
        </p:nvSpPr>
        <p:spPr>
          <a:xfrm>
            <a:off x="6291072" y="3044952"/>
            <a:ext cx="91440" cy="91440"/>
          </a:xfrm>
          <a:prstGeom prst="ellipse">
            <a:avLst/>
          </a:prstGeom>
          <a:solidFill>
            <a:srgbClr val="C9A84C"/>
          </a:solidFill>
          <a:ln w="12700">
            <a:solidFill>
              <a:srgbClr val="C9A84C"/>
            </a:solidFill>
            <a:prstDash val="solid"/>
          </a:ln>
        </p:spPr>
        <p:txBody>
          <a:bodyPr/>
          <a:lstStyle/>
          <a:p>
            <a:endParaRPr lang="en-MT"/>
          </a:p>
        </p:txBody>
      </p:sp>
      <p:sp>
        <p:nvSpPr>
          <p:cNvPr id="46" name="Text 44"/>
          <p:cNvSpPr/>
          <p:nvPr/>
        </p:nvSpPr>
        <p:spPr>
          <a:xfrm>
            <a:off x="6428232" y="2999232"/>
            <a:ext cx="2377440" cy="438912"/>
          </a:xfrm>
          <a:prstGeom prst="rect">
            <a:avLst/>
          </a:prstGeom>
          <a:noFill/>
          <a:ln/>
        </p:spPr>
        <p:txBody>
          <a:bodyPr wrap="square" rtlCol="0" anchor="ctr"/>
          <a:lstStyle/>
          <a:p>
            <a:pPr marL="0" indent="0">
              <a:lnSpc>
                <a:spcPct val="115000"/>
              </a:lnSpc>
              <a:buNone/>
            </a:pPr>
            <a:r>
              <a:rPr lang="en-US" sz="780" dirty="0">
                <a:solidFill>
                  <a:srgbClr val="C0D4E0"/>
                </a:solidFill>
                <a:latin typeface="Calibri" pitchFamily="34" charset="0"/>
                <a:ea typeface="Calibri" pitchFamily="34" charset="-122"/>
                <a:cs typeface="Calibri" pitchFamily="34" charset="-120"/>
              </a:rPr>
              <a:t>Larger probe backbones — test whether separability ceiling reflects genuine dataset differences or ConvNeXt-Tiny limits</a:t>
            </a:r>
            <a:endParaRPr lang="en-US" sz="780" dirty="0"/>
          </a:p>
        </p:txBody>
      </p:sp>
      <p:sp>
        <p:nvSpPr>
          <p:cNvPr id="47" name="Shape 45"/>
          <p:cNvSpPr/>
          <p:nvPr/>
        </p:nvSpPr>
        <p:spPr>
          <a:xfrm>
            <a:off x="256032" y="4224528"/>
            <a:ext cx="8631936" cy="402336"/>
          </a:xfrm>
          <a:prstGeom prst="rect">
            <a:avLst/>
          </a:prstGeom>
          <a:solidFill>
            <a:srgbClr val="FEF4E4"/>
          </a:solidFill>
          <a:ln w="9525">
            <a:solidFill>
              <a:srgbClr val="C9A84C"/>
            </a:solidFill>
            <a:prstDash val="solid"/>
          </a:ln>
        </p:spPr>
        <p:txBody>
          <a:bodyPr/>
          <a:lstStyle/>
          <a:p>
            <a:endParaRPr lang="en-MT"/>
          </a:p>
        </p:txBody>
      </p:sp>
      <p:sp>
        <p:nvSpPr>
          <p:cNvPr id="48" name="Text 46"/>
          <p:cNvSpPr/>
          <p:nvPr/>
        </p:nvSpPr>
        <p:spPr>
          <a:xfrm>
            <a:off x="402336" y="4242816"/>
            <a:ext cx="8339328" cy="365760"/>
          </a:xfrm>
          <a:prstGeom prst="rect">
            <a:avLst/>
          </a:prstGeom>
          <a:noFill/>
          <a:ln/>
        </p:spPr>
        <p:txBody>
          <a:bodyPr wrap="square" rtlCol="0" anchor="ctr"/>
          <a:lstStyle/>
          <a:p>
            <a:pPr marL="0" indent="0">
              <a:lnSpc>
                <a:spcPct val="120000"/>
              </a:lnSpc>
              <a:buNone/>
            </a:pPr>
            <a:r>
              <a:rPr lang="en-US" sz="850" b="1" dirty="0">
                <a:solidFill>
                  <a:srgbClr val="9A7D30"/>
                </a:solidFill>
                <a:latin typeface="Calibri" pitchFamily="34" charset="0"/>
                <a:ea typeface="Calibri" pitchFamily="34" charset="-122"/>
                <a:cs typeface="Calibri" pitchFamily="34" charset="-120"/>
              </a:rPr>
              <a:t>Key limitations:  </a:t>
            </a:r>
            <a:r>
              <a:rPr lang="en-US" sz="850" dirty="0">
                <a:solidFill>
                  <a:srgbClr val="1C2B3A"/>
                </a:solidFill>
                <a:latin typeface="Calibri" pitchFamily="34" charset="0"/>
                <a:ea typeface="Calibri" pitchFamily="34" charset="-122"/>
                <a:cs typeface="Calibri" pitchFamily="34" charset="-120"/>
              </a:rPr>
              <a:t>4 of 128 shards (3.1% of corpus)  ·  Automated annotation (not ground truth)  ·  Debiasing on one profession only  ·  Residual background signal unresolved</a:t>
            </a:r>
            <a:endParaRPr lang="en-US" sz="850" dirty="0"/>
          </a:p>
        </p:txBody>
      </p:sp>
      <p:sp>
        <p:nvSpPr>
          <p:cNvPr id="49" name="Shape 47"/>
          <p:cNvSpPr/>
          <p:nvPr/>
        </p:nvSpPr>
        <p:spPr>
          <a:xfrm>
            <a:off x="256032" y="4846320"/>
            <a:ext cx="8631936" cy="201168"/>
          </a:xfrm>
          <a:prstGeom prst="rect">
            <a:avLst/>
          </a:prstGeom>
          <a:solidFill>
            <a:srgbClr val="EEF0F8"/>
          </a:solidFill>
          <a:ln w="6350">
            <a:solidFill>
              <a:srgbClr val="E8E4DC"/>
            </a:solidFill>
            <a:prstDash val="solid"/>
          </a:ln>
        </p:spPr>
        <p:txBody>
          <a:bodyPr/>
          <a:lstStyle/>
          <a:p>
            <a:endParaRPr lang="en-MT"/>
          </a:p>
        </p:txBody>
      </p:sp>
      <p:sp>
        <p:nvSpPr>
          <p:cNvPr id="50" name="Text 48"/>
          <p:cNvSpPr/>
          <p:nvPr/>
        </p:nvSpPr>
        <p:spPr>
          <a:xfrm>
            <a:off x="402336" y="4864608"/>
            <a:ext cx="8339328" cy="182880"/>
          </a:xfrm>
          <a:prstGeom prst="rect">
            <a:avLst/>
          </a:prstGeom>
          <a:noFill/>
          <a:ln/>
        </p:spPr>
        <p:txBody>
          <a:bodyPr wrap="square" rtlCol="0" anchor="ctr"/>
          <a:lstStyle/>
          <a:p>
            <a:pPr marL="0" indent="0">
              <a:buNone/>
            </a:pPr>
            <a:r>
              <a:rPr lang="en-US" sz="800" b="1" dirty="0">
                <a:solidFill>
                  <a:srgbClr val="1B3A5C"/>
                </a:solidFill>
                <a:latin typeface="Calibri" pitchFamily="34" charset="0"/>
                <a:ea typeface="Calibri" pitchFamily="34" charset="-122"/>
                <a:cs typeface="Calibri" pitchFamily="34" charset="-120"/>
              </a:rPr>
              <a:t>§5.1 Conclusions  ·  §5.2 Future Work  ·  §4.5 Limitations  ·  §4.6 Synthesis of Evaluation Findings</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6">
    <p:bg>
      <p:bgPr>
        <a:solidFill>
          <a:srgbClr val="F7F4EE"/>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2A1A5E"/>
          </a:solidFill>
          <a:ln w="12700">
            <a:solidFill>
              <a:srgbClr val="2A1A5E"/>
            </a:solidFill>
            <a:prstDash val="solid"/>
          </a:ln>
        </p:spPr>
        <p:txBody>
          <a:bodyPr/>
          <a:lstStyle/>
          <a:p>
            <a:endParaRPr lang="en-MT"/>
          </a:p>
        </p:txBody>
      </p:sp>
      <p:sp>
        <p:nvSpPr>
          <p:cNvPr id="3" name="Shape 1"/>
          <p:cNvSpPr/>
          <p:nvPr/>
        </p:nvSpPr>
        <p:spPr>
          <a:xfrm>
            <a:off x="7132320" y="128016"/>
            <a:ext cx="1737360" cy="457200"/>
          </a:xfrm>
          <a:prstGeom prst="rect">
            <a:avLst/>
          </a:prstGeom>
          <a:solidFill>
            <a:srgbClr val="C9A84C"/>
          </a:solidFill>
          <a:ln w="12700">
            <a:solidFill>
              <a:srgbClr val="C9A84C"/>
            </a:solidFill>
            <a:prstDash val="solid"/>
          </a:ln>
        </p:spPr>
        <p:txBody>
          <a:bodyPr/>
          <a:lstStyle/>
          <a:p>
            <a:endParaRPr lang="en-MT"/>
          </a:p>
        </p:txBody>
      </p:sp>
      <p:sp>
        <p:nvSpPr>
          <p:cNvPr id="4" name="Text 2"/>
          <p:cNvSpPr/>
          <p:nvPr/>
        </p:nvSpPr>
        <p:spPr>
          <a:xfrm>
            <a:off x="7132320" y="128016"/>
            <a:ext cx="1737360" cy="457200"/>
          </a:xfrm>
          <a:prstGeom prst="rect">
            <a:avLst/>
          </a:prstGeom>
          <a:noFill/>
          <a:ln/>
        </p:spPr>
        <p:txBody>
          <a:bodyPr wrap="square" rtlCol="0" anchor="ctr"/>
          <a:lstStyle/>
          <a:p>
            <a:pPr marL="0" indent="0" algn="ctr">
              <a:buNone/>
            </a:pPr>
            <a:r>
              <a:rPr lang="en-US" sz="750" b="1" kern="0" spc="50" dirty="0">
                <a:solidFill>
                  <a:srgbClr val="1B3A5C"/>
                </a:solidFill>
                <a:latin typeface="Calibri" pitchFamily="34" charset="0"/>
                <a:ea typeface="Calibri" pitchFamily="34" charset="-122"/>
                <a:cs typeface="Calibri" pitchFamily="34" charset="-120"/>
              </a:rPr>
              <a:t>SUPPLEMENTARY</a:t>
            </a:r>
            <a:endParaRPr lang="en-US" sz="750" dirty="0"/>
          </a:p>
        </p:txBody>
      </p:sp>
      <p:sp>
        <p:nvSpPr>
          <p:cNvPr id="5" name="Text 3"/>
          <p:cNvSpPr/>
          <p:nvPr/>
        </p:nvSpPr>
        <p:spPr>
          <a:xfrm>
            <a:off x="411480" y="0"/>
            <a:ext cx="6583680" cy="713232"/>
          </a:xfrm>
          <a:prstGeom prst="rect">
            <a:avLst/>
          </a:prstGeom>
          <a:noFill/>
          <a:ln/>
        </p:spPr>
        <p:txBody>
          <a:bodyPr wrap="square"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MODEL SELECTION EVIDENCE  ·  FACE DETECTION</a:t>
            </a:r>
            <a:endParaRPr lang="en-US" sz="1400" dirty="0"/>
          </a:p>
        </p:txBody>
      </p:sp>
      <p:sp>
        <p:nvSpPr>
          <p:cNvPr id="6" name="Text 4"/>
          <p:cNvSpPr/>
          <p:nvPr/>
        </p:nvSpPr>
        <p:spPr>
          <a:xfrm>
            <a:off x="274320" y="822960"/>
            <a:ext cx="8595360" cy="237744"/>
          </a:xfrm>
          <a:prstGeom prst="rect">
            <a:avLst/>
          </a:prstGeom>
          <a:noFill/>
          <a:ln/>
        </p:spPr>
        <p:txBody>
          <a:bodyPr wrap="square" rtlCol="0" anchor="ctr"/>
          <a:lstStyle/>
          <a:p>
            <a:pPr marL="0" indent="0">
              <a:buNone/>
            </a:pPr>
            <a:r>
              <a:rPr lang="en-US" sz="950" b="1" dirty="0">
                <a:solidFill>
                  <a:srgbClr val="2A1A5E"/>
                </a:solidFill>
                <a:latin typeface="Calibri" pitchFamily="34" charset="0"/>
                <a:ea typeface="Calibri" pitchFamily="34" charset="-122"/>
                <a:cs typeface="Calibri" pitchFamily="34" charset="-120"/>
              </a:rPr>
              <a:t>WIDER Face Validation Set  (Table 3.1)  ·  AP@0.5 overall and by face size  ·  mAP@0.50:0.95 = COCO-style average across IoU thresholds</a:t>
            </a:r>
            <a:endParaRPr lang="en-US" sz="9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274320" y="1097280"/>
          <a:ext cx="8595360" cy="2514600"/>
        </p:xfrm>
        <a:graphic>
          <a:graphicData uri="http://schemas.openxmlformats.org/drawingml/2006/table">
            <a:tbl>
              <a:tblPr/>
              <a:tblGrid>
                <a:gridCol w="283464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1508760">
                  <a:extLst>
                    <a:ext uri="{9D8B030D-6E8A-4147-A177-3AD203B41FA5}">
                      <a16:colId xmlns:a16="http://schemas.microsoft.com/office/drawing/2014/main" val="20005"/>
                    </a:ext>
                  </a:extLst>
                </a:gridCol>
              </a:tblGrid>
              <a:tr h="502920">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Model</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AP@0.5</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mAP@0.50:0.95</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Small AP</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Medium AP</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Large AP</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extLst>
                  <a:ext uri="{0D108BD9-81ED-4DB2-BD59-A6C34878D82A}">
                    <a16:rowId xmlns:a16="http://schemas.microsoft.com/office/drawing/2014/main" val="10000"/>
                  </a:ext>
                </a:extLst>
              </a:tr>
              <a:tr h="502920">
                <a:tc>
                  <a:txBody>
                    <a:bodyPr/>
                    <a:lstStyle/>
                    <a:p>
                      <a:pPr marL="0" indent="0" algn="l">
                        <a:buNone/>
                      </a:pPr>
                      <a:r>
                        <a:rPr lang="en-US" sz="900" b="1" dirty="0">
                          <a:solidFill>
                            <a:srgbClr val="0D8A5E"/>
                          </a:solidFill>
                          <a:latin typeface="Calibri" pitchFamily="34" charset="0"/>
                          <a:ea typeface="Calibri" pitchFamily="34" charset="-122"/>
                          <a:cs typeface="Calibri" pitchFamily="34" charset="-120"/>
                        </a:rPr>
                        <a:t>YOLOv12l-Face  ★</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0.905</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0.556</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0.783</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0.915</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0.948</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extLst>
                  <a:ext uri="{0D108BD9-81ED-4DB2-BD59-A6C34878D82A}">
                    <a16:rowId xmlns:a16="http://schemas.microsoft.com/office/drawing/2014/main" val="10001"/>
                  </a:ext>
                </a:extLst>
              </a:tr>
              <a:tr h="502920">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SCRFD</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0.844</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0.478</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0.614</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0.884</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0.954</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RetinaFace ‡</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B84A0A"/>
                          </a:solidFill>
                          <a:latin typeface="Calibri" pitchFamily="34" charset="0"/>
                          <a:ea typeface="Calibri" pitchFamily="34" charset="-122"/>
                          <a:cs typeface="Calibri" pitchFamily="34" charset="-120"/>
                        </a:rPr>
                        <a:t>0.319</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F0E0"/>
                    </a:solidFill>
                  </a:tcPr>
                </a:tc>
                <a:tc>
                  <a:txBody>
                    <a:bodyPr/>
                    <a:lstStyle/>
                    <a:p>
                      <a:pPr marL="0" indent="0" algn="ctr">
                        <a:buNone/>
                      </a:pPr>
                      <a:r>
                        <a:rPr lang="en-US" sz="900" dirty="0">
                          <a:solidFill>
                            <a:srgbClr val="B84A0A"/>
                          </a:solidFill>
                          <a:latin typeface="Calibri" pitchFamily="34" charset="0"/>
                          <a:ea typeface="Calibri" pitchFamily="34" charset="-122"/>
                          <a:cs typeface="Calibri" pitchFamily="34" charset="-120"/>
                        </a:rPr>
                        <a:t>0.176</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F0E0"/>
                    </a:solidFill>
                  </a:tcPr>
                </a:tc>
                <a:tc>
                  <a:txBody>
                    <a:bodyPr/>
                    <a:lstStyle/>
                    <a:p>
                      <a:pPr marL="0" indent="0" algn="ctr">
                        <a:buNone/>
                      </a:pPr>
                      <a:r>
                        <a:rPr lang="en-US" sz="900" dirty="0">
                          <a:solidFill>
                            <a:srgbClr val="B84A0A"/>
                          </a:solidFill>
                          <a:latin typeface="Calibri" pitchFamily="34" charset="0"/>
                          <a:ea typeface="Calibri" pitchFamily="34" charset="-122"/>
                          <a:cs typeface="Calibri" pitchFamily="34" charset="-120"/>
                        </a:rPr>
                        <a:t>0.011</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F0E0"/>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0.376</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0.712</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extLst>
                  <a:ext uri="{0D108BD9-81ED-4DB2-BD59-A6C34878D82A}">
                    <a16:rowId xmlns:a16="http://schemas.microsoft.com/office/drawing/2014/main" val="10003"/>
                  </a:ext>
                </a:extLst>
              </a:tr>
              <a:tr h="502920">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MediaPipe</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AA2200"/>
                          </a:solidFill>
                          <a:latin typeface="Calibri" pitchFamily="34" charset="0"/>
                          <a:ea typeface="Calibri" pitchFamily="34" charset="-122"/>
                          <a:cs typeface="Calibri" pitchFamily="34" charset="-120"/>
                        </a:rPr>
                        <a:t>0.117</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E0D0"/>
                    </a:solidFill>
                  </a:tcPr>
                </a:tc>
                <a:tc>
                  <a:txBody>
                    <a:bodyPr/>
                    <a:lstStyle/>
                    <a:p>
                      <a:pPr marL="0" indent="0" algn="ctr">
                        <a:buNone/>
                      </a:pPr>
                      <a:r>
                        <a:rPr lang="en-US" sz="900" b="1" dirty="0">
                          <a:solidFill>
                            <a:srgbClr val="AA2200"/>
                          </a:solidFill>
                          <a:latin typeface="Calibri" pitchFamily="34" charset="0"/>
                          <a:ea typeface="Calibri" pitchFamily="34" charset="-122"/>
                          <a:cs typeface="Calibri" pitchFamily="34" charset="-120"/>
                        </a:rPr>
                        <a:t>0.040</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E0D0"/>
                    </a:solidFill>
                  </a:tcPr>
                </a:tc>
                <a:tc>
                  <a:txBody>
                    <a:bodyPr/>
                    <a:lstStyle/>
                    <a:p>
                      <a:pPr marL="0" indent="0" algn="ctr">
                        <a:buNone/>
                      </a:pPr>
                      <a:r>
                        <a:rPr lang="en-US" sz="900" b="1" dirty="0">
                          <a:solidFill>
                            <a:srgbClr val="AA2200"/>
                          </a:solidFill>
                          <a:latin typeface="Calibri" pitchFamily="34" charset="0"/>
                          <a:ea typeface="Calibri" pitchFamily="34" charset="-122"/>
                          <a:cs typeface="Calibri" pitchFamily="34" charset="-120"/>
                        </a:rPr>
                        <a:t>0.000</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E0D0"/>
                    </a:solidFill>
                  </a:tcPr>
                </a:tc>
                <a:tc>
                  <a:txBody>
                    <a:bodyPr/>
                    <a:lstStyle/>
                    <a:p>
                      <a:pPr marL="0" indent="0" algn="ctr">
                        <a:buNone/>
                      </a:pPr>
                      <a:r>
                        <a:rPr lang="en-US" sz="900" b="1" dirty="0">
                          <a:solidFill>
                            <a:srgbClr val="AA2200"/>
                          </a:solidFill>
                          <a:latin typeface="Calibri" pitchFamily="34" charset="0"/>
                          <a:ea typeface="Calibri" pitchFamily="34" charset="-122"/>
                          <a:cs typeface="Calibri" pitchFamily="34" charset="-120"/>
                        </a:rPr>
                        <a:t>0.015</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E0D0"/>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0.497</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Shape 5"/>
          <p:cNvSpPr/>
          <p:nvPr/>
        </p:nvSpPr>
        <p:spPr>
          <a:xfrm>
            <a:off x="274320" y="3708504"/>
            <a:ext cx="8595360" cy="365760"/>
          </a:xfrm>
          <a:prstGeom prst="rect">
            <a:avLst/>
          </a:prstGeom>
          <a:solidFill>
            <a:srgbClr val="F4F2EC"/>
          </a:solidFill>
          <a:ln w="6350">
            <a:solidFill>
              <a:srgbClr val="E8E4DC"/>
            </a:solidFill>
            <a:prstDash val="solid"/>
          </a:ln>
        </p:spPr>
        <p:txBody>
          <a:bodyPr/>
          <a:lstStyle/>
          <a:p>
            <a:endParaRPr lang="en-MT"/>
          </a:p>
        </p:txBody>
      </p:sp>
      <p:sp>
        <p:nvSpPr>
          <p:cNvPr id="9" name="Text 6"/>
          <p:cNvSpPr/>
          <p:nvPr/>
        </p:nvSpPr>
        <p:spPr>
          <a:xfrm>
            <a:off x="402336" y="3726792"/>
            <a:ext cx="8339328" cy="329184"/>
          </a:xfrm>
          <a:prstGeom prst="rect">
            <a:avLst/>
          </a:prstGeom>
          <a:noFill/>
          <a:ln/>
        </p:spPr>
        <p:txBody>
          <a:bodyPr wrap="square" rtlCol="0" anchor="ctr"/>
          <a:lstStyle/>
          <a:p>
            <a:pPr marL="0" indent="0">
              <a:lnSpc>
                <a:spcPct val="115000"/>
              </a:lnSpc>
              <a:buNone/>
            </a:pPr>
            <a:r>
              <a:rPr lang="en-US" sz="800" b="1" dirty="0">
                <a:solidFill>
                  <a:srgbClr val="4A6274"/>
                </a:solidFill>
                <a:latin typeface="Calibri" pitchFamily="34" charset="0"/>
                <a:ea typeface="Calibri" pitchFamily="34" charset="-122"/>
                <a:cs typeface="Calibri" pitchFamily="34" charset="-120"/>
              </a:rPr>
              <a:t>‡ RetinaFace:  </a:t>
            </a:r>
            <a:r>
              <a:rPr lang="en-US" sz="800" i="1" dirty="0">
                <a:solidFill>
                  <a:srgbClr val="4A6274"/>
                </a:solidFill>
                <a:latin typeface="Calibri" pitchFamily="34" charset="0"/>
                <a:ea typeface="Calibri" pitchFamily="34" charset="-122"/>
                <a:cs typeface="Calibri" pitchFamily="34" charset="-120"/>
              </a:rPr>
              <a:t>Tested via the batch_face deployment library, which ships its own checkpoint and preprocessing pipeline. The 0.319 AP@0.5 reflects practical deployment performance relevant to the pipeline decision — not the published model's capability under its original implementation.</a:t>
            </a:r>
            <a:endParaRPr lang="en-US" sz="800" dirty="0"/>
          </a:p>
        </p:txBody>
      </p:sp>
      <p:sp>
        <p:nvSpPr>
          <p:cNvPr id="10" name="Shape 7"/>
          <p:cNvSpPr/>
          <p:nvPr/>
        </p:nvSpPr>
        <p:spPr>
          <a:xfrm>
            <a:off x="274320" y="4119984"/>
            <a:ext cx="8595360" cy="365760"/>
          </a:xfrm>
          <a:prstGeom prst="rect">
            <a:avLst/>
          </a:prstGeom>
          <a:solidFill>
            <a:srgbClr val="EBF2FA"/>
          </a:solidFill>
          <a:ln w="6350">
            <a:solidFill>
              <a:srgbClr val="7AAAC8"/>
            </a:solidFill>
            <a:prstDash val="solid"/>
          </a:ln>
        </p:spPr>
        <p:txBody>
          <a:bodyPr/>
          <a:lstStyle/>
          <a:p>
            <a:endParaRPr lang="en-MT"/>
          </a:p>
        </p:txBody>
      </p:sp>
      <p:sp>
        <p:nvSpPr>
          <p:cNvPr id="11" name="Text 8"/>
          <p:cNvSpPr/>
          <p:nvPr/>
        </p:nvSpPr>
        <p:spPr>
          <a:xfrm>
            <a:off x="402336" y="4138272"/>
            <a:ext cx="8339328" cy="329184"/>
          </a:xfrm>
          <a:prstGeom prst="rect">
            <a:avLst/>
          </a:prstGeom>
          <a:noFill/>
          <a:ln/>
        </p:spPr>
        <p:txBody>
          <a:bodyPr wrap="square" rtlCol="0" anchor="ctr"/>
          <a:lstStyle/>
          <a:p>
            <a:pPr marL="0" indent="0">
              <a:lnSpc>
                <a:spcPct val="115000"/>
              </a:lnSpc>
              <a:buNone/>
            </a:pPr>
            <a:r>
              <a:rPr lang="en-US" sz="850" b="1" dirty="0">
                <a:solidFill>
                  <a:srgbClr val="205070"/>
                </a:solidFill>
                <a:latin typeface="Calibri" pitchFamily="34" charset="0"/>
                <a:ea typeface="Calibri" pitchFamily="34" charset="-122"/>
                <a:cs typeface="Calibri" pitchFamily="34" charset="-120"/>
              </a:rPr>
              <a:t>Why face detection is the critical gating step:  </a:t>
            </a:r>
            <a:r>
              <a:rPr lang="en-US" sz="850" dirty="0">
                <a:solidFill>
                  <a:srgbClr val="205070"/>
                </a:solidFill>
                <a:latin typeface="Calibri" pitchFamily="34" charset="0"/>
                <a:ea typeface="Calibri" pitchFamily="34" charset="-122"/>
                <a:cs typeface="Calibri" pitchFamily="34" charset="-120"/>
              </a:rPr>
              <a:t>Any systematic failure — particularly on small faces — introduces filtering bias into the entire downstream annotation pipeline, skewing the final 200,000-image corpus before a single demographic label is assigned.</a:t>
            </a:r>
            <a:endParaRPr lang="en-US" sz="850" dirty="0"/>
          </a:p>
        </p:txBody>
      </p:sp>
      <p:sp>
        <p:nvSpPr>
          <p:cNvPr id="12" name="Shape 9"/>
          <p:cNvSpPr/>
          <p:nvPr/>
        </p:nvSpPr>
        <p:spPr>
          <a:xfrm>
            <a:off x="274320" y="4531464"/>
            <a:ext cx="8595360" cy="475488"/>
          </a:xfrm>
          <a:prstGeom prst="rect">
            <a:avLst/>
          </a:prstGeom>
          <a:solidFill>
            <a:srgbClr val="EAF4F0"/>
          </a:solidFill>
          <a:ln w="9525">
            <a:solidFill>
              <a:srgbClr val="0D7A8A"/>
            </a:solidFill>
            <a:prstDash val="solid"/>
          </a:ln>
        </p:spPr>
        <p:txBody>
          <a:bodyPr/>
          <a:lstStyle/>
          <a:p>
            <a:endParaRPr lang="en-MT"/>
          </a:p>
        </p:txBody>
      </p:sp>
      <p:sp>
        <p:nvSpPr>
          <p:cNvPr id="13" name="Text 10"/>
          <p:cNvSpPr/>
          <p:nvPr/>
        </p:nvSpPr>
        <p:spPr>
          <a:xfrm>
            <a:off x="402336" y="4549752"/>
            <a:ext cx="8339328" cy="438912"/>
          </a:xfrm>
          <a:prstGeom prst="rect">
            <a:avLst/>
          </a:prstGeom>
          <a:noFill/>
          <a:ln/>
        </p:spPr>
        <p:txBody>
          <a:bodyPr wrap="square" rtlCol="0" anchor="ctr"/>
          <a:lstStyle/>
          <a:p>
            <a:pPr marL="0" indent="0">
              <a:lnSpc>
                <a:spcPct val="120000"/>
              </a:lnSpc>
              <a:buNone/>
            </a:pPr>
            <a:r>
              <a:rPr lang="en-US" sz="880" b="1" dirty="0">
                <a:solidFill>
                  <a:srgbClr val="0D7A8A"/>
                </a:solidFill>
                <a:latin typeface="Calibri" pitchFamily="34" charset="0"/>
                <a:ea typeface="Calibri" pitchFamily="34" charset="-122"/>
                <a:cs typeface="Calibri" pitchFamily="34" charset="-120"/>
              </a:rPr>
              <a:t>Decision:  </a:t>
            </a:r>
            <a:r>
              <a:rPr lang="en-US" sz="880" dirty="0">
                <a:solidFill>
                  <a:srgbClr val="1C2B3A"/>
                </a:solidFill>
                <a:latin typeface="Calibri" pitchFamily="34" charset="0"/>
                <a:ea typeface="Calibri" pitchFamily="34" charset="-122"/>
                <a:cs typeface="Calibri" pitchFamily="34" charset="-120"/>
              </a:rPr>
              <a:t>YOLOv12l-Face — highest overall AP@0.5 (0.905) and best small-face AP (0.783 vs 0.614 for SCRFD), with the widest high-precision recall range sustaining near-perfect precision to ~0.8 recall. The small-face advantage is decisive: scale-dependent filtering bias would propagate irreversibly through the pipeline.</a:t>
            </a:r>
            <a:endParaRPr lang="en-US" sz="88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hape 0">
            <a:extLst>
              <a:ext uri="{FF2B5EF4-FFF2-40B4-BE49-F238E27FC236}">
                <a16:creationId xmlns:a16="http://schemas.microsoft.com/office/drawing/2014/main" id="{468F2DD9-E143-D1FD-53C5-F297D9F68A44}"/>
              </a:ext>
            </a:extLst>
          </p:cNvPr>
          <p:cNvSpPr/>
          <p:nvPr/>
        </p:nvSpPr>
        <p:spPr>
          <a:xfrm>
            <a:off x="0" y="0"/>
            <a:ext cx="9144000" cy="713232"/>
          </a:xfrm>
          <a:prstGeom prst="rect">
            <a:avLst/>
          </a:prstGeom>
          <a:solidFill>
            <a:srgbClr val="2A1A5E"/>
          </a:solidFill>
          <a:ln w="12700">
            <a:solidFill>
              <a:srgbClr val="2A1A5E"/>
            </a:solidFill>
            <a:prstDash val="solid"/>
          </a:ln>
        </p:spPr>
        <p:txBody>
          <a:bodyPr/>
          <a:lstStyle/>
          <a:p>
            <a:endParaRPr lang="en-MT" dirty="0"/>
          </a:p>
        </p:txBody>
      </p:sp>
      <p:sp>
        <p:nvSpPr>
          <p:cNvPr id="16" name="Shape 1">
            <a:extLst>
              <a:ext uri="{FF2B5EF4-FFF2-40B4-BE49-F238E27FC236}">
                <a16:creationId xmlns:a16="http://schemas.microsoft.com/office/drawing/2014/main" id="{33792F93-B632-D748-4A07-219F53DA079A}"/>
              </a:ext>
            </a:extLst>
          </p:cNvPr>
          <p:cNvSpPr/>
          <p:nvPr/>
        </p:nvSpPr>
        <p:spPr>
          <a:xfrm>
            <a:off x="7132320" y="128016"/>
            <a:ext cx="1737360" cy="457200"/>
          </a:xfrm>
          <a:prstGeom prst="rect">
            <a:avLst/>
          </a:prstGeom>
          <a:solidFill>
            <a:srgbClr val="C9A84C"/>
          </a:solidFill>
          <a:ln w="12700">
            <a:solidFill>
              <a:srgbClr val="C9A84C"/>
            </a:solidFill>
            <a:prstDash val="solid"/>
          </a:ln>
        </p:spPr>
        <p:txBody>
          <a:bodyPr/>
          <a:lstStyle/>
          <a:p>
            <a:endParaRPr lang="en-MT"/>
          </a:p>
        </p:txBody>
      </p:sp>
      <p:sp>
        <p:nvSpPr>
          <p:cNvPr id="17" name="Text 2">
            <a:extLst>
              <a:ext uri="{FF2B5EF4-FFF2-40B4-BE49-F238E27FC236}">
                <a16:creationId xmlns:a16="http://schemas.microsoft.com/office/drawing/2014/main" id="{BEDF6E20-330E-2051-745C-6265122A3AE3}"/>
              </a:ext>
            </a:extLst>
          </p:cNvPr>
          <p:cNvSpPr/>
          <p:nvPr/>
        </p:nvSpPr>
        <p:spPr>
          <a:xfrm>
            <a:off x="7132320" y="128016"/>
            <a:ext cx="1737360" cy="457200"/>
          </a:xfrm>
          <a:prstGeom prst="rect">
            <a:avLst/>
          </a:prstGeom>
          <a:noFill/>
          <a:ln/>
        </p:spPr>
        <p:txBody>
          <a:bodyPr wrap="square" rtlCol="0" anchor="ctr"/>
          <a:lstStyle/>
          <a:p>
            <a:pPr marL="0" indent="0" algn="ctr">
              <a:buNone/>
            </a:pPr>
            <a:r>
              <a:rPr lang="en-US" sz="750" b="1" kern="0" spc="50" dirty="0">
                <a:solidFill>
                  <a:srgbClr val="1B3A5C"/>
                </a:solidFill>
                <a:latin typeface="Calibri" pitchFamily="34" charset="0"/>
                <a:ea typeface="Calibri" pitchFamily="34" charset="-122"/>
                <a:cs typeface="Calibri" pitchFamily="34" charset="-120"/>
              </a:rPr>
              <a:t>SUPPLEMENTARY</a:t>
            </a:r>
            <a:endParaRPr lang="en-US" sz="750" dirty="0"/>
          </a:p>
        </p:txBody>
      </p:sp>
      <p:sp>
        <p:nvSpPr>
          <p:cNvPr id="18" name="Text 3">
            <a:extLst>
              <a:ext uri="{FF2B5EF4-FFF2-40B4-BE49-F238E27FC236}">
                <a16:creationId xmlns:a16="http://schemas.microsoft.com/office/drawing/2014/main" id="{C2439378-55AC-AAA5-F8AF-AE0A71879A59}"/>
              </a:ext>
            </a:extLst>
          </p:cNvPr>
          <p:cNvSpPr/>
          <p:nvPr/>
        </p:nvSpPr>
        <p:spPr>
          <a:xfrm>
            <a:off x="411480" y="0"/>
            <a:ext cx="6583680" cy="713232"/>
          </a:xfrm>
          <a:prstGeom prst="rect">
            <a:avLst/>
          </a:prstGeom>
          <a:noFill/>
          <a:ln/>
        </p:spPr>
        <p:txBody>
          <a:bodyPr wrap="square"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MODEL SELECTION EVIDENCE  ·  FACE DETECTION FIGURES</a:t>
            </a:r>
            <a:endParaRPr lang="en-US" sz="1400" dirty="0"/>
          </a:p>
        </p:txBody>
      </p:sp>
      <p:grpSp>
        <p:nvGrpSpPr>
          <p:cNvPr id="23" name="Group 22">
            <a:extLst>
              <a:ext uri="{FF2B5EF4-FFF2-40B4-BE49-F238E27FC236}">
                <a16:creationId xmlns:a16="http://schemas.microsoft.com/office/drawing/2014/main" id="{62D87812-DB86-FD5C-9D09-7E61AF82BE66}"/>
              </a:ext>
            </a:extLst>
          </p:cNvPr>
          <p:cNvGrpSpPr/>
          <p:nvPr/>
        </p:nvGrpSpPr>
        <p:grpSpPr>
          <a:xfrm>
            <a:off x="2618082" y="951750"/>
            <a:ext cx="3907836" cy="4185130"/>
            <a:chOff x="2618082" y="951750"/>
            <a:chExt cx="3907836" cy="4185130"/>
          </a:xfrm>
        </p:grpSpPr>
        <p:grpSp>
          <p:nvGrpSpPr>
            <p:cNvPr id="22" name="Group 21">
              <a:extLst>
                <a:ext uri="{FF2B5EF4-FFF2-40B4-BE49-F238E27FC236}">
                  <a16:creationId xmlns:a16="http://schemas.microsoft.com/office/drawing/2014/main" id="{609BE9F1-E61D-C235-F328-BC61B433D1C9}"/>
                </a:ext>
              </a:extLst>
            </p:cNvPr>
            <p:cNvGrpSpPr/>
            <p:nvPr/>
          </p:nvGrpSpPr>
          <p:grpSpPr>
            <a:xfrm>
              <a:off x="2618082" y="951750"/>
              <a:ext cx="3907836" cy="3240000"/>
              <a:chOff x="2404653" y="890010"/>
              <a:chExt cx="3907836" cy="3240000"/>
            </a:xfrm>
          </p:grpSpPr>
          <p:pic>
            <p:nvPicPr>
              <p:cNvPr id="2" name="Picture 1" descr="pr_yolov12.png"/>
              <p:cNvPicPr>
                <a:picLocks noChangeAspect="1"/>
              </p:cNvPicPr>
              <p:nvPr/>
            </p:nvPicPr>
            <p:blipFill>
              <a:blip r:embed="rId2"/>
              <a:stretch>
                <a:fillRect/>
              </a:stretch>
            </p:blipFill>
            <p:spPr>
              <a:xfrm>
                <a:off x="2404653" y="890010"/>
                <a:ext cx="1950612" cy="1620000"/>
              </a:xfrm>
              <a:prstGeom prst="rect">
                <a:avLst/>
              </a:prstGeom>
              <a:ln>
                <a:noFill/>
              </a:ln>
            </p:spPr>
          </p:pic>
          <p:pic>
            <p:nvPicPr>
              <p:cNvPr id="4" name="Picture 3" descr="pr_scrfd.png"/>
              <p:cNvPicPr>
                <a:picLocks noChangeAspect="1"/>
              </p:cNvPicPr>
              <p:nvPr/>
            </p:nvPicPr>
            <p:blipFill>
              <a:blip r:embed="rId3"/>
              <a:stretch>
                <a:fillRect/>
              </a:stretch>
            </p:blipFill>
            <p:spPr>
              <a:xfrm>
                <a:off x="4361877" y="890010"/>
                <a:ext cx="1950612" cy="1620000"/>
              </a:xfrm>
              <a:prstGeom prst="rect">
                <a:avLst/>
              </a:prstGeom>
              <a:ln>
                <a:noFill/>
              </a:ln>
            </p:spPr>
          </p:pic>
          <p:pic>
            <p:nvPicPr>
              <p:cNvPr id="6" name="Picture 5" descr="pr_retinaface.png"/>
              <p:cNvPicPr>
                <a:picLocks noChangeAspect="1"/>
              </p:cNvPicPr>
              <p:nvPr/>
            </p:nvPicPr>
            <p:blipFill>
              <a:blip r:embed="rId4"/>
              <a:stretch>
                <a:fillRect/>
              </a:stretch>
            </p:blipFill>
            <p:spPr>
              <a:xfrm>
                <a:off x="2411265" y="2510010"/>
                <a:ext cx="1944000" cy="1620000"/>
              </a:xfrm>
              <a:prstGeom prst="rect">
                <a:avLst/>
              </a:prstGeom>
              <a:ln>
                <a:noFill/>
              </a:ln>
            </p:spPr>
          </p:pic>
          <p:pic>
            <p:nvPicPr>
              <p:cNvPr id="8" name="Picture 7" descr="pr_mediapipe.png"/>
              <p:cNvPicPr>
                <a:picLocks noChangeAspect="1"/>
              </p:cNvPicPr>
              <p:nvPr/>
            </p:nvPicPr>
            <p:blipFill>
              <a:blip r:embed="rId5"/>
              <a:stretch>
                <a:fillRect/>
              </a:stretch>
            </p:blipFill>
            <p:spPr>
              <a:xfrm>
                <a:off x="4355265" y="2510010"/>
                <a:ext cx="1950612" cy="1620000"/>
              </a:xfrm>
              <a:prstGeom prst="rect">
                <a:avLst/>
              </a:prstGeom>
              <a:ln>
                <a:noFill/>
              </a:ln>
            </p:spPr>
          </p:pic>
        </p:grpSp>
        <p:sp>
          <p:nvSpPr>
            <p:cNvPr id="20" name="TextBox 19">
              <a:extLst>
                <a:ext uri="{FF2B5EF4-FFF2-40B4-BE49-F238E27FC236}">
                  <a16:creationId xmlns:a16="http://schemas.microsoft.com/office/drawing/2014/main" id="{CC959513-4941-E086-CBFD-599C6F7F02FB}"/>
                </a:ext>
              </a:extLst>
            </p:cNvPr>
            <p:cNvSpPr txBox="1"/>
            <p:nvPr/>
          </p:nvSpPr>
          <p:spPr>
            <a:xfrm>
              <a:off x="2624694" y="4182773"/>
              <a:ext cx="3894612" cy="954107"/>
            </a:xfrm>
            <a:prstGeom prst="rect">
              <a:avLst/>
            </a:prstGeom>
            <a:noFill/>
          </p:spPr>
          <p:txBody>
            <a:bodyPr wrap="square">
              <a:spAutoFit/>
            </a:bodyPr>
            <a:lstStyle/>
            <a:p>
              <a:r>
                <a:rPr lang="en-US" sz="800" dirty="0"/>
                <a:t>Figure 8: Precision‐recall curves at </a:t>
              </a:r>
              <a:r>
                <a:rPr lang="en-US" sz="800" dirty="0" err="1"/>
                <a:t>IoU</a:t>
              </a:r>
              <a:r>
                <a:rPr lang="en-US" sz="800" dirty="0"/>
                <a:t>= 0.5 on the WIDER Face validation set for all four evaluated face detection models. </a:t>
              </a:r>
              <a:r>
                <a:rPr lang="en-US" sz="800" dirty="0" err="1"/>
                <a:t>RetinaFace</a:t>
              </a:r>
              <a:r>
                <a:rPr lang="en-US" sz="800" dirty="0"/>
                <a:t> and </a:t>
              </a:r>
              <a:r>
                <a:rPr lang="en-US" sz="800" dirty="0" err="1"/>
                <a:t>MediaPipe</a:t>
              </a:r>
              <a:r>
                <a:rPr lang="en-US" sz="800" dirty="0"/>
                <a:t> both exhibit a recall ceiling below 0.35 at near‐perfect precision, indicating systematic detection suppression. SCRFD maintains high precision to approximately 0.6 recall before degrading. YOLOv12l‐Face achieves the widest high‐precision operating range, sustaining near‐perfect precision to approximately 0.8 recall, consistent with its superior AP@0.5 and small‐face detection performance.</a:t>
              </a:r>
              <a:endParaRPr lang="en-MT" sz="800" dirty="0"/>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a:extLst>
            <a:ext uri="{FF2B5EF4-FFF2-40B4-BE49-F238E27FC236}">
              <a16:creationId xmlns:a16="http://schemas.microsoft.com/office/drawing/2014/main" id="{CAE0E960-5741-8071-005D-0154B8D7FC2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A2F6965-72C9-2272-603C-84A0F36A29DB}"/>
              </a:ext>
            </a:extLst>
          </p:cNvPr>
          <p:cNvSpPr/>
          <p:nvPr/>
        </p:nvSpPr>
        <p:spPr>
          <a:xfrm>
            <a:off x="0" y="0"/>
            <a:ext cx="9144000" cy="713232"/>
          </a:xfrm>
          <a:prstGeom prst="rect">
            <a:avLst/>
          </a:prstGeom>
          <a:solidFill>
            <a:srgbClr val="2A1A5E"/>
          </a:solidFill>
          <a:ln w="12700">
            <a:solidFill>
              <a:srgbClr val="2A1A5E"/>
            </a:solidFill>
            <a:prstDash val="solid"/>
          </a:ln>
        </p:spPr>
        <p:txBody>
          <a:bodyPr/>
          <a:lstStyle/>
          <a:p>
            <a:endParaRPr lang="en-MT"/>
          </a:p>
        </p:txBody>
      </p:sp>
      <p:sp>
        <p:nvSpPr>
          <p:cNvPr id="3" name="Shape 1">
            <a:extLst>
              <a:ext uri="{FF2B5EF4-FFF2-40B4-BE49-F238E27FC236}">
                <a16:creationId xmlns:a16="http://schemas.microsoft.com/office/drawing/2014/main" id="{92A9450D-531F-A43A-9364-206255E66969}"/>
              </a:ext>
            </a:extLst>
          </p:cNvPr>
          <p:cNvSpPr/>
          <p:nvPr/>
        </p:nvSpPr>
        <p:spPr>
          <a:xfrm>
            <a:off x="7132320" y="128016"/>
            <a:ext cx="1737360" cy="457200"/>
          </a:xfrm>
          <a:prstGeom prst="rect">
            <a:avLst/>
          </a:prstGeom>
          <a:solidFill>
            <a:srgbClr val="C9A84C"/>
          </a:solidFill>
          <a:ln w="12700">
            <a:solidFill>
              <a:srgbClr val="C9A84C"/>
            </a:solidFill>
            <a:prstDash val="solid"/>
          </a:ln>
        </p:spPr>
        <p:txBody>
          <a:bodyPr/>
          <a:lstStyle/>
          <a:p>
            <a:endParaRPr lang="en-MT"/>
          </a:p>
        </p:txBody>
      </p:sp>
      <p:sp>
        <p:nvSpPr>
          <p:cNvPr id="4" name="Text 2">
            <a:extLst>
              <a:ext uri="{FF2B5EF4-FFF2-40B4-BE49-F238E27FC236}">
                <a16:creationId xmlns:a16="http://schemas.microsoft.com/office/drawing/2014/main" id="{A288984B-FA9F-34CA-BF63-A46ED311C463}"/>
              </a:ext>
            </a:extLst>
          </p:cNvPr>
          <p:cNvSpPr/>
          <p:nvPr/>
        </p:nvSpPr>
        <p:spPr>
          <a:xfrm>
            <a:off x="7132320" y="128016"/>
            <a:ext cx="1737360" cy="457200"/>
          </a:xfrm>
          <a:prstGeom prst="rect">
            <a:avLst/>
          </a:prstGeom>
          <a:noFill/>
          <a:ln/>
        </p:spPr>
        <p:txBody>
          <a:bodyPr wrap="square" rtlCol="0" anchor="ctr"/>
          <a:lstStyle/>
          <a:p>
            <a:pPr marL="0" indent="0" algn="ctr">
              <a:buNone/>
            </a:pPr>
            <a:r>
              <a:rPr lang="en-US" sz="750" b="1" kern="0" spc="50" dirty="0">
                <a:solidFill>
                  <a:srgbClr val="1B3A5C"/>
                </a:solidFill>
                <a:latin typeface="Calibri" pitchFamily="34" charset="0"/>
                <a:ea typeface="Calibri" pitchFamily="34" charset="-122"/>
                <a:cs typeface="Calibri" pitchFamily="34" charset="-120"/>
              </a:rPr>
              <a:t>SUPPLEMENTARY</a:t>
            </a:r>
            <a:endParaRPr lang="en-US" sz="750" dirty="0"/>
          </a:p>
        </p:txBody>
      </p:sp>
      <p:sp>
        <p:nvSpPr>
          <p:cNvPr id="5" name="Text 3">
            <a:extLst>
              <a:ext uri="{FF2B5EF4-FFF2-40B4-BE49-F238E27FC236}">
                <a16:creationId xmlns:a16="http://schemas.microsoft.com/office/drawing/2014/main" id="{5178C160-2F77-8968-B4C6-2CAF9F87D353}"/>
              </a:ext>
            </a:extLst>
          </p:cNvPr>
          <p:cNvSpPr/>
          <p:nvPr/>
        </p:nvSpPr>
        <p:spPr>
          <a:xfrm>
            <a:off x="411480" y="0"/>
            <a:ext cx="6583680" cy="713232"/>
          </a:xfrm>
          <a:prstGeom prst="rect">
            <a:avLst/>
          </a:prstGeom>
          <a:noFill/>
          <a:ln/>
        </p:spPr>
        <p:txBody>
          <a:bodyPr wrap="square"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MODEL SELECTION EVIDENCE  ·  GENERATIVE MODEL (1/2)</a:t>
            </a:r>
            <a:endParaRPr lang="en-US" sz="1400" dirty="0"/>
          </a:p>
        </p:txBody>
      </p:sp>
      <p:sp>
        <p:nvSpPr>
          <p:cNvPr id="6" name="Text 4">
            <a:extLst>
              <a:ext uri="{FF2B5EF4-FFF2-40B4-BE49-F238E27FC236}">
                <a16:creationId xmlns:a16="http://schemas.microsoft.com/office/drawing/2014/main" id="{486BC5C1-BD30-BD4C-57B9-B803119703CC}"/>
              </a:ext>
            </a:extLst>
          </p:cNvPr>
          <p:cNvSpPr/>
          <p:nvPr/>
        </p:nvSpPr>
        <p:spPr>
          <a:xfrm>
            <a:off x="274320" y="822960"/>
            <a:ext cx="8595360" cy="237744"/>
          </a:xfrm>
          <a:prstGeom prst="rect">
            <a:avLst/>
          </a:prstGeom>
          <a:noFill/>
          <a:ln/>
        </p:spPr>
        <p:txBody>
          <a:bodyPr wrap="square" rtlCol="0" anchor="ctr"/>
          <a:lstStyle/>
          <a:p>
            <a:pPr marL="0" indent="0">
              <a:buNone/>
            </a:pPr>
            <a:r>
              <a:rPr lang="en-US" sz="950" b="1" dirty="0">
                <a:solidFill>
                  <a:srgbClr val="2A1A5E"/>
                </a:solidFill>
                <a:latin typeface="Calibri" pitchFamily="34" charset="0"/>
                <a:ea typeface="Calibri" pitchFamily="34" charset="-122"/>
                <a:cs typeface="Calibri" pitchFamily="34" charset="-120"/>
              </a:rPr>
              <a:t>Two selection criteria applied in sequence:  (1) Training lineage traceable to Re-LAION-5B  ·  (2) Throughput sufficient for 200,000 images within compute budget</a:t>
            </a:r>
            <a:endParaRPr lang="en-US" sz="950" dirty="0"/>
          </a:p>
        </p:txBody>
      </p:sp>
      <p:sp>
        <p:nvSpPr>
          <p:cNvPr id="7" name="Text 5">
            <a:extLst>
              <a:ext uri="{FF2B5EF4-FFF2-40B4-BE49-F238E27FC236}">
                <a16:creationId xmlns:a16="http://schemas.microsoft.com/office/drawing/2014/main" id="{07919CBF-A560-392F-0DB4-EC498EFFC582}"/>
              </a:ext>
            </a:extLst>
          </p:cNvPr>
          <p:cNvSpPr/>
          <p:nvPr/>
        </p:nvSpPr>
        <p:spPr>
          <a:xfrm>
            <a:off x="274320" y="1115568"/>
            <a:ext cx="4114800" cy="201168"/>
          </a:xfrm>
          <a:prstGeom prst="rect">
            <a:avLst/>
          </a:prstGeom>
          <a:noFill/>
          <a:ln/>
        </p:spPr>
        <p:txBody>
          <a:bodyPr wrap="square" rtlCol="0" anchor="ctr"/>
          <a:lstStyle/>
          <a:p>
            <a:pPr marL="0" indent="0">
              <a:buNone/>
            </a:pPr>
            <a:r>
              <a:rPr lang="en-US" sz="950" b="1" dirty="0">
                <a:solidFill>
                  <a:srgbClr val="2A1A5E"/>
                </a:solidFill>
                <a:latin typeface="Calibri" pitchFamily="34" charset="0"/>
                <a:cs typeface="Calibri" pitchFamily="34" charset="-120"/>
              </a:rPr>
              <a:t>Step 1 — Traceability Filter</a:t>
            </a:r>
          </a:p>
        </p:txBody>
      </p:sp>
      <p:graphicFrame>
        <p:nvGraphicFramePr>
          <p:cNvPr id="18" name="Table 0">
            <a:extLst>
              <a:ext uri="{FF2B5EF4-FFF2-40B4-BE49-F238E27FC236}">
                <a16:creationId xmlns:a16="http://schemas.microsoft.com/office/drawing/2014/main" id="{1B0D30B4-C5AF-E3E5-08FC-32AF047798A5}"/>
              </a:ext>
            </a:extLst>
          </p:cNvPr>
          <p:cNvGraphicFramePr>
            <a:graphicFrameLocks noGrp="1"/>
          </p:cNvGraphicFramePr>
          <p:nvPr/>
        </p:nvGraphicFramePr>
        <p:xfrm>
          <a:off x="274320" y="1344168"/>
          <a:ext cx="8595360" cy="2432304"/>
        </p:xfrm>
        <a:graphic>
          <a:graphicData uri="http://schemas.openxmlformats.org/drawingml/2006/table">
            <a:tbl>
              <a:tblPr/>
              <a:tblGrid>
                <a:gridCol w="237744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tblGrid>
              <a:tr h="347472">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Model</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Training Corpus</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Traceable?</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extLst>
                  <a:ext uri="{0D108BD9-81ED-4DB2-BD59-A6C34878D82A}">
                    <a16:rowId xmlns:a16="http://schemas.microsoft.com/office/drawing/2014/main" val="10000"/>
                  </a:ext>
                </a:extLst>
              </a:tr>
              <a:tr h="347472">
                <a:tc>
                  <a:txBody>
                    <a:bodyPr/>
                    <a:lstStyle/>
                    <a:p>
                      <a:pPr marL="0" indent="0" algn="l">
                        <a:buNone/>
                      </a:pPr>
                      <a:r>
                        <a:rPr lang="en-US" sz="900" b="1" dirty="0">
                          <a:solidFill>
                            <a:srgbClr val="0D8A5E"/>
                          </a:solidFill>
                          <a:latin typeface="Calibri" pitchFamily="34" charset="0"/>
                          <a:ea typeface="Calibri" pitchFamily="34" charset="-122"/>
                          <a:cs typeface="Calibri" pitchFamily="34" charset="-120"/>
                        </a:rPr>
                        <a:t>SDv1.5</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l">
                        <a:buNone/>
                      </a:pPr>
                      <a:r>
                        <a:rPr lang="en-US" sz="900" b="1" dirty="0">
                          <a:solidFill>
                            <a:srgbClr val="0D8A5E"/>
                          </a:solidFill>
                          <a:latin typeface="Calibri" pitchFamily="34" charset="0"/>
                          <a:ea typeface="Calibri" pitchFamily="34" charset="-122"/>
                          <a:cs typeface="Calibri" pitchFamily="34" charset="-120"/>
                        </a:rPr>
                        <a:t>LAION-Aesthetics v2 5+</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Yes ✓</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extLst>
                  <a:ext uri="{0D108BD9-81ED-4DB2-BD59-A6C34878D82A}">
                    <a16:rowId xmlns:a16="http://schemas.microsoft.com/office/drawing/2014/main" val="10001"/>
                  </a:ext>
                </a:extLst>
              </a:tr>
              <a:tr h="347472">
                <a:tc>
                  <a:txBody>
                    <a:bodyPr/>
                    <a:lstStyle/>
                    <a:p>
                      <a:pPr marL="0" indent="0" algn="l">
                        <a:buNone/>
                      </a:pPr>
                      <a:r>
                        <a:rPr lang="en-US" sz="900" b="1" dirty="0">
                          <a:solidFill>
                            <a:srgbClr val="0D8A5E"/>
                          </a:solidFill>
                          <a:latin typeface="Calibri" pitchFamily="34" charset="0"/>
                          <a:ea typeface="Calibri" pitchFamily="34" charset="-122"/>
                          <a:cs typeface="Calibri" pitchFamily="34" charset="-120"/>
                        </a:rPr>
                        <a:t>SDv1.5 + LCM-LoRA</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l">
                        <a:buNone/>
                      </a:pPr>
                      <a:r>
                        <a:rPr lang="en-US" sz="900" b="1" dirty="0">
                          <a:solidFill>
                            <a:srgbClr val="0D8A5E"/>
                          </a:solidFill>
                          <a:latin typeface="Calibri" pitchFamily="34" charset="0"/>
                          <a:ea typeface="Calibri" pitchFamily="34" charset="-122"/>
                          <a:cs typeface="Calibri" pitchFamily="34" charset="-120"/>
                        </a:rPr>
                        <a:t>LAION-Aesthetics v2 5+  (same)</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Yes ✓</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extLst>
                  <a:ext uri="{0D108BD9-81ED-4DB2-BD59-A6C34878D82A}">
                    <a16:rowId xmlns:a16="http://schemas.microsoft.com/office/drawing/2014/main" val="10002"/>
                  </a:ext>
                </a:extLst>
              </a:tr>
              <a:tr h="347472">
                <a:tc>
                  <a:txBody>
                    <a:bodyPr/>
                    <a:lstStyle/>
                    <a:p>
                      <a:pPr marL="0" indent="0" algn="l">
                        <a:buNone/>
                      </a:pPr>
                      <a:r>
                        <a:rPr lang="en-US" sz="900" b="1" dirty="0">
                          <a:solidFill>
                            <a:srgbClr val="0D8A5E"/>
                          </a:solidFill>
                          <a:latin typeface="Calibri" pitchFamily="34" charset="0"/>
                          <a:ea typeface="Calibri" pitchFamily="34" charset="-122"/>
                          <a:cs typeface="Calibri" pitchFamily="34" charset="-120"/>
                        </a:rPr>
                        <a:t>SDv1.2</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l">
                        <a:buNone/>
                      </a:pPr>
                      <a:r>
                        <a:rPr lang="en-US" sz="900" b="1" dirty="0">
                          <a:solidFill>
                            <a:srgbClr val="0D8A5E"/>
                          </a:solidFill>
                          <a:latin typeface="Calibri" pitchFamily="34" charset="0"/>
                          <a:ea typeface="Calibri" pitchFamily="34" charset="-122"/>
                          <a:cs typeface="Calibri" pitchFamily="34" charset="-120"/>
                        </a:rPr>
                        <a:t>LAION-Aesthetics v2 5+  (same)</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Yes ✓</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extLst>
                  <a:ext uri="{0D108BD9-81ED-4DB2-BD59-A6C34878D82A}">
                    <a16:rowId xmlns:a16="http://schemas.microsoft.com/office/drawing/2014/main" val="10003"/>
                  </a:ext>
                </a:extLst>
              </a:tr>
              <a:tr h="347472">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SDXL</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Proprietary — undisclosed</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b="1" dirty="0">
                          <a:solidFill>
                            <a:srgbClr val="AA2200"/>
                          </a:solidFill>
                          <a:latin typeface="Calibri" pitchFamily="34" charset="0"/>
                          <a:ea typeface="Calibri" pitchFamily="34" charset="-122"/>
                          <a:cs typeface="Calibri" pitchFamily="34" charset="-120"/>
                        </a:rPr>
                        <a:t>No ✗</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E0D0"/>
                    </a:solidFill>
                  </a:tcPr>
                </a:tc>
                <a:extLst>
                  <a:ext uri="{0D108BD9-81ED-4DB2-BD59-A6C34878D82A}">
                    <a16:rowId xmlns:a16="http://schemas.microsoft.com/office/drawing/2014/main" val="10004"/>
                  </a:ext>
                </a:extLst>
              </a:tr>
              <a:tr h="347472">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Stable Diffusion 3</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Proprietary — undisclosed</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AA2200"/>
                          </a:solidFill>
                          <a:latin typeface="Calibri" pitchFamily="34" charset="0"/>
                          <a:ea typeface="Calibri" pitchFamily="34" charset="-122"/>
                          <a:cs typeface="Calibri" pitchFamily="34" charset="-120"/>
                        </a:rPr>
                        <a:t>No ✗</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E0D0"/>
                    </a:solidFill>
                  </a:tcPr>
                </a:tc>
                <a:extLst>
                  <a:ext uri="{0D108BD9-81ED-4DB2-BD59-A6C34878D82A}">
                    <a16:rowId xmlns:a16="http://schemas.microsoft.com/office/drawing/2014/main" val="10005"/>
                  </a:ext>
                </a:extLst>
              </a:tr>
              <a:tr h="347472">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SSD-1B / PixArt / Segmind Vega</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Various — not Re-LAION-5B</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b="1" dirty="0">
                          <a:solidFill>
                            <a:srgbClr val="AA2200"/>
                          </a:solidFill>
                          <a:latin typeface="Calibri" pitchFamily="34" charset="0"/>
                          <a:ea typeface="Calibri" pitchFamily="34" charset="-122"/>
                          <a:cs typeface="Calibri" pitchFamily="34" charset="-120"/>
                        </a:rPr>
                        <a:t>No ✗</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E0D0"/>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8064637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7">
    <p:bg>
      <p:bgPr>
        <a:solidFill>
          <a:srgbClr val="F7F4EE"/>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2A1A5E"/>
          </a:solidFill>
          <a:ln w="12700">
            <a:solidFill>
              <a:srgbClr val="2A1A5E"/>
            </a:solidFill>
            <a:prstDash val="solid"/>
          </a:ln>
        </p:spPr>
        <p:txBody>
          <a:bodyPr/>
          <a:lstStyle/>
          <a:p>
            <a:endParaRPr lang="en-MT"/>
          </a:p>
        </p:txBody>
      </p:sp>
      <p:sp>
        <p:nvSpPr>
          <p:cNvPr id="3" name="Shape 1"/>
          <p:cNvSpPr/>
          <p:nvPr/>
        </p:nvSpPr>
        <p:spPr>
          <a:xfrm>
            <a:off x="7132320" y="128016"/>
            <a:ext cx="1737360" cy="457200"/>
          </a:xfrm>
          <a:prstGeom prst="rect">
            <a:avLst/>
          </a:prstGeom>
          <a:solidFill>
            <a:srgbClr val="C9A84C"/>
          </a:solidFill>
          <a:ln w="12700">
            <a:solidFill>
              <a:srgbClr val="C9A84C"/>
            </a:solidFill>
            <a:prstDash val="solid"/>
          </a:ln>
        </p:spPr>
        <p:txBody>
          <a:bodyPr/>
          <a:lstStyle/>
          <a:p>
            <a:endParaRPr lang="en-MT"/>
          </a:p>
        </p:txBody>
      </p:sp>
      <p:sp>
        <p:nvSpPr>
          <p:cNvPr id="4" name="Text 2"/>
          <p:cNvSpPr/>
          <p:nvPr/>
        </p:nvSpPr>
        <p:spPr>
          <a:xfrm>
            <a:off x="7132320" y="128016"/>
            <a:ext cx="1737360" cy="457200"/>
          </a:xfrm>
          <a:prstGeom prst="rect">
            <a:avLst/>
          </a:prstGeom>
          <a:noFill/>
          <a:ln/>
        </p:spPr>
        <p:txBody>
          <a:bodyPr wrap="square" rtlCol="0" anchor="ctr"/>
          <a:lstStyle/>
          <a:p>
            <a:pPr marL="0" indent="0" algn="ctr">
              <a:buNone/>
            </a:pPr>
            <a:r>
              <a:rPr lang="en-US" sz="750" b="1" kern="0" spc="50" dirty="0">
                <a:solidFill>
                  <a:srgbClr val="1B3A5C"/>
                </a:solidFill>
                <a:latin typeface="Calibri" pitchFamily="34" charset="0"/>
                <a:ea typeface="Calibri" pitchFamily="34" charset="-122"/>
                <a:cs typeface="Calibri" pitchFamily="34" charset="-120"/>
              </a:rPr>
              <a:t>SUPPLEMENTARY</a:t>
            </a:r>
            <a:endParaRPr lang="en-US" sz="750" dirty="0"/>
          </a:p>
        </p:txBody>
      </p:sp>
      <p:sp>
        <p:nvSpPr>
          <p:cNvPr id="5" name="Text 3"/>
          <p:cNvSpPr/>
          <p:nvPr/>
        </p:nvSpPr>
        <p:spPr>
          <a:xfrm>
            <a:off x="411480" y="0"/>
            <a:ext cx="6583680" cy="713232"/>
          </a:xfrm>
          <a:prstGeom prst="rect">
            <a:avLst/>
          </a:prstGeom>
          <a:noFill/>
          <a:ln/>
        </p:spPr>
        <p:txBody>
          <a:bodyPr wrap="square"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MODEL SELECTION EVIDENCE  ·  GENERATIVE MODEL (2/2)</a:t>
            </a:r>
            <a:endParaRPr lang="en-US" sz="1400" dirty="0"/>
          </a:p>
        </p:txBody>
      </p:sp>
      <p:sp>
        <p:nvSpPr>
          <p:cNvPr id="6" name="Text 4"/>
          <p:cNvSpPr/>
          <p:nvPr/>
        </p:nvSpPr>
        <p:spPr>
          <a:xfrm>
            <a:off x="274320" y="822960"/>
            <a:ext cx="8595360" cy="237744"/>
          </a:xfrm>
          <a:prstGeom prst="rect">
            <a:avLst/>
          </a:prstGeom>
          <a:noFill/>
          <a:ln/>
        </p:spPr>
        <p:txBody>
          <a:bodyPr wrap="square" rtlCol="0" anchor="ctr"/>
          <a:lstStyle/>
          <a:p>
            <a:pPr marL="0" indent="0">
              <a:buNone/>
            </a:pPr>
            <a:r>
              <a:rPr lang="en-US" sz="950" b="1" dirty="0">
                <a:solidFill>
                  <a:srgbClr val="2A1A5E"/>
                </a:solidFill>
                <a:latin typeface="Calibri" pitchFamily="34" charset="0"/>
                <a:ea typeface="Calibri" pitchFamily="34" charset="-122"/>
                <a:cs typeface="Calibri" pitchFamily="34" charset="-120"/>
              </a:rPr>
              <a:t>Two selection criteria applied in sequence:  (1) Training lineage traceable to Re-LAION-5B  ·  (2) Throughput sufficient for 200,000 images within compute budget</a:t>
            </a:r>
            <a:endParaRPr lang="en-US" sz="950" dirty="0"/>
          </a:p>
        </p:txBody>
      </p:sp>
      <p:sp>
        <p:nvSpPr>
          <p:cNvPr id="9" name="Text 6"/>
          <p:cNvSpPr/>
          <p:nvPr/>
        </p:nvSpPr>
        <p:spPr>
          <a:xfrm>
            <a:off x="277495" y="1081786"/>
            <a:ext cx="8595360" cy="237744"/>
          </a:xfrm>
          <a:prstGeom prst="rect">
            <a:avLst/>
          </a:prstGeom>
          <a:noFill/>
          <a:ln/>
        </p:spPr>
        <p:txBody>
          <a:bodyPr wrap="square" rtlCol="0" anchor="ctr"/>
          <a:lstStyle/>
          <a:p>
            <a:pPr marL="0" indent="0">
              <a:buNone/>
            </a:pPr>
            <a:r>
              <a:rPr lang="en-US" sz="950" b="1" dirty="0">
                <a:solidFill>
                  <a:srgbClr val="2A1A5E"/>
                </a:solidFill>
                <a:latin typeface="Calibri" pitchFamily="34" charset="0"/>
                <a:ea typeface="Calibri" pitchFamily="34" charset="-122"/>
                <a:cs typeface="Calibri" pitchFamily="34" charset="-120"/>
              </a:rPr>
              <a:t>Step 2 — Throughput Evaluation  (Table 3.2)  ·  3 qualifying configurations  ·  NVIDIA RTX 3060 Ti  ·  512×512 resolution</a:t>
            </a:r>
            <a:endParaRPr lang="en-US" sz="950" dirty="0"/>
          </a:p>
        </p:txBody>
      </p:sp>
      <p:graphicFrame>
        <p:nvGraphicFramePr>
          <p:cNvPr id="35" name="Table 1"/>
          <p:cNvGraphicFramePr>
            <a:graphicFrameLocks noGrp="1"/>
          </p:cNvGraphicFramePr>
          <p:nvPr>
            <p:extLst>
              <p:ext uri="{D42A27DB-BD31-4B8C-83A1-F6EECF244321}">
                <p14:modId xmlns:p14="http://schemas.microsoft.com/office/powerpoint/2010/main" val="1331662357"/>
              </p:ext>
            </p:extLst>
          </p:nvPr>
        </p:nvGraphicFramePr>
        <p:xfrm>
          <a:off x="277495" y="1346962"/>
          <a:ext cx="8595360" cy="1536192"/>
        </p:xfrm>
        <a:graphic>
          <a:graphicData uri="http://schemas.openxmlformats.org/drawingml/2006/table">
            <a:tbl>
              <a:tblPr/>
              <a:tblGrid>
                <a:gridCol w="32004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tblGrid>
              <a:tr h="38404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Model</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Time (s/image)</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Projected 200K time</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Feasible?</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extLst>
                  <a:ext uri="{0D108BD9-81ED-4DB2-BD59-A6C34878D82A}">
                    <a16:rowId xmlns:a16="http://schemas.microsoft.com/office/drawing/2014/main" val="10000"/>
                  </a:ext>
                </a:extLst>
              </a:tr>
              <a:tr h="384048">
                <a:tc>
                  <a:txBody>
                    <a:bodyPr/>
                    <a:lstStyle/>
                    <a:p>
                      <a:pPr marL="0" indent="0" algn="l">
                        <a:buNone/>
                      </a:pPr>
                      <a:r>
                        <a:rPr lang="en-US" sz="900" b="1" dirty="0">
                          <a:solidFill>
                            <a:srgbClr val="0D8A5E"/>
                          </a:solidFill>
                          <a:latin typeface="Calibri" pitchFamily="34" charset="0"/>
                          <a:ea typeface="Calibri" pitchFamily="34" charset="-122"/>
                          <a:cs typeface="Calibri" pitchFamily="34" charset="-120"/>
                        </a:rPr>
                        <a:t>SDv1.5 + LCM-LoRA  ★</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1.5</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~83 hours</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Yes ✓</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extLst>
                  <a:ext uri="{0D108BD9-81ED-4DB2-BD59-A6C34878D82A}">
                    <a16:rowId xmlns:a16="http://schemas.microsoft.com/office/drawing/2014/main" val="10001"/>
                  </a:ext>
                </a:extLst>
              </a:tr>
              <a:tr h="384048">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SDv1.5 standard</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5.6</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~311 hours</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B84A0A"/>
                          </a:solidFill>
                          <a:latin typeface="Calibri" pitchFamily="34" charset="0"/>
                          <a:ea typeface="Calibri" pitchFamily="34" charset="-122"/>
                          <a:cs typeface="Calibri" pitchFamily="34" charset="-120"/>
                        </a:rPr>
                        <a:t>Borderline</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F0E0"/>
                    </a:solidFill>
                  </a:tcPr>
                </a:tc>
                <a:extLst>
                  <a:ext uri="{0D108BD9-81ED-4DB2-BD59-A6C34878D82A}">
                    <a16:rowId xmlns:a16="http://schemas.microsoft.com/office/drawing/2014/main" val="10002"/>
                  </a:ext>
                </a:extLst>
              </a:tr>
              <a:tr h="384048">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SDv1.2</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9.1</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~505 hours</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b="1" dirty="0">
                          <a:solidFill>
                            <a:srgbClr val="AA2200"/>
                          </a:solidFill>
                          <a:latin typeface="Calibri" pitchFamily="34" charset="0"/>
                          <a:ea typeface="Calibri" pitchFamily="34" charset="-122"/>
                          <a:cs typeface="Calibri" pitchFamily="34" charset="-120"/>
                        </a:rPr>
                        <a:t>No ✗</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E0D0"/>
                    </a:solidFill>
                  </a:tcPr>
                </a:tc>
                <a:extLst>
                  <a:ext uri="{0D108BD9-81ED-4DB2-BD59-A6C34878D82A}">
                    <a16:rowId xmlns:a16="http://schemas.microsoft.com/office/drawing/2014/main" val="10003"/>
                  </a:ext>
                </a:extLst>
              </a:tr>
            </a:tbl>
          </a:graphicData>
        </a:graphic>
      </p:graphicFrame>
      <p:grpSp>
        <p:nvGrpSpPr>
          <p:cNvPr id="8" name="Group 7">
            <a:extLst>
              <a:ext uri="{FF2B5EF4-FFF2-40B4-BE49-F238E27FC236}">
                <a16:creationId xmlns:a16="http://schemas.microsoft.com/office/drawing/2014/main" id="{7CACD66B-EFC5-D08F-180B-917E2901014E}"/>
              </a:ext>
            </a:extLst>
          </p:cNvPr>
          <p:cNvGrpSpPr/>
          <p:nvPr/>
        </p:nvGrpSpPr>
        <p:grpSpPr>
          <a:xfrm>
            <a:off x="274320" y="2976118"/>
            <a:ext cx="8595360" cy="475488"/>
            <a:chOff x="274320" y="2976118"/>
            <a:chExt cx="8595360" cy="475488"/>
          </a:xfrm>
        </p:grpSpPr>
        <p:sp>
          <p:nvSpPr>
            <p:cNvPr id="11" name="Shape 7"/>
            <p:cNvSpPr/>
            <p:nvPr/>
          </p:nvSpPr>
          <p:spPr>
            <a:xfrm>
              <a:off x="274320" y="2976118"/>
              <a:ext cx="8595360" cy="475488"/>
            </a:xfrm>
            <a:prstGeom prst="rect">
              <a:avLst/>
            </a:prstGeom>
            <a:solidFill>
              <a:srgbClr val="EAF4F0"/>
            </a:solidFill>
            <a:ln w="9525">
              <a:solidFill>
                <a:srgbClr val="0D7A8A"/>
              </a:solidFill>
              <a:prstDash val="solid"/>
            </a:ln>
          </p:spPr>
          <p:txBody>
            <a:bodyPr/>
            <a:lstStyle/>
            <a:p>
              <a:endParaRPr lang="en-MT"/>
            </a:p>
          </p:txBody>
        </p:sp>
        <p:sp>
          <p:nvSpPr>
            <p:cNvPr id="12" name="Text 8"/>
            <p:cNvSpPr/>
            <p:nvPr/>
          </p:nvSpPr>
          <p:spPr>
            <a:xfrm>
              <a:off x="402336" y="2994406"/>
              <a:ext cx="8339328" cy="438912"/>
            </a:xfrm>
            <a:prstGeom prst="rect">
              <a:avLst/>
            </a:prstGeom>
            <a:noFill/>
            <a:ln/>
          </p:spPr>
          <p:txBody>
            <a:bodyPr wrap="square" rtlCol="0" anchor="ctr"/>
            <a:lstStyle/>
            <a:p>
              <a:pPr marL="0" indent="0">
                <a:lnSpc>
                  <a:spcPct val="120000"/>
                </a:lnSpc>
                <a:buNone/>
              </a:pPr>
              <a:r>
                <a:rPr lang="en-US" sz="880" b="1" dirty="0">
                  <a:solidFill>
                    <a:srgbClr val="0D7A8A"/>
                  </a:solidFill>
                  <a:latin typeface="Calibri" pitchFamily="34" charset="0"/>
                  <a:ea typeface="Calibri" pitchFamily="34" charset="-122"/>
                  <a:cs typeface="Calibri" pitchFamily="34" charset="-120"/>
                </a:rPr>
                <a:t>Decision:  </a:t>
              </a:r>
              <a:r>
                <a:rPr lang="en-US" sz="880" dirty="0">
                  <a:solidFill>
                    <a:srgbClr val="1C2B3A"/>
                  </a:solidFill>
                  <a:latin typeface="Calibri" pitchFamily="34" charset="0"/>
                  <a:ea typeface="Calibri" pitchFamily="34" charset="-122"/>
                  <a:cs typeface="Calibri" pitchFamily="34" charset="-120"/>
                </a:rPr>
                <a:t>SDv1.5 + LCM-LoRA — the only configuration satisfying both criteria. LCM-LoRA's consistency distillation is purely geometric; it does not alter the model's learned demographic prior, making it appropriate for bias analysis of the base SDv1.5 distribution.</a:t>
              </a:r>
              <a:endParaRPr lang="en-US" sz="880" dirty="0"/>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8">
    <p:bg>
      <p:bgPr>
        <a:solidFill>
          <a:srgbClr val="F7F4EE"/>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2A1A5E"/>
          </a:solidFill>
          <a:ln w="12700">
            <a:solidFill>
              <a:srgbClr val="2A1A5E"/>
            </a:solidFill>
            <a:prstDash val="solid"/>
          </a:ln>
        </p:spPr>
        <p:txBody>
          <a:bodyPr/>
          <a:lstStyle/>
          <a:p>
            <a:endParaRPr lang="en-MT"/>
          </a:p>
        </p:txBody>
      </p:sp>
      <p:sp>
        <p:nvSpPr>
          <p:cNvPr id="3" name="Shape 1"/>
          <p:cNvSpPr/>
          <p:nvPr/>
        </p:nvSpPr>
        <p:spPr>
          <a:xfrm>
            <a:off x="7132320" y="128016"/>
            <a:ext cx="1737360" cy="457200"/>
          </a:xfrm>
          <a:prstGeom prst="rect">
            <a:avLst/>
          </a:prstGeom>
          <a:solidFill>
            <a:srgbClr val="C9A84C"/>
          </a:solidFill>
          <a:ln w="12700">
            <a:solidFill>
              <a:srgbClr val="C9A84C"/>
            </a:solidFill>
            <a:prstDash val="solid"/>
          </a:ln>
        </p:spPr>
        <p:txBody>
          <a:bodyPr/>
          <a:lstStyle/>
          <a:p>
            <a:endParaRPr lang="en-MT"/>
          </a:p>
        </p:txBody>
      </p:sp>
      <p:sp>
        <p:nvSpPr>
          <p:cNvPr id="4" name="Text 2"/>
          <p:cNvSpPr/>
          <p:nvPr/>
        </p:nvSpPr>
        <p:spPr>
          <a:xfrm>
            <a:off x="7132320" y="128016"/>
            <a:ext cx="1737360" cy="457200"/>
          </a:xfrm>
          <a:prstGeom prst="rect">
            <a:avLst/>
          </a:prstGeom>
          <a:noFill/>
          <a:ln/>
        </p:spPr>
        <p:txBody>
          <a:bodyPr wrap="square" rtlCol="0" anchor="ctr"/>
          <a:lstStyle/>
          <a:p>
            <a:pPr marL="0" indent="0" algn="ctr">
              <a:buNone/>
            </a:pPr>
            <a:r>
              <a:rPr lang="en-US" sz="750" b="1" kern="0" spc="50" dirty="0">
                <a:solidFill>
                  <a:srgbClr val="1B3A5C"/>
                </a:solidFill>
                <a:latin typeface="Calibri" pitchFamily="34" charset="0"/>
                <a:ea typeface="Calibri" pitchFamily="34" charset="-122"/>
                <a:cs typeface="Calibri" pitchFamily="34" charset="-120"/>
              </a:rPr>
              <a:t>SUPPLEMENTARY</a:t>
            </a:r>
            <a:endParaRPr lang="en-US" sz="750" dirty="0"/>
          </a:p>
        </p:txBody>
      </p:sp>
      <p:sp>
        <p:nvSpPr>
          <p:cNvPr id="5" name="Text 3"/>
          <p:cNvSpPr/>
          <p:nvPr/>
        </p:nvSpPr>
        <p:spPr>
          <a:xfrm>
            <a:off x="411480" y="0"/>
            <a:ext cx="6583680" cy="713232"/>
          </a:xfrm>
          <a:prstGeom prst="rect">
            <a:avLst/>
          </a:prstGeom>
          <a:noFill/>
          <a:ln/>
        </p:spPr>
        <p:txBody>
          <a:bodyPr wrap="square"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MODEL SELECTION EVIDENCE  ·  GENDER ANNOTATION  (1/2)  ·  Classifier Comparison</a:t>
            </a:r>
            <a:endParaRPr lang="en-US" sz="1400" dirty="0"/>
          </a:p>
        </p:txBody>
      </p:sp>
      <p:sp>
        <p:nvSpPr>
          <p:cNvPr id="6" name="Text 4"/>
          <p:cNvSpPr/>
          <p:nvPr/>
        </p:nvSpPr>
        <p:spPr>
          <a:xfrm>
            <a:off x="274320" y="822960"/>
            <a:ext cx="8595360" cy="292608"/>
          </a:xfrm>
          <a:prstGeom prst="rect">
            <a:avLst/>
          </a:prstGeom>
          <a:noFill/>
          <a:ln/>
        </p:spPr>
        <p:txBody>
          <a:bodyPr wrap="square" rtlCol="0" anchor="ctr"/>
          <a:lstStyle/>
          <a:p>
            <a:pPr marL="0" indent="0">
              <a:lnSpc>
                <a:spcPct val="120000"/>
              </a:lnSpc>
              <a:buNone/>
            </a:pPr>
            <a:r>
              <a:rPr lang="en-US" sz="950" b="1" dirty="0">
                <a:solidFill>
                  <a:srgbClr val="2A1A5E"/>
                </a:solidFill>
                <a:latin typeface="Calibri" pitchFamily="34" charset="0"/>
                <a:ea typeface="Calibri" pitchFamily="34" charset="-122"/>
                <a:cs typeface="Calibri" pitchFamily="34" charset="-120"/>
              </a:rPr>
              <a:t>Five classifiers evaluated on background-removed FaceMesh face crops  ·  CCv2 face-only = primary benchmark (participant self-reported labels)  ·  FACET = secondary validation  (Table 3.3)</a:t>
            </a:r>
            <a:endParaRPr lang="en-US" sz="9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274320" y="1161288"/>
          <a:ext cx="7680960" cy="2743200"/>
        </p:xfrm>
        <a:graphic>
          <a:graphicData uri="http://schemas.openxmlformats.org/drawingml/2006/table">
            <a:tbl>
              <a:tblPr/>
              <a:tblGrid>
                <a:gridCol w="233172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gridCol w="868680">
                  <a:extLst>
                    <a:ext uri="{9D8B030D-6E8A-4147-A177-3AD203B41FA5}">
                      <a16:colId xmlns:a16="http://schemas.microsoft.com/office/drawing/2014/main" val="20005"/>
                    </a:ext>
                  </a:extLst>
                </a:gridCol>
                <a:gridCol w="731520">
                  <a:extLst>
                    <a:ext uri="{9D8B030D-6E8A-4147-A177-3AD203B41FA5}">
                      <a16:colId xmlns:a16="http://schemas.microsoft.com/office/drawing/2014/main" val="20006"/>
                    </a:ext>
                  </a:extLst>
                </a:gridCol>
                <a:gridCol w="594360">
                  <a:extLst>
                    <a:ext uri="{9D8B030D-6E8A-4147-A177-3AD203B41FA5}">
                      <a16:colId xmlns:a16="http://schemas.microsoft.com/office/drawing/2014/main" val="20007"/>
                    </a:ext>
                  </a:extLst>
                </a:gridCol>
              </a:tblGrid>
              <a:tr h="457200">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Model</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CCv2 F-O</a:t>
                      </a:r>
                      <a:endParaRPr lang="en-US" sz="900" dirty="0">
                        <a:latin typeface="Calibri" charset="0"/>
                        <a:ea typeface="Calibri" charset="0"/>
                        <a:cs typeface="Calibri" charset="0"/>
                      </a:endParaRPr>
                    </a:p>
                    <a:p>
                      <a:pPr marL="0" indent="0" algn="ctr">
                        <a:buNone/>
                      </a:pPr>
                      <a:r>
                        <a:rPr lang="en-US" sz="900" b="1" dirty="0">
                          <a:solidFill>
                            <a:srgbClr val="FFFFFF"/>
                          </a:solidFill>
                          <a:latin typeface="Calibri" pitchFamily="34" charset="0"/>
                          <a:ea typeface="Calibri" pitchFamily="34" charset="-122"/>
                          <a:cs typeface="Calibri" pitchFamily="34" charset="-120"/>
                        </a:rPr>
                        <a:t>Overall</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CCv2</a:t>
                      </a:r>
                      <a:endParaRPr lang="en-US" sz="900" dirty="0">
                        <a:latin typeface="Calibri" charset="0"/>
                        <a:ea typeface="Calibri" charset="0"/>
                        <a:cs typeface="Calibri" charset="0"/>
                      </a:endParaRPr>
                    </a:p>
                    <a:p>
                      <a:pPr marL="0" indent="0" algn="ctr">
                        <a:buNone/>
                      </a:pPr>
                      <a:r>
                        <a:rPr lang="en-US" sz="900" b="1" dirty="0">
                          <a:solidFill>
                            <a:srgbClr val="FFFFFF"/>
                          </a:solidFill>
                          <a:latin typeface="Calibri" pitchFamily="34" charset="0"/>
                          <a:ea typeface="Calibri" pitchFamily="34" charset="-122"/>
                          <a:cs typeface="Calibri" pitchFamily="34" charset="-120"/>
                        </a:rPr>
                        <a:t>Male</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CCv2</a:t>
                      </a:r>
                      <a:endParaRPr lang="en-US" sz="900" dirty="0">
                        <a:latin typeface="Calibri" charset="0"/>
                        <a:ea typeface="Calibri" charset="0"/>
                        <a:cs typeface="Calibri" charset="0"/>
                      </a:endParaRPr>
                    </a:p>
                    <a:p>
                      <a:pPr marL="0" indent="0" algn="ctr">
                        <a:buNone/>
                      </a:pPr>
                      <a:r>
                        <a:rPr lang="en-US" sz="900" b="1" dirty="0">
                          <a:solidFill>
                            <a:srgbClr val="FFFFFF"/>
                          </a:solidFill>
                          <a:latin typeface="Calibri" pitchFamily="34" charset="0"/>
                          <a:ea typeface="Calibri" pitchFamily="34" charset="-122"/>
                          <a:cs typeface="Calibri" pitchFamily="34" charset="-120"/>
                        </a:rPr>
                        <a:t>Female</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M–F Gap</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FACET</a:t>
                      </a:r>
                      <a:endParaRPr lang="en-US" sz="900" dirty="0">
                        <a:latin typeface="Calibri" charset="0"/>
                        <a:ea typeface="Calibri" charset="0"/>
                        <a:cs typeface="Calibri" charset="0"/>
                      </a:endParaRPr>
                    </a:p>
                    <a:p>
                      <a:pPr marL="0" indent="0" algn="ctr">
                        <a:buNone/>
                      </a:pPr>
                      <a:r>
                        <a:rPr lang="en-US" sz="900" b="1" dirty="0">
                          <a:solidFill>
                            <a:srgbClr val="FFFFFF"/>
                          </a:solidFill>
                          <a:latin typeface="Calibri" pitchFamily="34" charset="0"/>
                          <a:ea typeface="Calibri" pitchFamily="34" charset="-122"/>
                          <a:cs typeface="Calibri" pitchFamily="34" charset="-120"/>
                        </a:rPr>
                        <a:t>Overall</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FACET</a:t>
                      </a:r>
                      <a:endParaRPr lang="en-US" sz="900" dirty="0">
                        <a:latin typeface="Calibri" charset="0"/>
                        <a:ea typeface="Calibri" charset="0"/>
                        <a:cs typeface="Calibri" charset="0"/>
                      </a:endParaRPr>
                    </a:p>
                    <a:p>
                      <a:pPr marL="0" indent="0" algn="ctr">
                        <a:buNone/>
                      </a:pPr>
                      <a:r>
                        <a:rPr lang="en-US" sz="900" b="1" dirty="0">
                          <a:solidFill>
                            <a:srgbClr val="FFFFFF"/>
                          </a:solidFill>
                          <a:latin typeface="Calibri" pitchFamily="34" charset="0"/>
                          <a:ea typeface="Calibri" pitchFamily="34" charset="-122"/>
                          <a:cs typeface="Calibri" pitchFamily="34" charset="-120"/>
                        </a:rPr>
                        <a:t>Male</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FACET</a:t>
                      </a:r>
                      <a:endParaRPr lang="en-US" sz="900" dirty="0">
                        <a:latin typeface="Calibri" charset="0"/>
                        <a:ea typeface="Calibri" charset="0"/>
                        <a:cs typeface="Calibri" charset="0"/>
                      </a:endParaRPr>
                    </a:p>
                    <a:p>
                      <a:pPr marL="0" indent="0" algn="ctr">
                        <a:buNone/>
                      </a:pPr>
                      <a:r>
                        <a:rPr lang="en-US" sz="900" b="1" dirty="0">
                          <a:solidFill>
                            <a:srgbClr val="FFFFFF"/>
                          </a:solidFill>
                          <a:latin typeface="Calibri" pitchFamily="34" charset="0"/>
                          <a:ea typeface="Calibri" pitchFamily="34" charset="-122"/>
                          <a:cs typeface="Calibri" pitchFamily="34" charset="-120"/>
                        </a:rPr>
                        <a:t>Female</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extLst>
                  <a:ext uri="{0D108BD9-81ED-4DB2-BD59-A6C34878D82A}">
                    <a16:rowId xmlns:a16="http://schemas.microsoft.com/office/drawing/2014/main" val="10000"/>
                  </a:ext>
                </a:extLst>
              </a:tr>
              <a:tr h="457200">
                <a:tc>
                  <a:txBody>
                    <a:bodyPr/>
                    <a:lstStyle/>
                    <a:p>
                      <a:pPr marL="0" indent="0" algn="l">
                        <a:buNone/>
                      </a:pPr>
                      <a:r>
                        <a:rPr lang="en-US" sz="900" b="1" dirty="0">
                          <a:solidFill>
                            <a:srgbClr val="0D8A5E"/>
                          </a:solidFill>
                          <a:latin typeface="Calibri" pitchFamily="34" charset="0"/>
                          <a:ea typeface="Calibri" pitchFamily="34" charset="-122"/>
                          <a:cs typeface="Calibri" pitchFamily="34" charset="-120"/>
                        </a:rPr>
                        <a:t>Realistic GC (SigLIP) ★</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0.886</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0.924</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0.862</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6.2 pp</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0.823</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0.875</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0.695</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extLst>
                  <a:ext uri="{0D108BD9-81ED-4DB2-BD59-A6C34878D82A}">
                    <a16:rowId xmlns:a16="http://schemas.microsoft.com/office/drawing/2014/main" val="10001"/>
                  </a:ext>
                </a:extLst>
              </a:tr>
              <a:tr h="457200">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FairFace</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0.801</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0.983</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0.687</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B84A0A"/>
                          </a:solidFill>
                          <a:latin typeface="Calibri" pitchFamily="34" charset="0"/>
                          <a:ea typeface="Calibri" pitchFamily="34" charset="-122"/>
                          <a:cs typeface="Calibri" pitchFamily="34" charset="-120"/>
                        </a:rPr>
                        <a:t>29.6 pp</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F0E0"/>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0.834</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0.906</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0.653</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InsightFace</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0.771</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0.784</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0.763</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2.1 pp</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0.772</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0.821</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0.643</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extLst>
                  <a:ext uri="{0D108BD9-81ED-4DB2-BD59-A6C34878D82A}">
                    <a16:rowId xmlns:a16="http://schemas.microsoft.com/office/drawing/2014/main" val="10003"/>
                  </a:ext>
                </a:extLst>
              </a:tr>
              <a:tr h="457200">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HF Gender Clf.</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0.715</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0.963</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0.561</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AA2200"/>
                          </a:solidFill>
                          <a:latin typeface="Calibri" pitchFamily="34" charset="0"/>
                          <a:ea typeface="Calibri" pitchFamily="34" charset="-122"/>
                          <a:cs typeface="Calibri" pitchFamily="34" charset="-120"/>
                        </a:rPr>
                        <a:t>40.2 pp</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E0D0"/>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0.789</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0.877</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0.569</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DeepFace</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0.780</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0.938</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b="1" dirty="0">
                          <a:solidFill>
                            <a:srgbClr val="AA2200"/>
                          </a:solidFill>
                          <a:latin typeface="Calibri" pitchFamily="34" charset="0"/>
                          <a:ea typeface="Calibri" pitchFamily="34" charset="-122"/>
                          <a:cs typeface="Calibri" pitchFamily="34" charset="-120"/>
                        </a:rPr>
                        <a:t>0.384</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E0D0"/>
                    </a:solidFill>
                  </a:tcPr>
                </a:tc>
                <a:extLst>
                  <a:ext uri="{0D108BD9-81ED-4DB2-BD59-A6C34878D82A}">
                    <a16:rowId xmlns:a16="http://schemas.microsoft.com/office/drawing/2014/main" val="10005"/>
                  </a:ext>
                </a:extLst>
              </a:tr>
            </a:tbl>
          </a:graphicData>
        </a:graphic>
      </p:graphicFrame>
      <p:grpSp>
        <p:nvGrpSpPr>
          <p:cNvPr id="7" name="Group 6">
            <a:extLst>
              <a:ext uri="{FF2B5EF4-FFF2-40B4-BE49-F238E27FC236}">
                <a16:creationId xmlns:a16="http://schemas.microsoft.com/office/drawing/2014/main" id="{7731BA43-FC71-1BE2-F279-013D58F4332B}"/>
              </a:ext>
            </a:extLst>
          </p:cNvPr>
          <p:cNvGrpSpPr/>
          <p:nvPr/>
        </p:nvGrpSpPr>
        <p:grpSpPr>
          <a:xfrm>
            <a:off x="274320" y="3989070"/>
            <a:ext cx="8595360" cy="347472"/>
            <a:chOff x="274320" y="4160520"/>
            <a:chExt cx="8595360" cy="347472"/>
          </a:xfrm>
        </p:grpSpPr>
        <p:sp>
          <p:nvSpPr>
            <p:cNvPr id="8" name="Shape 5"/>
            <p:cNvSpPr/>
            <p:nvPr/>
          </p:nvSpPr>
          <p:spPr>
            <a:xfrm>
              <a:off x="274320" y="4160520"/>
              <a:ext cx="8595360" cy="347472"/>
            </a:xfrm>
            <a:prstGeom prst="rect">
              <a:avLst/>
            </a:prstGeom>
            <a:solidFill>
              <a:srgbClr val="EBF2FA"/>
            </a:solidFill>
            <a:ln w="6350">
              <a:solidFill>
                <a:srgbClr val="7AAAC8"/>
              </a:solidFill>
              <a:prstDash val="solid"/>
            </a:ln>
          </p:spPr>
          <p:txBody>
            <a:bodyPr/>
            <a:lstStyle/>
            <a:p>
              <a:endParaRPr lang="en-MT"/>
            </a:p>
          </p:txBody>
        </p:sp>
        <p:sp>
          <p:nvSpPr>
            <p:cNvPr id="9" name="Text 6"/>
            <p:cNvSpPr/>
            <p:nvPr/>
          </p:nvSpPr>
          <p:spPr>
            <a:xfrm>
              <a:off x="402336" y="4178808"/>
              <a:ext cx="8339328" cy="310896"/>
            </a:xfrm>
            <a:prstGeom prst="rect">
              <a:avLst/>
            </a:prstGeom>
            <a:noFill/>
            <a:ln/>
          </p:spPr>
          <p:txBody>
            <a:bodyPr wrap="square" rtlCol="0" anchor="ctr"/>
            <a:lstStyle/>
            <a:p>
              <a:pPr marL="0" indent="0">
                <a:lnSpc>
                  <a:spcPct val="115000"/>
                </a:lnSpc>
                <a:buNone/>
              </a:pPr>
              <a:r>
                <a:rPr lang="en-US" sz="850" b="1" dirty="0">
                  <a:solidFill>
                    <a:srgbClr val="205070"/>
                  </a:solidFill>
                  <a:latin typeface="Calibri" pitchFamily="34" charset="0"/>
                  <a:ea typeface="Calibri" pitchFamily="34" charset="-122"/>
                  <a:cs typeface="Calibri" pitchFamily="34" charset="-120"/>
                </a:rPr>
                <a:t>Note:  </a:t>
              </a:r>
              <a:r>
                <a:rPr lang="en-US" sz="850" dirty="0">
                  <a:solidFill>
                    <a:srgbClr val="205070"/>
                  </a:solidFill>
                  <a:latin typeface="Calibri" pitchFamily="34" charset="0"/>
                  <a:ea typeface="Calibri" pitchFamily="34" charset="-122"/>
                  <a:cs typeface="Calibri" pitchFamily="34" charset="-120"/>
                </a:rPr>
                <a:t>DeepFace had no batch inference interface — evaluated on FACET only.  InsightFace's low gap (2.1 pp) arises from reduced male recall, not improved female recall — overall 11.5 pp below Realistic GC.  FairFace (29.6 pp) and HF (40.2 pp) both systematically misclassify ambiguous or darker-toned faces as male.</a:t>
              </a:r>
              <a:endParaRPr lang="en-US" sz="850" dirty="0"/>
            </a:p>
          </p:txBody>
        </p:sp>
      </p:grpSp>
      <p:grpSp>
        <p:nvGrpSpPr>
          <p:cNvPr id="12" name="Group 11">
            <a:extLst>
              <a:ext uri="{FF2B5EF4-FFF2-40B4-BE49-F238E27FC236}">
                <a16:creationId xmlns:a16="http://schemas.microsoft.com/office/drawing/2014/main" id="{421BFEF6-FB93-C036-2612-FBC2B6FE0509}"/>
              </a:ext>
            </a:extLst>
          </p:cNvPr>
          <p:cNvGrpSpPr/>
          <p:nvPr/>
        </p:nvGrpSpPr>
        <p:grpSpPr>
          <a:xfrm>
            <a:off x="274320" y="4417568"/>
            <a:ext cx="8595360" cy="475488"/>
            <a:chOff x="274320" y="4773168"/>
            <a:chExt cx="8595360" cy="475488"/>
          </a:xfrm>
        </p:grpSpPr>
        <p:sp>
          <p:nvSpPr>
            <p:cNvPr id="10" name="Shape 7"/>
            <p:cNvSpPr/>
            <p:nvPr/>
          </p:nvSpPr>
          <p:spPr>
            <a:xfrm>
              <a:off x="274320" y="4773168"/>
              <a:ext cx="8595360" cy="475488"/>
            </a:xfrm>
            <a:prstGeom prst="rect">
              <a:avLst/>
            </a:prstGeom>
            <a:solidFill>
              <a:srgbClr val="EAF4F0"/>
            </a:solidFill>
            <a:ln w="9525">
              <a:solidFill>
                <a:srgbClr val="0D7A8A"/>
              </a:solidFill>
              <a:prstDash val="solid"/>
            </a:ln>
          </p:spPr>
          <p:txBody>
            <a:bodyPr/>
            <a:lstStyle/>
            <a:p>
              <a:endParaRPr lang="en-MT"/>
            </a:p>
          </p:txBody>
        </p:sp>
        <p:sp>
          <p:nvSpPr>
            <p:cNvPr id="11" name="Text 8"/>
            <p:cNvSpPr/>
            <p:nvPr/>
          </p:nvSpPr>
          <p:spPr>
            <a:xfrm>
              <a:off x="402336" y="4791456"/>
              <a:ext cx="8339328" cy="438912"/>
            </a:xfrm>
            <a:prstGeom prst="rect">
              <a:avLst/>
            </a:prstGeom>
            <a:noFill/>
            <a:ln/>
          </p:spPr>
          <p:txBody>
            <a:bodyPr wrap="square" rtlCol="0" anchor="ctr"/>
            <a:lstStyle/>
            <a:p>
              <a:pPr marL="0" indent="0">
                <a:lnSpc>
                  <a:spcPct val="120000"/>
                </a:lnSpc>
                <a:buNone/>
              </a:pPr>
              <a:r>
                <a:rPr lang="en-US" sz="880" b="1" dirty="0">
                  <a:solidFill>
                    <a:srgbClr val="0D7A8A"/>
                  </a:solidFill>
                  <a:latin typeface="Calibri" pitchFamily="34" charset="0"/>
                  <a:ea typeface="Calibri" pitchFamily="34" charset="-122"/>
                  <a:cs typeface="Calibri" pitchFamily="34" charset="-120"/>
                </a:rPr>
                <a:t>Decision:  </a:t>
              </a:r>
              <a:r>
                <a:rPr lang="en-US" sz="880" dirty="0">
                  <a:solidFill>
                    <a:srgbClr val="1C2B3A"/>
                  </a:solidFill>
                  <a:latin typeface="Calibri" pitchFamily="34" charset="0"/>
                  <a:ea typeface="Calibri" pitchFamily="34" charset="-122"/>
                  <a:cs typeface="Calibri" pitchFamily="34" charset="-120"/>
                </a:rPr>
                <a:t>Realistic GC — highest CCv2 face-only accuracy (88.6%) and smallest meaningful M–F gap (6.2 pp). The face-only crop condition is the most diagnostic benchmark since it isolates classifier capability from background context effects.</a:t>
              </a:r>
              <a:endParaRPr lang="en-US" sz="880" dirty="0"/>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9">
    <p:bg>
      <p:bgPr>
        <a:solidFill>
          <a:srgbClr val="F7F4EE"/>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2A1A5E"/>
          </a:solidFill>
          <a:ln w="12700">
            <a:solidFill>
              <a:srgbClr val="2A1A5E"/>
            </a:solidFill>
            <a:prstDash val="solid"/>
          </a:ln>
        </p:spPr>
        <p:txBody>
          <a:bodyPr/>
          <a:lstStyle/>
          <a:p>
            <a:endParaRPr lang="en-MT"/>
          </a:p>
        </p:txBody>
      </p:sp>
      <p:sp>
        <p:nvSpPr>
          <p:cNvPr id="3" name="Shape 1"/>
          <p:cNvSpPr/>
          <p:nvPr/>
        </p:nvSpPr>
        <p:spPr>
          <a:xfrm>
            <a:off x="7132320" y="128016"/>
            <a:ext cx="1737360" cy="457200"/>
          </a:xfrm>
          <a:prstGeom prst="rect">
            <a:avLst/>
          </a:prstGeom>
          <a:solidFill>
            <a:srgbClr val="C9A84C"/>
          </a:solidFill>
          <a:ln w="12700">
            <a:solidFill>
              <a:srgbClr val="C9A84C"/>
            </a:solidFill>
            <a:prstDash val="solid"/>
          </a:ln>
        </p:spPr>
        <p:txBody>
          <a:bodyPr/>
          <a:lstStyle/>
          <a:p>
            <a:endParaRPr lang="en-MT"/>
          </a:p>
        </p:txBody>
      </p:sp>
      <p:sp>
        <p:nvSpPr>
          <p:cNvPr id="4" name="Text 2"/>
          <p:cNvSpPr/>
          <p:nvPr/>
        </p:nvSpPr>
        <p:spPr>
          <a:xfrm>
            <a:off x="7132320" y="128016"/>
            <a:ext cx="1737360" cy="457200"/>
          </a:xfrm>
          <a:prstGeom prst="rect">
            <a:avLst/>
          </a:prstGeom>
          <a:noFill/>
          <a:ln/>
        </p:spPr>
        <p:txBody>
          <a:bodyPr wrap="square" rtlCol="0" anchor="ctr"/>
          <a:lstStyle/>
          <a:p>
            <a:pPr marL="0" indent="0" algn="ctr">
              <a:buNone/>
            </a:pPr>
            <a:r>
              <a:rPr lang="en-US" sz="750" b="1" kern="0" spc="50" dirty="0">
                <a:solidFill>
                  <a:srgbClr val="1B3A5C"/>
                </a:solidFill>
                <a:latin typeface="Calibri" pitchFamily="34" charset="0"/>
                <a:ea typeface="Calibri" pitchFamily="34" charset="-122"/>
                <a:cs typeface="Calibri" pitchFamily="34" charset="-120"/>
              </a:rPr>
              <a:t>SUPPLEMENTARY</a:t>
            </a:r>
            <a:endParaRPr lang="en-US" sz="750" dirty="0"/>
          </a:p>
        </p:txBody>
      </p:sp>
      <p:sp>
        <p:nvSpPr>
          <p:cNvPr id="5" name="Text 3"/>
          <p:cNvSpPr/>
          <p:nvPr/>
        </p:nvSpPr>
        <p:spPr>
          <a:xfrm>
            <a:off x="411480" y="0"/>
            <a:ext cx="6583680" cy="713232"/>
          </a:xfrm>
          <a:prstGeom prst="rect">
            <a:avLst/>
          </a:prstGeom>
          <a:noFill/>
          <a:ln/>
        </p:spPr>
        <p:txBody>
          <a:bodyPr wrap="square"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MODEL SELECTION EVIDENCE  ·  GENDER ANNOTATION  (2/2)  ·  Per-Skin-Tone Performance</a:t>
            </a:r>
            <a:endParaRPr lang="en-US" sz="1400" dirty="0"/>
          </a:p>
        </p:txBody>
      </p:sp>
      <p:sp>
        <p:nvSpPr>
          <p:cNvPr id="6" name="Text 4"/>
          <p:cNvSpPr/>
          <p:nvPr/>
        </p:nvSpPr>
        <p:spPr>
          <a:xfrm>
            <a:off x="274320" y="822960"/>
            <a:ext cx="8595360" cy="274320"/>
          </a:xfrm>
          <a:prstGeom prst="rect">
            <a:avLst/>
          </a:prstGeom>
          <a:noFill/>
          <a:ln/>
        </p:spPr>
        <p:txBody>
          <a:bodyPr wrap="square" rtlCol="0" anchor="ctr"/>
          <a:lstStyle/>
          <a:p>
            <a:pPr marL="0" indent="0">
              <a:lnSpc>
                <a:spcPct val="120000"/>
              </a:lnSpc>
              <a:buNone/>
            </a:pPr>
            <a:r>
              <a:rPr lang="en-US" sz="950" b="1" dirty="0">
                <a:solidFill>
                  <a:srgbClr val="2A1A5E"/>
                </a:solidFill>
                <a:latin typeface="Calibri" pitchFamily="34" charset="0"/>
                <a:ea typeface="Calibri" pitchFamily="34" charset="-122"/>
                <a:cs typeface="Calibri" pitchFamily="34" charset="-120"/>
              </a:rPr>
              <a:t>Realistic GC per-MST accuracy on CCv2 face-only segmented crops  (Table 3.4)  ·  Reveals known limitation: female accuracy degrades at darker tones</a:t>
            </a:r>
            <a:endParaRPr lang="en-US" sz="950" dirty="0"/>
          </a:p>
        </p:txBody>
      </p:sp>
      <p:graphicFrame>
        <p:nvGraphicFramePr>
          <p:cNvPr id="20" name="Table 0"/>
          <p:cNvGraphicFramePr>
            <a:graphicFrameLocks noGrp="1"/>
          </p:cNvGraphicFramePr>
          <p:nvPr>
            <p:extLst>
              <p:ext uri="{D42A27DB-BD31-4B8C-83A1-F6EECF244321}">
                <p14:modId xmlns:p14="http://schemas.microsoft.com/office/powerpoint/2010/main" val="3162145252"/>
              </p:ext>
            </p:extLst>
          </p:nvPr>
        </p:nvGraphicFramePr>
        <p:xfrm>
          <a:off x="274320" y="1152144"/>
          <a:ext cx="8595360" cy="2411982"/>
        </p:xfrm>
        <a:graphic>
          <a:graphicData uri="http://schemas.openxmlformats.org/drawingml/2006/table">
            <a:tbl>
              <a:tblPr/>
              <a:tblGrid>
                <a:gridCol w="4572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457200">
                  <a:extLst>
                    <a:ext uri="{9D8B030D-6E8A-4147-A177-3AD203B41FA5}">
                      <a16:colId xmlns:a16="http://schemas.microsoft.com/office/drawing/2014/main" val="20005"/>
                    </a:ext>
                  </a:extLst>
                </a:gridCol>
                <a:gridCol w="914400">
                  <a:extLst>
                    <a:ext uri="{9D8B030D-6E8A-4147-A177-3AD203B41FA5}">
                      <a16:colId xmlns:a16="http://schemas.microsoft.com/office/drawing/2014/main" val="20006"/>
                    </a:ext>
                  </a:extLst>
                </a:gridCol>
                <a:gridCol w="914400">
                  <a:extLst>
                    <a:ext uri="{9D8B030D-6E8A-4147-A177-3AD203B41FA5}">
                      <a16:colId xmlns:a16="http://schemas.microsoft.com/office/drawing/2014/main" val="20007"/>
                    </a:ext>
                  </a:extLst>
                </a:gridCol>
                <a:gridCol w="914400">
                  <a:extLst>
                    <a:ext uri="{9D8B030D-6E8A-4147-A177-3AD203B41FA5}">
                      <a16:colId xmlns:a16="http://schemas.microsoft.com/office/drawing/2014/main" val="20008"/>
                    </a:ext>
                  </a:extLst>
                </a:gridCol>
                <a:gridCol w="1280160">
                  <a:extLst>
                    <a:ext uri="{9D8B030D-6E8A-4147-A177-3AD203B41FA5}">
                      <a16:colId xmlns:a16="http://schemas.microsoft.com/office/drawing/2014/main" val="20009"/>
                    </a:ext>
                  </a:extLst>
                </a:gridCol>
              </a:tblGrid>
              <a:tr h="401997">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MST</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Overall</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Male Acc.</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Female Acc.</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MST</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Overall</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Male Acc.</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Female Acc.</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extLst>
                  <a:ext uri="{0D108BD9-81ED-4DB2-BD59-A6C34878D82A}">
                    <a16:rowId xmlns:a16="http://schemas.microsoft.com/office/drawing/2014/main" val="10000"/>
                  </a:ext>
                </a:extLst>
              </a:tr>
              <a:tr h="401997">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1,190</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0.756</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0.977</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B84A0A"/>
                          </a:solidFill>
                          <a:latin typeface="Calibri" pitchFamily="34" charset="0"/>
                          <a:ea typeface="Calibri" pitchFamily="34" charset="-122"/>
                          <a:cs typeface="Calibri" pitchFamily="34" charset="-120"/>
                        </a:rPr>
                        <a:t>0.681</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F0E0"/>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6</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23,074</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0.879</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0.884</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0.875</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extLst>
                  <a:ext uri="{0D108BD9-81ED-4DB2-BD59-A6C34878D82A}">
                    <a16:rowId xmlns:a16="http://schemas.microsoft.com/office/drawing/2014/main" val="10001"/>
                  </a:ext>
                </a:extLst>
              </a:tr>
              <a:tr h="401997">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13,337</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0.870</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0.968</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0.833</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7</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6,438</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0.826</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0.906</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0.761</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1997">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33,732</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0.893</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0.946</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0.870</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8</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4,183</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0.803</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0.925</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B84A0A"/>
                          </a:solidFill>
                          <a:latin typeface="Calibri" pitchFamily="34" charset="0"/>
                          <a:ea typeface="Calibri" pitchFamily="34" charset="-122"/>
                          <a:cs typeface="Calibri" pitchFamily="34" charset="-120"/>
                        </a:rPr>
                        <a:t>0.680</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F0E0"/>
                    </a:solidFill>
                  </a:tcPr>
                </a:tc>
                <a:extLst>
                  <a:ext uri="{0D108BD9-81ED-4DB2-BD59-A6C34878D82A}">
                    <a16:rowId xmlns:a16="http://schemas.microsoft.com/office/drawing/2014/main" val="10003"/>
                  </a:ext>
                </a:extLst>
              </a:tr>
              <a:tr h="401997">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38,273</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0.893</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0.939</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0.871</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9</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1,671</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0.662</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0.948</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AA2200"/>
                          </a:solidFill>
                          <a:latin typeface="Calibri" pitchFamily="34" charset="0"/>
                          <a:ea typeface="Calibri" pitchFamily="34" charset="-122"/>
                          <a:cs typeface="Calibri" pitchFamily="34" charset="-120"/>
                        </a:rPr>
                        <a:t>0.488</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E0D0"/>
                    </a:solidFill>
                  </a:tcPr>
                </a:tc>
                <a:extLst>
                  <a:ext uri="{0D108BD9-81ED-4DB2-BD59-A6C34878D82A}">
                    <a16:rowId xmlns:a16="http://schemas.microsoft.com/office/drawing/2014/main" val="10004"/>
                  </a:ext>
                </a:extLst>
              </a:tr>
              <a:tr h="401997">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5</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55,797</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0.906</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0.918</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0.895</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168</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0.726</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1.000</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B84A0A"/>
                          </a:solidFill>
                          <a:latin typeface="Calibri" pitchFamily="34" charset="0"/>
                          <a:ea typeface="Calibri" pitchFamily="34" charset="-122"/>
                          <a:cs typeface="Calibri" pitchFamily="34" charset="-120"/>
                        </a:rPr>
                        <a:t>0.570</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F0E0"/>
                    </a:solidFill>
                  </a:tcPr>
                </a:tc>
                <a:extLst>
                  <a:ext uri="{0D108BD9-81ED-4DB2-BD59-A6C34878D82A}">
                    <a16:rowId xmlns:a16="http://schemas.microsoft.com/office/drawing/2014/main" val="10005"/>
                  </a:ext>
                </a:extLst>
              </a:tr>
            </a:tbl>
          </a:graphicData>
        </a:graphic>
      </p:graphicFrame>
      <p:grpSp>
        <p:nvGrpSpPr>
          <p:cNvPr id="7" name="Group 6">
            <a:extLst>
              <a:ext uri="{FF2B5EF4-FFF2-40B4-BE49-F238E27FC236}">
                <a16:creationId xmlns:a16="http://schemas.microsoft.com/office/drawing/2014/main" id="{BB0A6C0F-E0A8-2337-816C-75478E3B5ABF}"/>
              </a:ext>
            </a:extLst>
          </p:cNvPr>
          <p:cNvGrpSpPr/>
          <p:nvPr/>
        </p:nvGrpSpPr>
        <p:grpSpPr>
          <a:xfrm>
            <a:off x="274320" y="3631946"/>
            <a:ext cx="8595360" cy="768096"/>
            <a:chOff x="274320" y="3968496"/>
            <a:chExt cx="8595360" cy="768096"/>
          </a:xfrm>
        </p:grpSpPr>
        <p:sp>
          <p:nvSpPr>
            <p:cNvPr id="8" name="Shape 5"/>
            <p:cNvSpPr/>
            <p:nvPr/>
          </p:nvSpPr>
          <p:spPr>
            <a:xfrm>
              <a:off x="274320" y="3968496"/>
              <a:ext cx="8595360" cy="717804"/>
            </a:xfrm>
            <a:prstGeom prst="rect">
              <a:avLst/>
            </a:prstGeom>
            <a:solidFill>
              <a:srgbClr val="FFFFFF"/>
            </a:solidFill>
            <a:ln w="9525">
              <a:solidFill>
                <a:srgbClr val="E8E4DC"/>
              </a:solidFill>
              <a:prstDash val="solid"/>
            </a:ln>
            <a:effectLst>
              <a:outerShdw blurRad="63500" dist="25400" dir="8100000" algn="bl" rotWithShape="0">
                <a:srgbClr val="000000">
                  <a:alpha val="10000"/>
                </a:srgbClr>
              </a:outerShdw>
            </a:effectLst>
          </p:spPr>
          <p:txBody>
            <a:bodyPr/>
            <a:lstStyle/>
            <a:p>
              <a:endParaRPr lang="en-MT"/>
            </a:p>
          </p:txBody>
        </p:sp>
        <p:sp>
          <p:nvSpPr>
            <p:cNvPr id="9" name="Text 6"/>
            <p:cNvSpPr/>
            <p:nvPr/>
          </p:nvSpPr>
          <p:spPr>
            <a:xfrm>
              <a:off x="402336" y="4023360"/>
              <a:ext cx="8339328" cy="713232"/>
            </a:xfrm>
            <a:prstGeom prst="rect">
              <a:avLst/>
            </a:prstGeom>
            <a:noFill/>
            <a:ln/>
          </p:spPr>
          <p:txBody>
            <a:bodyPr wrap="square" rtlCol="0" anchor="ctr"/>
            <a:lstStyle/>
            <a:p>
              <a:pPr marL="0" indent="0">
                <a:buNone/>
              </a:pPr>
              <a:r>
                <a:rPr lang="en-US" sz="850" b="1" dirty="0">
                  <a:solidFill>
                    <a:srgbClr val="0D8A5E"/>
                  </a:solidFill>
                  <a:latin typeface="Calibri" pitchFamily="34" charset="0"/>
                  <a:ea typeface="Calibri" pitchFamily="34" charset="-122"/>
                  <a:cs typeface="Calibri" pitchFamily="34" charset="-120"/>
                </a:rPr>
                <a:t>▸  </a:t>
              </a:r>
              <a:r>
                <a:rPr lang="en-US" sz="850" dirty="0">
                  <a:solidFill>
                    <a:srgbClr val="1C2B3A"/>
                  </a:solidFill>
                  <a:latin typeface="Calibri" pitchFamily="34" charset="0"/>
                  <a:ea typeface="Calibri" pitchFamily="34" charset="-122"/>
                  <a:cs typeface="Calibri" pitchFamily="34" charset="-120"/>
                </a:rPr>
                <a:t>Overall accuracy peaks at MST 5 (90.6%) — mid-range tones best classified overall.</a:t>
              </a:r>
            </a:p>
            <a:p>
              <a:r>
                <a:rPr lang="en-US" sz="850" b="1" dirty="0">
                  <a:solidFill>
                    <a:srgbClr val="0D8A5E"/>
                  </a:solidFill>
                  <a:latin typeface="Calibri" pitchFamily="34" charset="0"/>
                  <a:ea typeface="Calibri" pitchFamily="34" charset="-122"/>
                  <a:cs typeface="Calibri" pitchFamily="34" charset="-120"/>
                </a:rPr>
                <a:t>▸  </a:t>
              </a:r>
              <a:r>
                <a:rPr lang="en-US" sz="850" dirty="0">
                  <a:solidFill>
                    <a:srgbClr val="1C2B3A"/>
                  </a:solidFill>
                  <a:latin typeface="Calibri" pitchFamily="34" charset="0"/>
                  <a:ea typeface="Calibri" pitchFamily="34" charset="-122"/>
                  <a:cs typeface="Calibri" pitchFamily="34" charset="-120"/>
                </a:rPr>
                <a:t>Male accuracy remains consistently high across all MST levels (0.884–1.000).</a:t>
              </a:r>
            </a:p>
            <a:p>
              <a:r>
                <a:rPr lang="en-US" sz="850" b="1" dirty="0">
                  <a:solidFill>
                    <a:srgbClr val="B84A0A"/>
                  </a:solidFill>
                  <a:latin typeface="Calibri" pitchFamily="34" charset="0"/>
                  <a:ea typeface="Calibri" pitchFamily="34" charset="-122"/>
                  <a:cs typeface="Calibri" pitchFamily="34" charset="-120"/>
                </a:rPr>
                <a:t>▸  </a:t>
              </a:r>
              <a:r>
                <a:rPr lang="en-US" sz="850" dirty="0">
                  <a:solidFill>
                    <a:srgbClr val="1C2B3A"/>
                  </a:solidFill>
                  <a:latin typeface="Calibri" pitchFamily="34" charset="0"/>
                  <a:ea typeface="Calibri" pitchFamily="34" charset="-122"/>
                  <a:cs typeface="Calibri" pitchFamily="34" charset="-120"/>
                </a:rPr>
                <a:t>Female accuracy degrades toward darker tones — falls to 48.8% at MST 9 (highlighted red). Intersectional disparity consistent with prior work (</a:t>
              </a:r>
              <a:r>
                <a:rPr lang="en-US" sz="850" dirty="0" err="1">
                  <a:solidFill>
                    <a:srgbClr val="1C2B3A"/>
                  </a:solidFill>
                  <a:latin typeface="Calibri" pitchFamily="34" charset="0"/>
                  <a:ea typeface="Calibri" pitchFamily="34" charset="-122"/>
                  <a:cs typeface="Calibri" pitchFamily="34" charset="-120"/>
                </a:rPr>
                <a:t>Buolamwini</a:t>
              </a:r>
              <a:r>
                <a:rPr lang="en-US" sz="850" dirty="0">
                  <a:solidFill>
                    <a:srgbClr val="1C2B3A"/>
                  </a:solidFill>
                  <a:latin typeface="Calibri" pitchFamily="34" charset="0"/>
                  <a:ea typeface="Calibri" pitchFamily="34" charset="-122"/>
                  <a:cs typeface="Calibri" pitchFamily="34" charset="-120"/>
                </a:rPr>
                <a:t> &amp; Gebru 2018).</a:t>
              </a:r>
            </a:p>
            <a:p>
              <a:r>
                <a:rPr lang="en-US" sz="850" b="1" dirty="0">
                  <a:solidFill>
                    <a:srgbClr val="4A6274"/>
                  </a:solidFill>
                  <a:latin typeface="Calibri" pitchFamily="34" charset="0"/>
                  <a:ea typeface="Calibri" pitchFamily="34" charset="-122"/>
                  <a:cs typeface="Calibri" pitchFamily="34" charset="-120"/>
                </a:rPr>
                <a:t>▸  </a:t>
              </a:r>
              <a:r>
                <a:rPr lang="en-US" sz="850" dirty="0">
                  <a:solidFill>
                    <a:srgbClr val="1C2B3A"/>
                  </a:solidFill>
                  <a:latin typeface="Calibri" pitchFamily="34" charset="0"/>
                  <a:ea typeface="Calibri" pitchFamily="34" charset="-122"/>
                  <a:cs typeface="Calibri" pitchFamily="34" charset="-120"/>
                </a:rPr>
                <a:t>Limitation documented in Table 3.4 and disclosed as a known constraint. No ground truth at this scale is available to correct it; results at MST 8–10 for female-labelled images should be interpreted with caution.</a:t>
              </a:r>
              <a:endParaRPr lang="en-US" sz="850" dirty="0"/>
            </a:p>
            <a:p>
              <a:pPr marL="0" indent="0">
                <a:buNone/>
              </a:pPr>
              <a:endParaRPr lang="en-US" sz="850" dirty="0"/>
            </a:p>
          </p:txBody>
        </p:sp>
        <p:sp>
          <p:nvSpPr>
            <p:cNvPr id="10" name="Text 7"/>
            <p:cNvSpPr/>
            <p:nvPr/>
          </p:nvSpPr>
          <p:spPr>
            <a:xfrm>
              <a:off x="402336" y="4206240"/>
              <a:ext cx="8339328" cy="164592"/>
            </a:xfrm>
            <a:prstGeom prst="rect">
              <a:avLst/>
            </a:prstGeom>
            <a:noFill/>
            <a:ln/>
          </p:spPr>
          <p:txBody>
            <a:bodyPr wrap="square" rtlCol="0" anchor="ctr"/>
            <a:lstStyle/>
            <a:p>
              <a:pPr marL="0" indent="0">
                <a:buNone/>
              </a:pPr>
              <a:endParaRPr lang="en-US" sz="850" dirty="0"/>
            </a:p>
          </p:txBody>
        </p:sp>
        <p:sp>
          <p:nvSpPr>
            <p:cNvPr id="11" name="Text 8"/>
            <p:cNvSpPr/>
            <p:nvPr/>
          </p:nvSpPr>
          <p:spPr>
            <a:xfrm>
              <a:off x="402336" y="4389120"/>
              <a:ext cx="8339328" cy="164592"/>
            </a:xfrm>
            <a:prstGeom prst="rect">
              <a:avLst/>
            </a:prstGeom>
            <a:noFill/>
            <a:ln/>
          </p:spPr>
          <p:txBody>
            <a:bodyPr wrap="square" rtlCol="0" anchor="ctr"/>
            <a:lstStyle/>
            <a:p>
              <a:pPr marL="0" indent="0">
                <a:buNone/>
              </a:pPr>
              <a:endParaRPr lang="en-US" sz="850" dirty="0"/>
            </a:p>
          </p:txBody>
        </p:sp>
        <p:sp>
          <p:nvSpPr>
            <p:cNvPr id="12" name="Text 9"/>
            <p:cNvSpPr/>
            <p:nvPr/>
          </p:nvSpPr>
          <p:spPr>
            <a:xfrm>
              <a:off x="402336" y="4572000"/>
              <a:ext cx="8339328" cy="164592"/>
            </a:xfrm>
            <a:prstGeom prst="rect">
              <a:avLst/>
            </a:prstGeom>
            <a:noFill/>
            <a:ln/>
          </p:spPr>
          <p:txBody>
            <a:bodyPr wrap="square" rtlCol="0" anchor="ctr"/>
            <a:lstStyle/>
            <a:p>
              <a:pPr marL="0" indent="0">
                <a:buNone/>
              </a:pPr>
              <a:endParaRPr lang="en-US" sz="850" dirty="0"/>
            </a:p>
          </p:txBody>
        </p:sp>
      </p:grpSp>
      <p:grpSp>
        <p:nvGrpSpPr>
          <p:cNvPr id="15" name="Group 14">
            <a:extLst>
              <a:ext uri="{FF2B5EF4-FFF2-40B4-BE49-F238E27FC236}">
                <a16:creationId xmlns:a16="http://schemas.microsoft.com/office/drawing/2014/main" id="{1C800F5E-418D-11FD-4918-75FCE9A8A000}"/>
              </a:ext>
            </a:extLst>
          </p:cNvPr>
          <p:cNvGrpSpPr/>
          <p:nvPr/>
        </p:nvGrpSpPr>
        <p:grpSpPr>
          <a:xfrm>
            <a:off x="274320" y="4417568"/>
            <a:ext cx="8595360" cy="475488"/>
            <a:chOff x="274320" y="4773168"/>
            <a:chExt cx="8595360" cy="475488"/>
          </a:xfrm>
        </p:grpSpPr>
        <p:sp>
          <p:nvSpPr>
            <p:cNvPr id="13" name="Shape 10"/>
            <p:cNvSpPr/>
            <p:nvPr/>
          </p:nvSpPr>
          <p:spPr>
            <a:xfrm>
              <a:off x="274320" y="4773168"/>
              <a:ext cx="8595360" cy="475488"/>
            </a:xfrm>
            <a:prstGeom prst="rect">
              <a:avLst/>
            </a:prstGeom>
            <a:solidFill>
              <a:srgbClr val="EAF4F0"/>
            </a:solidFill>
            <a:ln w="9525">
              <a:solidFill>
                <a:srgbClr val="0D7A8A"/>
              </a:solidFill>
              <a:prstDash val="solid"/>
            </a:ln>
          </p:spPr>
          <p:txBody>
            <a:bodyPr/>
            <a:lstStyle/>
            <a:p>
              <a:endParaRPr lang="en-MT"/>
            </a:p>
          </p:txBody>
        </p:sp>
        <p:sp>
          <p:nvSpPr>
            <p:cNvPr id="14" name="Text 11"/>
            <p:cNvSpPr/>
            <p:nvPr/>
          </p:nvSpPr>
          <p:spPr>
            <a:xfrm>
              <a:off x="402336" y="4791456"/>
              <a:ext cx="8339328" cy="438912"/>
            </a:xfrm>
            <a:prstGeom prst="rect">
              <a:avLst/>
            </a:prstGeom>
            <a:noFill/>
            <a:ln/>
          </p:spPr>
          <p:txBody>
            <a:bodyPr wrap="square" rtlCol="0" anchor="ctr"/>
            <a:lstStyle/>
            <a:p>
              <a:pPr marL="0" indent="0">
                <a:lnSpc>
                  <a:spcPct val="120000"/>
                </a:lnSpc>
                <a:buNone/>
              </a:pPr>
              <a:r>
                <a:rPr lang="en-US" sz="880" b="1" dirty="0">
                  <a:solidFill>
                    <a:srgbClr val="0D7A8A"/>
                  </a:solidFill>
                  <a:latin typeface="Calibri" pitchFamily="34" charset="0"/>
                  <a:ea typeface="Calibri" pitchFamily="34" charset="-122"/>
                  <a:cs typeface="Calibri" pitchFamily="34" charset="-120"/>
                </a:rPr>
                <a:t>Decision:  </a:t>
              </a:r>
              <a:r>
                <a:rPr lang="en-US" sz="880" dirty="0">
                  <a:solidFill>
                    <a:srgbClr val="1C2B3A"/>
                  </a:solidFill>
                  <a:latin typeface="Calibri" pitchFamily="34" charset="0"/>
                  <a:ea typeface="Calibri" pitchFamily="34" charset="-122"/>
                  <a:cs typeface="Calibri" pitchFamily="34" charset="-120"/>
                </a:rPr>
                <a:t>Despite the intersectional limitation, Realistic GC offered the best combination of overall accuracy, M–F balance, and throughput across all five evaluated models. The limitation is bounded and documented — it constrains interpretation at the darker end of the scale but does not invalidate the main analysis.</a:t>
              </a:r>
              <a:endParaRPr lang="en-US" sz="880" dirty="0"/>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0">
    <p:bg>
      <p:bgPr>
        <a:solidFill>
          <a:srgbClr val="F7F4EE"/>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2A1A5E"/>
          </a:solidFill>
          <a:ln w="12700">
            <a:solidFill>
              <a:srgbClr val="2A1A5E"/>
            </a:solidFill>
            <a:prstDash val="solid"/>
          </a:ln>
        </p:spPr>
        <p:txBody>
          <a:bodyPr/>
          <a:lstStyle/>
          <a:p>
            <a:endParaRPr lang="en-MT"/>
          </a:p>
        </p:txBody>
      </p:sp>
      <p:sp>
        <p:nvSpPr>
          <p:cNvPr id="3" name="Shape 1"/>
          <p:cNvSpPr/>
          <p:nvPr/>
        </p:nvSpPr>
        <p:spPr>
          <a:xfrm>
            <a:off x="7132320" y="128016"/>
            <a:ext cx="1737360" cy="457200"/>
          </a:xfrm>
          <a:prstGeom prst="rect">
            <a:avLst/>
          </a:prstGeom>
          <a:solidFill>
            <a:srgbClr val="C9A84C"/>
          </a:solidFill>
          <a:ln w="12700">
            <a:solidFill>
              <a:srgbClr val="C9A84C"/>
            </a:solidFill>
            <a:prstDash val="solid"/>
          </a:ln>
        </p:spPr>
        <p:txBody>
          <a:bodyPr/>
          <a:lstStyle/>
          <a:p>
            <a:endParaRPr lang="en-MT"/>
          </a:p>
        </p:txBody>
      </p:sp>
      <p:sp>
        <p:nvSpPr>
          <p:cNvPr id="4" name="Text 2"/>
          <p:cNvSpPr/>
          <p:nvPr/>
        </p:nvSpPr>
        <p:spPr>
          <a:xfrm>
            <a:off x="7132320" y="128016"/>
            <a:ext cx="1737360" cy="457200"/>
          </a:xfrm>
          <a:prstGeom prst="rect">
            <a:avLst/>
          </a:prstGeom>
          <a:noFill/>
          <a:ln/>
        </p:spPr>
        <p:txBody>
          <a:bodyPr wrap="square" rtlCol="0" anchor="ctr"/>
          <a:lstStyle/>
          <a:p>
            <a:pPr marL="0" indent="0" algn="ctr">
              <a:buNone/>
            </a:pPr>
            <a:r>
              <a:rPr lang="en-US" sz="750" b="1" kern="0" spc="50" dirty="0">
                <a:solidFill>
                  <a:srgbClr val="1B3A5C"/>
                </a:solidFill>
                <a:latin typeface="Calibri" pitchFamily="34" charset="0"/>
                <a:ea typeface="Calibri" pitchFamily="34" charset="-122"/>
                <a:cs typeface="Calibri" pitchFamily="34" charset="-120"/>
              </a:rPr>
              <a:t>SUPPLEMENTARY</a:t>
            </a:r>
            <a:endParaRPr lang="en-US" sz="750" dirty="0"/>
          </a:p>
        </p:txBody>
      </p:sp>
      <p:sp>
        <p:nvSpPr>
          <p:cNvPr id="5" name="Text 3"/>
          <p:cNvSpPr/>
          <p:nvPr/>
        </p:nvSpPr>
        <p:spPr>
          <a:xfrm>
            <a:off x="411480" y="0"/>
            <a:ext cx="6583680" cy="713232"/>
          </a:xfrm>
          <a:prstGeom prst="rect">
            <a:avLst/>
          </a:prstGeom>
          <a:noFill/>
          <a:ln/>
        </p:spPr>
        <p:txBody>
          <a:bodyPr wrap="square"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MODEL SELECTION EVIDENCE  ·  SKIN TONE  (1/3)  ·  Baseline Models</a:t>
            </a:r>
            <a:endParaRPr lang="en-US" sz="1400" dirty="0"/>
          </a:p>
        </p:txBody>
      </p:sp>
      <p:sp>
        <p:nvSpPr>
          <p:cNvPr id="6" name="Text 4"/>
          <p:cNvSpPr/>
          <p:nvPr/>
        </p:nvSpPr>
        <p:spPr>
          <a:xfrm>
            <a:off x="274320" y="822960"/>
            <a:ext cx="8595360" cy="237744"/>
          </a:xfrm>
          <a:prstGeom prst="rect">
            <a:avLst/>
          </a:prstGeom>
          <a:noFill/>
          <a:ln/>
        </p:spPr>
        <p:txBody>
          <a:bodyPr wrap="square" rtlCol="0" anchor="ctr"/>
          <a:lstStyle/>
          <a:p>
            <a:pPr marL="0" indent="0">
              <a:buNone/>
            </a:pPr>
            <a:r>
              <a:rPr lang="en-US" sz="950" b="1" dirty="0">
                <a:solidFill>
                  <a:srgbClr val="2A1A5E"/>
                </a:solidFill>
                <a:latin typeface="Calibri" pitchFamily="34" charset="0"/>
                <a:ea typeface="Calibri" pitchFamily="34" charset="-122"/>
                <a:cs typeface="Calibri" pitchFamily="34" charset="-120"/>
              </a:rPr>
              <a:t>Baseline skin tone models evaluated on CCv2, MSTE &amp; FACET  ·  E = exact  ·  ±1 = within-one MST  ·  B = three-bin  (Table 3.5)</a:t>
            </a:r>
            <a:endParaRPr lang="en-US" sz="9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274320" y="1097280"/>
          <a:ext cx="7744968" cy="1920240"/>
        </p:xfrm>
        <a:graphic>
          <a:graphicData uri="http://schemas.openxmlformats.org/drawingml/2006/table">
            <a:tbl>
              <a:tblPr/>
              <a:tblGrid>
                <a:gridCol w="1737360">
                  <a:extLst>
                    <a:ext uri="{9D8B030D-6E8A-4147-A177-3AD203B41FA5}">
                      <a16:colId xmlns:a16="http://schemas.microsoft.com/office/drawing/2014/main" val="20000"/>
                    </a:ext>
                  </a:extLst>
                </a:gridCol>
                <a:gridCol w="667512">
                  <a:extLst>
                    <a:ext uri="{9D8B030D-6E8A-4147-A177-3AD203B41FA5}">
                      <a16:colId xmlns:a16="http://schemas.microsoft.com/office/drawing/2014/main" val="20001"/>
                    </a:ext>
                  </a:extLst>
                </a:gridCol>
                <a:gridCol w="667512">
                  <a:extLst>
                    <a:ext uri="{9D8B030D-6E8A-4147-A177-3AD203B41FA5}">
                      <a16:colId xmlns:a16="http://schemas.microsoft.com/office/drawing/2014/main" val="20002"/>
                    </a:ext>
                  </a:extLst>
                </a:gridCol>
                <a:gridCol w="667512">
                  <a:extLst>
                    <a:ext uri="{9D8B030D-6E8A-4147-A177-3AD203B41FA5}">
                      <a16:colId xmlns:a16="http://schemas.microsoft.com/office/drawing/2014/main" val="20003"/>
                    </a:ext>
                  </a:extLst>
                </a:gridCol>
                <a:gridCol w="667512">
                  <a:extLst>
                    <a:ext uri="{9D8B030D-6E8A-4147-A177-3AD203B41FA5}">
                      <a16:colId xmlns:a16="http://schemas.microsoft.com/office/drawing/2014/main" val="20004"/>
                    </a:ext>
                  </a:extLst>
                </a:gridCol>
                <a:gridCol w="667512">
                  <a:extLst>
                    <a:ext uri="{9D8B030D-6E8A-4147-A177-3AD203B41FA5}">
                      <a16:colId xmlns:a16="http://schemas.microsoft.com/office/drawing/2014/main" val="20005"/>
                    </a:ext>
                  </a:extLst>
                </a:gridCol>
                <a:gridCol w="667512">
                  <a:extLst>
                    <a:ext uri="{9D8B030D-6E8A-4147-A177-3AD203B41FA5}">
                      <a16:colId xmlns:a16="http://schemas.microsoft.com/office/drawing/2014/main" val="20006"/>
                    </a:ext>
                  </a:extLst>
                </a:gridCol>
                <a:gridCol w="667512">
                  <a:extLst>
                    <a:ext uri="{9D8B030D-6E8A-4147-A177-3AD203B41FA5}">
                      <a16:colId xmlns:a16="http://schemas.microsoft.com/office/drawing/2014/main" val="20007"/>
                    </a:ext>
                  </a:extLst>
                </a:gridCol>
                <a:gridCol w="667512">
                  <a:extLst>
                    <a:ext uri="{9D8B030D-6E8A-4147-A177-3AD203B41FA5}">
                      <a16:colId xmlns:a16="http://schemas.microsoft.com/office/drawing/2014/main" val="20008"/>
                    </a:ext>
                  </a:extLst>
                </a:gridCol>
                <a:gridCol w="667512">
                  <a:extLst>
                    <a:ext uri="{9D8B030D-6E8A-4147-A177-3AD203B41FA5}">
                      <a16:colId xmlns:a16="http://schemas.microsoft.com/office/drawing/2014/main" val="20009"/>
                    </a:ext>
                  </a:extLst>
                </a:gridCol>
              </a:tblGrid>
              <a:tr h="38404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Model</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MSTE</a:t>
                      </a:r>
                      <a:endParaRPr lang="en-US" sz="900" dirty="0">
                        <a:latin typeface="Calibri" charset="0"/>
                        <a:ea typeface="Calibri" charset="0"/>
                        <a:cs typeface="Calibri" charset="0"/>
                      </a:endParaRPr>
                    </a:p>
                    <a:p>
                      <a:pPr marL="0" indent="0" algn="ctr">
                        <a:buNone/>
                      </a:pPr>
                      <a:r>
                        <a:rPr lang="en-US" sz="900" b="1" dirty="0">
                          <a:solidFill>
                            <a:srgbClr val="FFFFFF"/>
                          </a:solidFill>
                          <a:latin typeface="Calibri" pitchFamily="34" charset="0"/>
                          <a:ea typeface="Calibri" pitchFamily="34" charset="-122"/>
                          <a:cs typeface="Calibri" pitchFamily="34" charset="-120"/>
                        </a:rPr>
                        <a:t>E</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MSTE</a:t>
                      </a:r>
                      <a:endParaRPr lang="en-US" sz="900" dirty="0">
                        <a:latin typeface="Calibri" charset="0"/>
                        <a:ea typeface="Calibri" charset="0"/>
                        <a:cs typeface="Calibri" charset="0"/>
                      </a:endParaRPr>
                    </a:p>
                    <a:p>
                      <a:pPr marL="0" indent="0" algn="ctr">
                        <a:buNone/>
                      </a:pPr>
                      <a:r>
                        <a:rPr lang="en-US" sz="900" b="1" dirty="0">
                          <a:solidFill>
                            <a:srgbClr val="FFFFFF"/>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MSTE</a:t>
                      </a:r>
                      <a:endParaRPr lang="en-US" sz="900" dirty="0">
                        <a:latin typeface="Calibri" charset="0"/>
                        <a:ea typeface="Calibri" charset="0"/>
                        <a:cs typeface="Calibri" charset="0"/>
                      </a:endParaRPr>
                    </a:p>
                    <a:p>
                      <a:pPr marL="0" indent="0" algn="ctr">
                        <a:buNone/>
                      </a:pPr>
                      <a:r>
                        <a:rPr lang="en-US" sz="900" b="1" dirty="0">
                          <a:solidFill>
                            <a:srgbClr val="FFFFFF"/>
                          </a:solidFill>
                          <a:latin typeface="Calibri" pitchFamily="34" charset="0"/>
                          <a:ea typeface="Calibri" pitchFamily="34" charset="-122"/>
                          <a:cs typeface="Calibri" pitchFamily="34" charset="-120"/>
                        </a:rPr>
                        <a:t>B</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CCv2</a:t>
                      </a:r>
                      <a:endParaRPr lang="en-US" sz="900" dirty="0">
                        <a:latin typeface="Calibri" charset="0"/>
                        <a:ea typeface="Calibri" charset="0"/>
                        <a:cs typeface="Calibri" charset="0"/>
                      </a:endParaRPr>
                    </a:p>
                    <a:p>
                      <a:pPr marL="0" indent="0" algn="ctr">
                        <a:buNone/>
                      </a:pPr>
                      <a:r>
                        <a:rPr lang="en-US" sz="900" b="1" dirty="0">
                          <a:solidFill>
                            <a:srgbClr val="FFFFFF"/>
                          </a:solidFill>
                          <a:latin typeface="Calibri" pitchFamily="34" charset="0"/>
                          <a:ea typeface="Calibri" pitchFamily="34" charset="-122"/>
                          <a:cs typeface="Calibri" pitchFamily="34" charset="-120"/>
                        </a:rPr>
                        <a:t>E</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CCv2</a:t>
                      </a:r>
                      <a:endParaRPr lang="en-US" sz="900" dirty="0">
                        <a:latin typeface="Calibri" charset="0"/>
                        <a:ea typeface="Calibri" charset="0"/>
                        <a:cs typeface="Calibri" charset="0"/>
                      </a:endParaRPr>
                    </a:p>
                    <a:p>
                      <a:pPr marL="0" indent="0" algn="ctr">
                        <a:buNone/>
                      </a:pPr>
                      <a:r>
                        <a:rPr lang="en-US" sz="900" b="1" dirty="0">
                          <a:solidFill>
                            <a:srgbClr val="FFFFFF"/>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CCv2</a:t>
                      </a:r>
                      <a:endParaRPr lang="en-US" sz="900" dirty="0">
                        <a:latin typeface="Calibri" charset="0"/>
                        <a:ea typeface="Calibri" charset="0"/>
                        <a:cs typeface="Calibri" charset="0"/>
                      </a:endParaRPr>
                    </a:p>
                    <a:p>
                      <a:pPr marL="0" indent="0" algn="ctr">
                        <a:buNone/>
                      </a:pPr>
                      <a:r>
                        <a:rPr lang="en-US" sz="900" b="1" dirty="0">
                          <a:solidFill>
                            <a:srgbClr val="FFFFFF"/>
                          </a:solidFill>
                          <a:latin typeface="Calibri" pitchFamily="34" charset="0"/>
                          <a:ea typeface="Calibri" pitchFamily="34" charset="-122"/>
                          <a:cs typeface="Calibri" pitchFamily="34" charset="-120"/>
                        </a:rPr>
                        <a:t>B</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FACET</a:t>
                      </a:r>
                      <a:endParaRPr lang="en-US" sz="900" dirty="0">
                        <a:latin typeface="Calibri" charset="0"/>
                        <a:ea typeface="Calibri" charset="0"/>
                        <a:cs typeface="Calibri" charset="0"/>
                      </a:endParaRPr>
                    </a:p>
                    <a:p>
                      <a:pPr marL="0" indent="0" algn="ctr">
                        <a:buNone/>
                      </a:pPr>
                      <a:r>
                        <a:rPr lang="en-US" sz="900" b="1" dirty="0">
                          <a:solidFill>
                            <a:srgbClr val="FFFFFF"/>
                          </a:solidFill>
                          <a:latin typeface="Calibri" pitchFamily="34" charset="0"/>
                          <a:ea typeface="Calibri" pitchFamily="34" charset="-122"/>
                          <a:cs typeface="Calibri" pitchFamily="34" charset="-120"/>
                        </a:rPr>
                        <a:t>E</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FACET</a:t>
                      </a:r>
                      <a:endParaRPr lang="en-US" sz="900" dirty="0">
                        <a:latin typeface="Calibri" charset="0"/>
                        <a:ea typeface="Calibri" charset="0"/>
                        <a:cs typeface="Calibri" charset="0"/>
                      </a:endParaRPr>
                    </a:p>
                    <a:p>
                      <a:pPr marL="0" indent="0" algn="ctr">
                        <a:buNone/>
                      </a:pPr>
                      <a:r>
                        <a:rPr lang="en-US" sz="900" b="1" dirty="0">
                          <a:solidFill>
                            <a:srgbClr val="FFFFFF"/>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FACET</a:t>
                      </a:r>
                      <a:endParaRPr lang="en-US" sz="900" dirty="0">
                        <a:latin typeface="Calibri" charset="0"/>
                        <a:ea typeface="Calibri" charset="0"/>
                        <a:cs typeface="Calibri" charset="0"/>
                      </a:endParaRPr>
                    </a:p>
                    <a:p>
                      <a:pPr marL="0" indent="0" algn="ctr">
                        <a:buNone/>
                      </a:pPr>
                      <a:r>
                        <a:rPr lang="en-US" sz="900" b="1" dirty="0">
                          <a:solidFill>
                            <a:srgbClr val="FFFFFF"/>
                          </a:solidFill>
                          <a:latin typeface="Calibri" pitchFamily="34" charset="0"/>
                          <a:ea typeface="Calibri" pitchFamily="34" charset="-122"/>
                          <a:cs typeface="Calibri" pitchFamily="34" charset="-120"/>
                        </a:rPr>
                        <a:t>B</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extLst>
                  <a:ext uri="{0D108BD9-81ED-4DB2-BD59-A6C34878D82A}">
                    <a16:rowId xmlns:a16="http://schemas.microsoft.com/office/drawing/2014/main" val="10000"/>
                  </a:ext>
                </a:extLst>
              </a:tr>
              <a:tr h="384048">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SkinTone Library</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0.112</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0.281</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0.425</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0.084</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0.298</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0.603</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0.073</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0.239</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0.421</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RandomForest</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0.132</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0.335</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0.410</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0.346</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0.756</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0.700</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0.176</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0.550</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0.484</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extLst>
                  <a:ext uri="{0D108BD9-81ED-4DB2-BD59-A6C34878D82A}">
                    <a16:rowId xmlns:a16="http://schemas.microsoft.com/office/drawing/2014/main" val="10002"/>
                  </a:ext>
                </a:extLst>
              </a:tr>
              <a:tr h="384048">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DenseNet-121</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0.210</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0.517</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0.564</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0.303</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0.692</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0.697</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0.210</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0.529</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0.576</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900" b="1" dirty="0">
                          <a:solidFill>
                            <a:srgbClr val="0D8A5E"/>
                          </a:solidFill>
                          <a:latin typeface="Calibri" pitchFamily="34" charset="0"/>
                          <a:ea typeface="Calibri" pitchFamily="34" charset="-122"/>
                          <a:cs typeface="Calibri" pitchFamily="34" charset="-120"/>
                        </a:rPr>
                        <a:t>VGG-16 (best) ★</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0.159</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0.424</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0.566</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0.375</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0.804</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0.778</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0.165</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0.471</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0.593</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extLst>
                  <a:ext uri="{0D108BD9-81ED-4DB2-BD59-A6C34878D82A}">
                    <a16:rowId xmlns:a16="http://schemas.microsoft.com/office/drawing/2014/main" val="10004"/>
                  </a:ext>
                </a:extLst>
              </a:tr>
            </a:tbl>
          </a:graphicData>
        </a:graphic>
      </p:graphicFrame>
      <p:sp>
        <p:nvSpPr>
          <p:cNvPr id="8" name="Text 5"/>
          <p:cNvSpPr/>
          <p:nvPr/>
        </p:nvSpPr>
        <p:spPr>
          <a:xfrm>
            <a:off x="274320" y="3098292"/>
            <a:ext cx="8595360" cy="384048"/>
          </a:xfrm>
          <a:prstGeom prst="rect">
            <a:avLst/>
          </a:prstGeom>
          <a:noFill/>
          <a:ln/>
        </p:spPr>
        <p:txBody>
          <a:bodyPr wrap="square" rtlCol="0" anchor="ctr"/>
          <a:lstStyle/>
          <a:p>
            <a:pPr marL="0" indent="0">
              <a:lnSpc>
                <a:spcPct val="120000"/>
              </a:lnSpc>
              <a:buNone/>
            </a:pPr>
            <a:r>
              <a:rPr lang="en-US" sz="850" dirty="0">
                <a:solidFill>
                  <a:srgbClr val="4A6274"/>
                </a:solidFill>
                <a:latin typeface="Calibri" pitchFamily="34" charset="0"/>
                <a:ea typeface="Calibri" pitchFamily="34" charset="-122"/>
                <a:cs typeface="Calibri" pitchFamily="34" charset="-120"/>
              </a:rPr>
              <a:t>VGG-16 outperformed all baselines across the board and was advanced to a 16-variant ablation across 4 axes: output formulation (classification vs regression) · colour space (RGB vs LAB) · background fill (black vs avg. skin-tone bg).  Results below — regression variants only, which were consistently superior to classification.</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a:extLst>
            <a:ext uri="{FF2B5EF4-FFF2-40B4-BE49-F238E27FC236}">
              <a16:creationId xmlns:a16="http://schemas.microsoft.com/office/drawing/2014/main" id="{FA70278F-0A43-E293-371C-2A4C43D63008}"/>
            </a:ext>
          </a:extLst>
        </p:cNvPr>
        <p:cNvGrpSpPr/>
        <p:nvPr/>
      </p:nvGrpSpPr>
      <p:grpSpPr>
        <a:xfrm>
          <a:off x="0" y="0"/>
          <a:ext cx="0" cy="0"/>
          <a:chOff x="0" y="0"/>
          <a:chExt cx="0" cy="0"/>
        </a:xfrm>
      </p:grpSpPr>
      <p:sp>
        <p:nvSpPr>
          <p:cNvPr id="9" name="Text 6">
            <a:extLst>
              <a:ext uri="{FF2B5EF4-FFF2-40B4-BE49-F238E27FC236}">
                <a16:creationId xmlns:a16="http://schemas.microsoft.com/office/drawing/2014/main" id="{58A635B4-3807-44B2-2AE9-553B306A6DD3}"/>
              </a:ext>
            </a:extLst>
          </p:cNvPr>
          <p:cNvSpPr/>
          <p:nvPr/>
        </p:nvSpPr>
        <p:spPr>
          <a:xfrm>
            <a:off x="274320" y="822960"/>
            <a:ext cx="8595360" cy="237744"/>
          </a:xfrm>
          <a:prstGeom prst="rect">
            <a:avLst/>
          </a:prstGeom>
          <a:noFill/>
          <a:ln/>
        </p:spPr>
        <p:txBody>
          <a:bodyPr wrap="square" rtlCol="0" anchor="ctr"/>
          <a:lstStyle/>
          <a:p>
            <a:pPr marL="0" indent="0">
              <a:buNone/>
            </a:pPr>
            <a:r>
              <a:rPr lang="en-US" sz="950" b="1" dirty="0">
                <a:solidFill>
                  <a:srgbClr val="2A1A5E"/>
                </a:solidFill>
                <a:latin typeface="Calibri" pitchFamily="34" charset="0"/>
                <a:ea typeface="Calibri" pitchFamily="34" charset="-122"/>
                <a:cs typeface="Calibri" pitchFamily="34" charset="-120"/>
              </a:rPr>
              <a:t>VGG-16 MST10 Ablation — Regression Variants  (Table 3.6, condensed)  ·  BB = black background  ·  AB = avg. skin-tone background</a:t>
            </a:r>
            <a:endParaRPr lang="en-US" sz="950" dirty="0"/>
          </a:p>
        </p:txBody>
      </p:sp>
      <p:sp>
        <p:nvSpPr>
          <p:cNvPr id="2" name="Shape 0">
            <a:extLst>
              <a:ext uri="{FF2B5EF4-FFF2-40B4-BE49-F238E27FC236}">
                <a16:creationId xmlns:a16="http://schemas.microsoft.com/office/drawing/2014/main" id="{DFC03F59-6B3E-0BAB-98CC-315ACE6BF4A9}"/>
              </a:ext>
            </a:extLst>
          </p:cNvPr>
          <p:cNvSpPr/>
          <p:nvPr/>
        </p:nvSpPr>
        <p:spPr>
          <a:xfrm>
            <a:off x="0" y="0"/>
            <a:ext cx="9144000" cy="713232"/>
          </a:xfrm>
          <a:prstGeom prst="rect">
            <a:avLst/>
          </a:prstGeom>
          <a:solidFill>
            <a:srgbClr val="2A1A5E"/>
          </a:solidFill>
          <a:ln w="12700">
            <a:solidFill>
              <a:srgbClr val="2A1A5E"/>
            </a:solidFill>
            <a:prstDash val="solid"/>
          </a:ln>
        </p:spPr>
        <p:txBody>
          <a:bodyPr/>
          <a:lstStyle/>
          <a:p>
            <a:endParaRPr lang="en-MT"/>
          </a:p>
        </p:txBody>
      </p:sp>
      <p:sp>
        <p:nvSpPr>
          <p:cNvPr id="3" name="Shape 1">
            <a:extLst>
              <a:ext uri="{FF2B5EF4-FFF2-40B4-BE49-F238E27FC236}">
                <a16:creationId xmlns:a16="http://schemas.microsoft.com/office/drawing/2014/main" id="{322ACB28-22BD-1E3C-8DE9-A7D69DA7F581}"/>
              </a:ext>
            </a:extLst>
          </p:cNvPr>
          <p:cNvSpPr/>
          <p:nvPr/>
        </p:nvSpPr>
        <p:spPr>
          <a:xfrm>
            <a:off x="7132320" y="128016"/>
            <a:ext cx="1737360" cy="457200"/>
          </a:xfrm>
          <a:prstGeom prst="rect">
            <a:avLst/>
          </a:prstGeom>
          <a:solidFill>
            <a:srgbClr val="C9A84C"/>
          </a:solidFill>
          <a:ln w="12700">
            <a:solidFill>
              <a:srgbClr val="C9A84C"/>
            </a:solidFill>
            <a:prstDash val="solid"/>
          </a:ln>
        </p:spPr>
        <p:txBody>
          <a:bodyPr/>
          <a:lstStyle/>
          <a:p>
            <a:endParaRPr lang="en-MT"/>
          </a:p>
        </p:txBody>
      </p:sp>
      <p:sp>
        <p:nvSpPr>
          <p:cNvPr id="4" name="Text 2">
            <a:extLst>
              <a:ext uri="{FF2B5EF4-FFF2-40B4-BE49-F238E27FC236}">
                <a16:creationId xmlns:a16="http://schemas.microsoft.com/office/drawing/2014/main" id="{3CE84D75-433B-9125-45FD-3C58783BE8D3}"/>
              </a:ext>
            </a:extLst>
          </p:cNvPr>
          <p:cNvSpPr/>
          <p:nvPr/>
        </p:nvSpPr>
        <p:spPr>
          <a:xfrm>
            <a:off x="7132320" y="128016"/>
            <a:ext cx="1737360" cy="457200"/>
          </a:xfrm>
          <a:prstGeom prst="rect">
            <a:avLst/>
          </a:prstGeom>
          <a:noFill/>
          <a:ln/>
        </p:spPr>
        <p:txBody>
          <a:bodyPr wrap="square" rtlCol="0" anchor="ctr"/>
          <a:lstStyle/>
          <a:p>
            <a:pPr marL="0" indent="0" algn="ctr">
              <a:buNone/>
            </a:pPr>
            <a:r>
              <a:rPr lang="en-US" sz="750" b="1" kern="0" spc="50" dirty="0">
                <a:solidFill>
                  <a:srgbClr val="1B3A5C"/>
                </a:solidFill>
                <a:latin typeface="Calibri" pitchFamily="34" charset="0"/>
                <a:ea typeface="Calibri" pitchFamily="34" charset="-122"/>
                <a:cs typeface="Calibri" pitchFamily="34" charset="-120"/>
              </a:rPr>
              <a:t>SUPPLEMENTARY</a:t>
            </a:r>
            <a:endParaRPr lang="en-US" sz="750" dirty="0"/>
          </a:p>
        </p:txBody>
      </p:sp>
      <p:sp>
        <p:nvSpPr>
          <p:cNvPr id="5" name="Text 3">
            <a:extLst>
              <a:ext uri="{FF2B5EF4-FFF2-40B4-BE49-F238E27FC236}">
                <a16:creationId xmlns:a16="http://schemas.microsoft.com/office/drawing/2014/main" id="{02BF10B8-7106-6CAF-94AE-A7B9D4C89F83}"/>
              </a:ext>
            </a:extLst>
          </p:cNvPr>
          <p:cNvSpPr/>
          <p:nvPr/>
        </p:nvSpPr>
        <p:spPr>
          <a:xfrm>
            <a:off x="411480" y="0"/>
            <a:ext cx="6583680" cy="713232"/>
          </a:xfrm>
          <a:prstGeom prst="rect">
            <a:avLst/>
          </a:prstGeom>
          <a:noFill/>
          <a:ln/>
        </p:spPr>
        <p:txBody>
          <a:bodyPr wrap="square"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MODEL SELECTION EVIDENCE  ·  SKIN TONE  (2/3)  ·  VGG-16 Ablation</a:t>
            </a:r>
            <a:endParaRPr lang="en-US" sz="1400" dirty="0"/>
          </a:p>
        </p:txBody>
      </p:sp>
      <p:graphicFrame>
        <p:nvGraphicFramePr>
          <p:cNvPr id="41" name="Table 1">
            <a:extLst>
              <a:ext uri="{FF2B5EF4-FFF2-40B4-BE49-F238E27FC236}">
                <a16:creationId xmlns:a16="http://schemas.microsoft.com/office/drawing/2014/main" id="{93D1760C-7355-8A97-D40F-958E074D02F9}"/>
              </a:ext>
            </a:extLst>
          </p:cNvPr>
          <p:cNvGraphicFramePr>
            <a:graphicFrameLocks noGrp="1"/>
          </p:cNvGraphicFramePr>
          <p:nvPr>
            <p:extLst>
              <p:ext uri="{D42A27DB-BD31-4B8C-83A1-F6EECF244321}">
                <p14:modId xmlns:p14="http://schemas.microsoft.com/office/powerpoint/2010/main" val="746413085"/>
              </p:ext>
            </p:extLst>
          </p:nvPr>
        </p:nvGraphicFramePr>
        <p:xfrm>
          <a:off x="274320" y="1088136"/>
          <a:ext cx="7735824" cy="1729232"/>
        </p:xfrm>
        <a:graphic>
          <a:graphicData uri="http://schemas.openxmlformats.org/drawingml/2006/table">
            <a:tbl>
              <a:tblPr/>
              <a:tblGrid>
                <a:gridCol w="1371600">
                  <a:extLst>
                    <a:ext uri="{9D8B030D-6E8A-4147-A177-3AD203B41FA5}">
                      <a16:colId xmlns:a16="http://schemas.microsoft.com/office/drawing/2014/main" val="20000"/>
                    </a:ext>
                  </a:extLst>
                </a:gridCol>
                <a:gridCol w="795528">
                  <a:extLst>
                    <a:ext uri="{9D8B030D-6E8A-4147-A177-3AD203B41FA5}">
                      <a16:colId xmlns:a16="http://schemas.microsoft.com/office/drawing/2014/main" val="20001"/>
                    </a:ext>
                  </a:extLst>
                </a:gridCol>
                <a:gridCol w="795528">
                  <a:extLst>
                    <a:ext uri="{9D8B030D-6E8A-4147-A177-3AD203B41FA5}">
                      <a16:colId xmlns:a16="http://schemas.microsoft.com/office/drawing/2014/main" val="20002"/>
                    </a:ext>
                  </a:extLst>
                </a:gridCol>
                <a:gridCol w="795528">
                  <a:extLst>
                    <a:ext uri="{9D8B030D-6E8A-4147-A177-3AD203B41FA5}">
                      <a16:colId xmlns:a16="http://schemas.microsoft.com/office/drawing/2014/main" val="20003"/>
                    </a:ext>
                  </a:extLst>
                </a:gridCol>
                <a:gridCol w="795528">
                  <a:extLst>
                    <a:ext uri="{9D8B030D-6E8A-4147-A177-3AD203B41FA5}">
                      <a16:colId xmlns:a16="http://schemas.microsoft.com/office/drawing/2014/main" val="20004"/>
                    </a:ext>
                  </a:extLst>
                </a:gridCol>
                <a:gridCol w="795528">
                  <a:extLst>
                    <a:ext uri="{9D8B030D-6E8A-4147-A177-3AD203B41FA5}">
                      <a16:colId xmlns:a16="http://schemas.microsoft.com/office/drawing/2014/main" val="20005"/>
                    </a:ext>
                  </a:extLst>
                </a:gridCol>
                <a:gridCol w="795528">
                  <a:extLst>
                    <a:ext uri="{9D8B030D-6E8A-4147-A177-3AD203B41FA5}">
                      <a16:colId xmlns:a16="http://schemas.microsoft.com/office/drawing/2014/main" val="20006"/>
                    </a:ext>
                  </a:extLst>
                </a:gridCol>
                <a:gridCol w="795528">
                  <a:extLst>
                    <a:ext uri="{9D8B030D-6E8A-4147-A177-3AD203B41FA5}">
                      <a16:colId xmlns:a16="http://schemas.microsoft.com/office/drawing/2014/main" val="20007"/>
                    </a:ext>
                  </a:extLst>
                </a:gridCol>
                <a:gridCol w="795528">
                  <a:extLst>
                    <a:ext uri="{9D8B030D-6E8A-4147-A177-3AD203B41FA5}">
                      <a16:colId xmlns:a16="http://schemas.microsoft.com/office/drawing/2014/main" val="20008"/>
                    </a:ext>
                  </a:extLst>
                </a:gridCol>
              </a:tblGrid>
              <a:tr h="33832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Space / BG</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MSTE</a:t>
                      </a:r>
                      <a:endParaRPr lang="en-US" sz="900" dirty="0">
                        <a:latin typeface="Calibri" charset="0"/>
                        <a:ea typeface="Calibri" charset="0"/>
                        <a:cs typeface="Calibri" charset="0"/>
                      </a:endParaRPr>
                    </a:p>
                    <a:p>
                      <a:pPr marL="0" indent="0" algn="ctr">
                        <a:buNone/>
                      </a:pPr>
                      <a:r>
                        <a:rPr lang="en-US" sz="900" b="1" dirty="0">
                          <a:solidFill>
                            <a:srgbClr val="FFFFFF"/>
                          </a:solidFill>
                          <a:latin typeface="Calibri" pitchFamily="34" charset="0"/>
                          <a:ea typeface="Calibri" pitchFamily="34" charset="-122"/>
                          <a:cs typeface="Calibri" pitchFamily="34" charset="-120"/>
                        </a:rPr>
                        <a:t>E</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MSTE</a:t>
                      </a:r>
                      <a:endParaRPr lang="en-US" sz="900" dirty="0">
                        <a:latin typeface="Calibri" charset="0"/>
                        <a:ea typeface="Calibri" charset="0"/>
                        <a:cs typeface="Calibri" charset="0"/>
                      </a:endParaRPr>
                    </a:p>
                    <a:p>
                      <a:pPr marL="0" indent="0" algn="ctr">
                        <a:buNone/>
                      </a:pPr>
                      <a:r>
                        <a:rPr lang="en-US" sz="900" b="1" dirty="0">
                          <a:solidFill>
                            <a:srgbClr val="FFFFFF"/>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CCv2</a:t>
                      </a:r>
                      <a:endParaRPr lang="en-US" sz="900" dirty="0">
                        <a:latin typeface="Calibri" charset="0"/>
                        <a:ea typeface="Calibri" charset="0"/>
                        <a:cs typeface="Calibri" charset="0"/>
                      </a:endParaRPr>
                    </a:p>
                    <a:p>
                      <a:pPr marL="0" indent="0" algn="ctr">
                        <a:buNone/>
                      </a:pPr>
                      <a:r>
                        <a:rPr lang="en-US" sz="900" b="1" dirty="0">
                          <a:solidFill>
                            <a:srgbClr val="FFFFFF"/>
                          </a:solidFill>
                          <a:latin typeface="Calibri" pitchFamily="34" charset="0"/>
                          <a:ea typeface="Calibri" pitchFamily="34" charset="-122"/>
                          <a:cs typeface="Calibri" pitchFamily="34" charset="-120"/>
                        </a:rPr>
                        <a:t>E</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CCv2</a:t>
                      </a:r>
                      <a:endParaRPr lang="en-US" sz="900" dirty="0">
                        <a:latin typeface="Calibri" charset="0"/>
                        <a:ea typeface="Calibri" charset="0"/>
                        <a:cs typeface="Calibri" charset="0"/>
                      </a:endParaRPr>
                    </a:p>
                    <a:p>
                      <a:pPr marL="0" indent="0" algn="ctr">
                        <a:buNone/>
                      </a:pPr>
                      <a:r>
                        <a:rPr lang="en-US" sz="900" b="1" dirty="0">
                          <a:solidFill>
                            <a:srgbClr val="FFFFFF"/>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CCv2</a:t>
                      </a:r>
                      <a:endParaRPr lang="en-US" sz="900" dirty="0">
                        <a:latin typeface="Calibri" charset="0"/>
                        <a:ea typeface="Calibri" charset="0"/>
                        <a:cs typeface="Calibri" charset="0"/>
                      </a:endParaRPr>
                    </a:p>
                    <a:p>
                      <a:pPr marL="0" indent="0" algn="ctr">
                        <a:buNone/>
                      </a:pPr>
                      <a:r>
                        <a:rPr lang="en-US" sz="900" b="1" dirty="0">
                          <a:solidFill>
                            <a:srgbClr val="FFFFFF"/>
                          </a:solidFill>
                          <a:latin typeface="Calibri" pitchFamily="34" charset="0"/>
                          <a:ea typeface="Calibri" pitchFamily="34" charset="-122"/>
                          <a:cs typeface="Calibri" pitchFamily="34" charset="-120"/>
                        </a:rPr>
                        <a:t>B</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FACET</a:t>
                      </a:r>
                      <a:endParaRPr lang="en-US" sz="900" dirty="0">
                        <a:latin typeface="Calibri" charset="0"/>
                        <a:ea typeface="Calibri" charset="0"/>
                        <a:cs typeface="Calibri" charset="0"/>
                      </a:endParaRPr>
                    </a:p>
                    <a:p>
                      <a:pPr marL="0" indent="0" algn="ctr">
                        <a:buNone/>
                      </a:pPr>
                      <a:r>
                        <a:rPr lang="en-US" sz="900" b="1" dirty="0">
                          <a:solidFill>
                            <a:srgbClr val="FFFFFF"/>
                          </a:solidFill>
                          <a:latin typeface="Calibri" pitchFamily="34" charset="0"/>
                          <a:ea typeface="Calibri" pitchFamily="34" charset="-122"/>
                          <a:cs typeface="Calibri" pitchFamily="34" charset="-120"/>
                        </a:rPr>
                        <a:t>E</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FACET</a:t>
                      </a:r>
                      <a:endParaRPr lang="en-US" sz="900" dirty="0">
                        <a:latin typeface="Calibri" charset="0"/>
                        <a:ea typeface="Calibri" charset="0"/>
                        <a:cs typeface="Calibri" charset="0"/>
                      </a:endParaRPr>
                    </a:p>
                    <a:p>
                      <a:pPr marL="0" indent="0" algn="ctr">
                        <a:buNone/>
                      </a:pPr>
                      <a:r>
                        <a:rPr lang="en-US" sz="900" b="1" dirty="0">
                          <a:solidFill>
                            <a:srgbClr val="FFFFFF"/>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FACET</a:t>
                      </a:r>
                      <a:endParaRPr lang="en-US" sz="900" dirty="0">
                        <a:latin typeface="Calibri" charset="0"/>
                        <a:ea typeface="Calibri" charset="0"/>
                        <a:cs typeface="Calibri" charset="0"/>
                      </a:endParaRPr>
                    </a:p>
                    <a:p>
                      <a:pPr marL="0" indent="0" algn="ctr">
                        <a:buNone/>
                      </a:pPr>
                      <a:r>
                        <a:rPr lang="en-US" sz="900" b="1" dirty="0">
                          <a:solidFill>
                            <a:srgbClr val="FFFFFF"/>
                          </a:solidFill>
                          <a:latin typeface="Calibri" pitchFamily="34" charset="0"/>
                          <a:ea typeface="Calibri" pitchFamily="34" charset="-122"/>
                          <a:cs typeface="Calibri" pitchFamily="34" charset="-120"/>
                        </a:rPr>
                        <a:t>B</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extLst>
                  <a:ext uri="{0D108BD9-81ED-4DB2-BD59-A6C34878D82A}">
                    <a16:rowId xmlns:a16="http://schemas.microsoft.com/office/drawing/2014/main" val="10000"/>
                  </a:ext>
                </a:extLst>
              </a:tr>
              <a:tr h="338328">
                <a:tc>
                  <a:txBody>
                    <a:bodyPr/>
                    <a:lstStyle/>
                    <a:p>
                      <a:pPr marL="0" indent="0" algn="l">
                        <a:buNone/>
                      </a:pPr>
                      <a:r>
                        <a:rPr lang="en-US" sz="900" b="1" dirty="0">
                          <a:solidFill>
                            <a:srgbClr val="0D8A5E"/>
                          </a:solidFill>
                          <a:latin typeface="Calibri" pitchFamily="34" charset="0"/>
                          <a:ea typeface="Calibri" pitchFamily="34" charset="-122"/>
                          <a:cs typeface="Calibri" pitchFamily="34" charset="-120"/>
                        </a:rPr>
                        <a:t>RGB / BB  ★</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0.159</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0.424</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0.375</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0.804</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0.778</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0.165</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0.471</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0.593</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extLst>
                  <a:ext uri="{0D108BD9-81ED-4DB2-BD59-A6C34878D82A}">
                    <a16:rowId xmlns:a16="http://schemas.microsoft.com/office/drawing/2014/main" val="10001"/>
                  </a:ext>
                </a:extLst>
              </a:tr>
              <a:tr h="338328">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RGB / AB</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0.132</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0.367</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0.374</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0.784</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0.783</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0.173</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0.499</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0.572</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8328">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LAB / BB</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0.146</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0.423</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0.350</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0.776</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0.734</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0.185</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0.532</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0.587</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extLst>
                  <a:ext uri="{0D108BD9-81ED-4DB2-BD59-A6C34878D82A}">
                    <a16:rowId xmlns:a16="http://schemas.microsoft.com/office/drawing/2014/main" val="10003"/>
                  </a:ext>
                </a:extLst>
              </a:tr>
              <a:tr h="338328">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LAB / AB</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0.163</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0.494</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0.370</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0.778</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0.775</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0.207</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0.567</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0.596</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1" name="Shape 7">
            <a:extLst>
              <a:ext uri="{FF2B5EF4-FFF2-40B4-BE49-F238E27FC236}">
                <a16:creationId xmlns:a16="http://schemas.microsoft.com/office/drawing/2014/main" id="{62E740B4-5411-9201-550C-914E9552310C}"/>
              </a:ext>
            </a:extLst>
          </p:cNvPr>
          <p:cNvSpPr/>
          <p:nvPr/>
        </p:nvSpPr>
        <p:spPr>
          <a:xfrm>
            <a:off x="274320" y="2906268"/>
            <a:ext cx="8595360" cy="475488"/>
          </a:xfrm>
          <a:prstGeom prst="rect">
            <a:avLst/>
          </a:prstGeom>
          <a:solidFill>
            <a:srgbClr val="EAF4F0"/>
          </a:solidFill>
          <a:ln w="9525">
            <a:solidFill>
              <a:srgbClr val="0D7A8A"/>
            </a:solidFill>
            <a:prstDash val="solid"/>
          </a:ln>
        </p:spPr>
        <p:txBody>
          <a:bodyPr/>
          <a:lstStyle/>
          <a:p>
            <a:endParaRPr lang="en-MT"/>
          </a:p>
        </p:txBody>
      </p:sp>
      <p:sp>
        <p:nvSpPr>
          <p:cNvPr id="12" name="Text 8">
            <a:extLst>
              <a:ext uri="{FF2B5EF4-FFF2-40B4-BE49-F238E27FC236}">
                <a16:creationId xmlns:a16="http://schemas.microsoft.com/office/drawing/2014/main" id="{4F45D458-5711-A764-9D6D-84611C7F09CD}"/>
              </a:ext>
            </a:extLst>
          </p:cNvPr>
          <p:cNvSpPr/>
          <p:nvPr/>
        </p:nvSpPr>
        <p:spPr>
          <a:xfrm>
            <a:off x="402336" y="2924556"/>
            <a:ext cx="8339328" cy="438912"/>
          </a:xfrm>
          <a:prstGeom prst="rect">
            <a:avLst/>
          </a:prstGeom>
          <a:noFill/>
          <a:ln/>
        </p:spPr>
        <p:txBody>
          <a:bodyPr wrap="square" rtlCol="0" anchor="ctr"/>
          <a:lstStyle/>
          <a:p>
            <a:pPr marL="0" indent="0">
              <a:lnSpc>
                <a:spcPct val="120000"/>
              </a:lnSpc>
              <a:buNone/>
            </a:pPr>
            <a:r>
              <a:rPr lang="en-US" sz="880" b="1" dirty="0">
                <a:solidFill>
                  <a:srgbClr val="0D7A8A"/>
                </a:solidFill>
                <a:latin typeface="Calibri" pitchFamily="34" charset="0"/>
                <a:ea typeface="Calibri" pitchFamily="34" charset="-122"/>
                <a:cs typeface="Calibri" pitchFamily="34" charset="-120"/>
              </a:rPr>
              <a:t>Decision:  </a:t>
            </a:r>
            <a:r>
              <a:rPr lang="en-US" sz="880" dirty="0">
                <a:solidFill>
                  <a:srgbClr val="1C2B3A"/>
                </a:solidFill>
                <a:latin typeface="Calibri" pitchFamily="34" charset="0"/>
                <a:ea typeface="Calibri" pitchFamily="34" charset="-122"/>
                <a:cs typeface="Calibri" pitchFamily="34" charset="-120"/>
              </a:rPr>
              <a:t>RGB / Black Background — leads on the two primary downstream metrics: CCv2 ±1 (0.804) and three-bin (0.778). Black background prevents the model exploiting surrounding skin-adjacent context; regression distributes prediction probability smoothly across adjacent MST classes.</a:t>
            </a:r>
            <a:endParaRPr lang="en-US" sz="880" dirty="0"/>
          </a:p>
        </p:txBody>
      </p:sp>
    </p:spTree>
    <p:extLst>
      <p:ext uri="{BB962C8B-B14F-4D97-AF65-F5344CB8AC3E}">
        <p14:creationId xmlns:p14="http://schemas.microsoft.com/office/powerpoint/2010/main" val="17355525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1">
    <p:bg>
      <p:bgPr>
        <a:solidFill>
          <a:srgbClr val="F7F4EE"/>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2A1A5E"/>
          </a:solidFill>
          <a:ln w="12700">
            <a:solidFill>
              <a:srgbClr val="2A1A5E"/>
            </a:solidFill>
            <a:prstDash val="solid"/>
          </a:ln>
        </p:spPr>
        <p:txBody>
          <a:bodyPr/>
          <a:lstStyle/>
          <a:p>
            <a:endParaRPr lang="en-MT"/>
          </a:p>
        </p:txBody>
      </p:sp>
      <p:sp>
        <p:nvSpPr>
          <p:cNvPr id="3" name="Shape 1"/>
          <p:cNvSpPr/>
          <p:nvPr/>
        </p:nvSpPr>
        <p:spPr>
          <a:xfrm>
            <a:off x="7132320" y="128016"/>
            <a:ext cx="1737360" cy="457200"/>
          </a:xfrm>
          <a:prstGeom prst="rect">
            <a:avLst/>
          </a:prstGeom>
          <a:solidFill>
            <a:srgbClr val="C9A84C"/>
          </a:solidFill>
          <a:ln w="12700">
            <a:solidFill>
              <a:srgbClr val="C9A84C"/>
            </a:solidFill>
            <a:prstDash val="solid"/>
          </a:ln>
        </p:spPr>
        <p:txBody>
          <a:bodyPr/>
          <a:lstStyle/>
          <a:p>
            <a:endParaRPr lang="en-MT"/>
          </a:p>
        </p:txBody>
      </p:sp>
      <p:sp>
        <p:nvSpPr>
          <p:cNvPr id="4" name="Text 2"/>
          <p:cNvSpPr/>
          <p:nvPr/>
        </p:nvSpPr>
        <p:spPr>
          <a:xfrm>
            <a:off x="7132320" y="128016"/>
            <a:ext cx="1737360" cy="457200"/>
          </a:xfrm>
          <a:prstGeom prst="rect">
            <a:avLst/>
          </a:prstGeom>
          <a:noFill/>
          <a:ln/>
        </p:spPr>
        <p:txBody>
          <a:bodyPr wrap="square" rtlCol="0" anchor="ctr"/>
          <a:lstStyle/>
          <a:p>
            <a:pPr marL="0" indent="0" algn="ctr">
              <a:buNone/>
            </a:pPr>
            <a:r>
              <a:rPr lang="en-US" sz="750" b="1" kern="0" spc="50" dirty="0">
                <a:solidFill>
                  <a:srgbClr val="1B3A5C"/>
                </a:solidFill>
                <a:latin typeface="Calibri" pitchFamily="34" charset="0"/>
                <a:ea typeface="Calibri" pitchFamily="34" charset="-122"/>
                <a:cs typeface="Calibri" pitchFamily="34" charset="-120"/>
              </a:rPr>
              <a:t>SUPPLEMENTARY</a:t>
            </a:r>
            <a:endParaRPr lang="en-US" sz="750" dirty="0"/>
          </a:p>
        </p:txBody>
      </p:sp>
      <p:sp>
        <p:nvSpPr>
          <p:cNvPr id="5" name="Text 3"/>
          <p:cNvSpPr/>
          <p:nvPr/>
        </p:nvSpPr>
        <p:spPr>
          <a:xfrm>
            <a:off x="411480" y="0"/>
            <a:ext cx="6583680" cy="713232"/>
          </a:xfrm>
          <a:prstGeom prst="rect">
            <a:avLst/>
          </a:prstGeom>
          <a:noFill/>
          <a:ln/>
        </p:spPr>
        <p:txBody>
          <a:bodyPr wrap="square"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MODEL SELECTION EVIDENCE  ·  SKIN TONE  (3/3)  ·  Final Model Performance</a:t>
            </a:r>
            <a:endParaRPr lang="en-US" sz="1400" dirty="0"/>
          </a:p>
        </p:txBody>
      </p:sp>
      <p:sp>
        <p:nvSpPr>
          <p:cNvPr id="6" name="Text 4"/>
          <p:cNvSpPr/>
          <p:nvPr/>
        </p:nvSpPr>
        <p:spPr>
          <a:xfrm>
            <a:off x="274320" y="822960"/>
            <a:ext cx="8595360" cy="237744"/>
          </a:xfrm>
          <a:prstGeom prst="rect">
            <a:avLst/>
          </a:prstGeom>
          <a:noFill/>
          <a:ln/>
        </p:spPr>
        <p:txBody>
          <a:bodyPr wrap="square" rtlCol="0" anchor="ctr"/>
          <a:lstStyle/>
          <a:p>
            <a:pPr marL="0" indent="0">
              <a:buNone/>
            </a:pPr>
            <a:r>
              <a:rPr lang="en-US" sz="950" b="1" dirty="0">
                <a:solidFill>
                  <a:srgbClr val="2A1A5E"/>
                </a:solidFill>
                <a:latin typeface="Calibri" pitchFamily="34" charset="0"/>
                <a:ea typeface="Calibri" pitchFamily="34" charset="-122"/>
                <a:cs typeface="Calibri" pitchFamily="34" charset="-120"/>
              </a:rPr>
              <a:t>Final selected model: VGG-16 MST10 Regression RGB Black-Background  (Table 3.8)</a:t>
            </a:r>
            <a:endParaRPr lang="en-US" sz="9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274320" y="1097280"/>
          <a:ext cx="5303520" cy="1828800"/>
        </p:xfrm>
        <a:graphic>
          <a:graphicData uri="http://schemas.openxmlformats.org/drawingml/2006/table">
            <a:tbl>
              <a:tblPr/>
              <a:tblGrid>
                <a:gridCol w="164592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457200">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Benchmark</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Exact Accuracy</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Within-One Accuracy</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Three-Bin Accuracy</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extLst>
                  <a:ext uri="{0D108BD9-81ED-4DB2-BD59-A6C34878D82A}">
                    <a16:rowId xmlns:a16="http://schemas.microsoft.com/office/drawing/2014/main" val="10000"/>
                  </a:ext>
                </a:extLst>
              </a:tr>
              <a:tr h="457200">
                <a:tc>
                  <a:txBody>
                    <a:bodyPr/>
                    <a:lstStyle/>
                    <a:p>
                      <a:pPr marL="0" indent="0" algn="l">
                        <a:buNone/>
                      </a:pPr>
                      <a:r>
                        <a:rPr lang="en-US" sz="900" b="1" dirty="0">
                          <a:solidFill>
                            <a:srgbClr val="0D8A5E"/>
                          </a:solidFill>
                          <a:latin typeface="Calibri" pitchFamily="34" charset="0"/>
                          <a:ea typeface="Calibri" pitchFamily="34" charset="-122"/>
                          <a:cs typeface="Calibri" pitchFamily="34" charset="-120"/>
                        </a:rPr>
                        <a:t>CCv2 (held-out)</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0.375</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0.804</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0.778</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extLst>
                  <a:ext uri="{0D108BD9-81ED-4DB2-BD59-A6C34878D82A}">
                    <a16:rowId xmlns:a16="http://schemas.microsoft.com/office/drawing/2014/main" val="10001"/>
                  </a:ext>
                </a:extLst>
              </a:tr>
              <a:tr h="457200">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MSTE</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0.159</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0.424</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0.566</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FACET</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0.165</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0.471</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0.593</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extLst>
                  <a:ext uri="{0D108BD9-81ED-4DB2-BD59-A6C34878D82A}">
                    <a16:rowId xmlns:a16="http://schemas.microsoft.com/office/drawing/2014/main" val="10003"/>
                  </a:ext>
                </a:extLst>
              </a:tr>
            </a:tbl>
          </a:graphicData>
        </a:graphic>
      </p:graphicFrame>
      <p:sp>
        <p:nvSpPr>
          <p:cNvPr id="8" name="Shape 5"/>
          <p:cNvSpPr/>
          <p:nvPr/>
        </p:nvSpPr>
        <p:spPr>
          <a:xfrm>
            <a:off x="5852160" y="1097280"/>
            <a:ext cx="3017520" cy="1920240"/>
          </a:xfrm>
          <a:prstGeom prst="rect">
            <a:avLst/>
          </a:prstGeom>
          <a:solidFill>
            <a:srgbClr val="2A1A5E"/>
          </a:solidFill>
          <a:ln w="12700">
            <a:solidFill>
              <a:srgbClr val="2A1A5E"/>
            </a:solidFill>
            <a:prstDash val="solid"/>
          </a:ln>
          <a:effectLst>
            <a:outerShdw blurRad="63500" dist="25400" dir="8100000" algn="bl" rotWithShape="0">
              <a:srgbClr val="000000">
                <a:alpha val="10000"/>
              </a:srgbClr>
            </a:outerShdw>
          </a:effectLst>
        </p:spPr>
        <p:txBody>
          <a:bodyPr/>
          <a:lstStyle/>
          <a:p>
            <a:endParaRPr lang="en-MT"/>
          </a:p>
        </p:txBody>
      </p:sp>
      <p:sp>
        <p:nvSpPr>
          <p:cNvPr id="9" name="Shape 6"/>
          <p:cNvSpPr/>
          <p:nvPr/>
        </p:nvSpPr>
        <p:spPr>
          <a:xfrm>
            <a:off x="5852160" y="1097280"/>
            <a:ext cx="3017520" cy="54864"/>
          </a:xfrm>
          <a:prstGeom prst="rect">
            <a:avLst/>
          </a:prstGeom>
          <a:solidFill>
            <a:srgbClr val="C9A84C"/>
          </a:solidFill>
          <a:ln w="12700">
            <a:solidFill>
              <a:srgbClr val="C9A84C"/>
            </a:solidFill>
            <a:prstDash val="solid"/>
          </a:ln>
        </p:spPr>
        <p:txBody>
          <a:bodyPr/>
          <a:lstStyle/>
          <a:p>
            <a:endParaRPr lang="en-MT"/>
          </a:p>
        </p:txBody>
      </p:sp>
      <p:sp>
        <p:nvSpPr>
          <p:cNvPr id="10" name="Text 7"/>
          <p:cNvSpPr/>
          <p:nvPr/>
        </p:nvSpPr>
        <p:spPr>
          <a:xfrm>
            <a:off x="5852160" y="1179576"/>
            <a:ext cx="3017520" cy="201168"/>
          </a:xfrm>
          <a:prstGeom prst="rect">
            <a:avLst/>
          </a:prstGeom>
          <a:noFill/>
          <a:ln/>
        </p:spPr>
        <p:txBody>
          <a:bodyPr wrap="square" rtlCol="0" anchor="ctr"/>
          <a:lstStyle/>
          <a:p>
            <a:pPr marL="0" indent="0" algn="ctr">
              <a:buNone/>
            </a:pPr>
            <a:r>
              <a:rPr lang="en-US" sz="800" b="1" kern="0" spc="150" dirty="0">
                <a:solidFill>
                  <a:srgbClr val="C9A84C"/>
                </a:solidFill>
                <a:latin typeface="Calibri" pitchFamily="34" charset="0"/>
                <a:ea typeface="Calibri" pitchFamily="34" charset="-122"/>
                <a:cs typeface="Calibri" pitchFamily="34" charset="-120"/>
              </a:rPr>
              <a:t>KEY NUMBERS</a:t>
            </a:r>
            <a:endParaRPr lang="en-US" sz="800" dirty="0"/>
          </a:p>
        </p:txBody>
      </p:sp>
      <p:sp>
        <p:nvSpPr>
          <p:cNvPr id="11" name="Text 8"/>
          <p:cNvSpPr/>
          <p:nvPr/>
        </p:nvSpPr>
        <p:spPr>
          <a:xfrm>
            <a:off x="5961888" y="1444752"/>
            <a:ext cx="1737360" cy="201168"/>
          </a:xfrm>
          <a:prstGeom prst="rect">
            <a:avLst/>
          </a:prstGeom>
          <a:noFill/>
          <a:ln/>
        </p:spPr>
        <p:txBody>
          <a:bodyPr wrap="square" rtlCol="0" anchor="ctr"/>
          <a:lstStyle/>
          <a:p>
            <a:pPr marL="0" indent="0">
              <a:buNone/>
            </a:pPr>
            <a:r>
              <a:rPr lang="en-US" sz="800" dirty="0">
                <a:solidFill>
                  <a:srgbClr val="A0C0D0"/>
                </a:solidFill>
                <a:latin typeface="Calibri" pitchFamily="34" charset="0"/>
                <a:ea typeface="Calibri" pitchFamily="34" charset="-122"/>
                <a:cs typeface="Calibri" pitchFamily="34" charset="-120"/>
              </a:rPr>
              <a:t>Primary metric  CCv2 ±1</a:t>
            </a:r>
            <a:endParaRPr lang="en-US" sz="800" dirty="0"/>
          </a:p>
        </p:txBody>
      </p:sp>
      <p:sp>
        <p:nvSpPr>
          <p:cNvPr id="12" name="Text 9"/>
          <p:cNvSpPr/>
          <p:nvPr/>
        </p:nvSpPr>
        <p:spPr>
          <a:xfrm>
            <a:off x="7680960" y="1444752"/>
            <a:ext cx="1097280" cy="201168"/>
          </a:xfrm>
          <a:prstGeom prst="rect">
            <a:avLst/>
          </a:prstGeom>
          <a:noFill/>
          <a:ln/>
        </p:spPr>
        <p:txBody>
          <a:bodyPr wrap="square" rtlCol="0" anchor="ctr"/>
          <a:lstStyle/>
          <a:p>
            <a:pPr marL="0" indent="0" algn="r">
              <a:buNone/>
            </a:pPr>
            <a:r>
              <a:rPr lang="en-US" sz="1050" b="1" dirty="0">
                <a:solidFill>
                  <a:srgbClr val="C9A84C"/>
                </a:solidFill>
                <a:latin typeface="Calibri" pitchFamily="34" charset="0"/>
                <a:ea typeface="Calibri" pitchFamily="34" charset="-122"/>
                <a:cs typeface="Calibri" pitchFamily="34" charset="-120"/>
              </a:rPr>
              <a:t>0.804</a:t>
            </a:r>
            <a:endParaRPr lang="en-US" sz="1050" dirty="0"/>
          </a:p>
        </p:txBody>
      </p:sp>
      <p:sp>
        <p:nvSpPr>
          <p:cNvPr id="13" name="Text 10"/>
          <p:cNvSpPr/>
          <p:nvPr/>
        </p:nvSpPr>
        <p:spPr>
          <a:xfrm>
            <a:off x="5961888" y="1691640"/>
            <a:ext cx="1737360" cy="201168"/>
          </a:xfrm>
          <a:prstGeom prst="rect">
            <a:avLst/>
          </a:prstGeom>
          <a:noFill/>
          <a:ln/>
        </p:spPr>
        <p:txBody>
          <a:bodyPr wrap="square" rtlCol="0" anchor="ctr"/>
          <a:lstStyle/>
          <a:p>
            <a:pPr marL="0" indent="0">
              <a:buNone/>
            </a:pPr>
            <a:r>
              <a:rPr lang="en-US" sz="800" dirty="0">
                <a:solidFill>
                  <a:srgbClr val="A0C0D0"/>
                </a:solidFill>
                <a:latin typeface="Calibri" pitchFamily="34" charset="0"/>
                <a:ea typeface="Calibri" pitchFamily="34" charset="-122"/>
                <a:cs typeface="Calibri" pitchFamily="34" charset="-120"/>
              </a:rPr>
              <a:t>Three-bin  CCv2 B</a:t>
            </a:r>
            <a:endParaRPr lang="en-US" sz="800" dirty="0"/>
          </a:p>
        </p:txBody>
      </p:sp>
      <p:sp>
        <p:nvSpPr>
          <p:cNvPr id="14" name="Text 11"/>
          <p:cNvSpPr/>
          <p:nvPr/>
        </p:nvSpPr>
        <p:spPr>
          <a:xfrm>
            <a:off x="7680960" y="1691640"/>
            <a:ext cx="1097280" cy="201168"/>
          </a:xfrm>
          <a:prstGeom prst="rect">
            <a:avLst/>
          </a:prstGeom>
          <a:noFill/>
          <a:ln/>
        </p:spPr>
        <p:txBody>
          <a:bodyPr wrap="square" rtlCol="0" anchor="ctr"/>
          <a:lstStyle/>
          <a:p>
            <a:pPr marL="0" indent="0" algn="r">
              <a:buNone/>
            </a:pPr>
            <a:r>
              <a:rPr lang="en-US" sz="1050" b="1" dirty="0">
                <a:solidFill>
                  <a:srgbClr val="C9A84C"/>
                </a:solidFill>
                <a:latin typeface="Calibri" pitchFamily="34" charset="0"/>
                <a:ea typeface="Calibri" pitchFamily="34" charset="-122"/>
                <a:cs typeface="Calibri" pitchFamily="34" charset="-120"/>
              </a:rPr>
              <a:t>0.778</a:t>
            </a:r>
            <a:endParaRPr lang="en-US" sz="1050" dirty="0"/>
          </a:p>
        </p:txBody>
      </p:sp>
      <p:sp>
        <p:nvSpPr>
          <p:cNvPr id="15" name="Text 12"/>
          <p:cNvSpPr/>
          <p:nvPr/>
        </p:nvSpPr>
        <p:spPr>
          <a:xfrm>
            <a:off x="5961888" y="1938528"/>
            <a:ext cx="1737360" cy="201168"/>
          </a:xfrm>
          <a:prstGeom prst="rect">
            <a:avLst/>
          </a:prstGeom>
          <a:noFill/>
          <a:ln/>
        </p:spPr>
        <p:txBody>
          <a:bodyPr wrap="square" rtlCol="0" anchor="ctr"/>
          <a:lstStyle/>
          <a:p>
            <a:pPr marL="0" indent="0">
              <a:buNone/>
            </a:pPr>
            <a:r>
              <a:rPr lang="en-US" sz="800" dirty="0">
                <a:solidFill>
                  <a:srgbClr val="A0C0D0"/>
                </a:solidFill>
                <a:latin typeface="Calibri" pitchFamily="34" charset="0"/>
                <a:ea typeface="Calibri" pitchFamily="34" charset="-122"/>
                <a:cs typeface="Calibri" pitchFamily="34" charset="-120"/>
              </a:rPr>
              <a:t>Cross-dataset  MSTE ±1</a:t>
            </a:r>
            <a:endParaRPr lang="en-US" sz="800" dirty="0"/>
          </a:p>
        </p:txBody>
      </p:sp>
      <p:sp>
        <p:nvSpPr>
          <p:cNvPr id="16" name="Text 13"/>
          <p:cNvSpPr/>
          <p:nvPr/>
        </p:nvSpPr>
        <p:spPr>
          <a:xfrm>
            <a:off x="7680960" y="1938528"/>
            <a:ext cx="1097280" cy="201168"/>
          </a:xfrm>
          <a:prstGeom prst="rect">
            <a:avLst/>
          </a:prstGeom>
          <a:noFill/>
          <a:ln/>
        </p:spPr>
        <p:txBody>
          <a:bodyPr wrap="square" rtlCol="0" anchor="ctr"/>
          <a:lstStyle/>
          <a:p>
            <a:pPr marL="0" indent="0" algn="r">
              <a:buNone/>
            </a:pPr>
            <a:r>
              <a:rPr lang="en-US" sz="1050" b="1" dirty="0">
                <a:solidFill>
                  <a:srgbClr val="C9A84C"/>
                </a:solidFill>
                <a:latin typeface="Calibri" pitchFamily="34" charset="0"/>
                <a:ea typeface="Calibri" pitchFamily="34" charset="-122"/>
                <a:cs typeface="Calibri" pitchFamily="34" charset="-120"/>
              </a:rPr>
              <a:t>0.424</a:t>
            </a:r>
            <a:endParaRPr lang="en-US" sz="1050" dirty="0"/>
          </a:p>
        </p:txBody>
      </p:sp>
      <p:sp>
        <p:nvSpPr>
          <p:cNvPr id="17" name="Text 14"/>
          <p:cNvSpPr/>
          <p:nvPr/>
        </p:nvSpPr>
        <p:spPr>
          <a:xfrm>
            <a:off x="5961888" y="2185416"/>
            <a:ext cx="1737360" cy="201168"/>
          </a:xfrm>
          <a:prstGeom prst="rect">
            <a:avLst/>
          </a:prstGeom>
          <a:noFill/>
          <a:ln/>
        </p:spPr>
        <p:txBody>
          <a:bodyPr wrap="square" rtlCol="0" anchor="ctr"/>
          <a:lstStyle/>
          <a:p>
            <a:pPr marL="0" indent="0">
              <a:buNone/>
            </a:pPr>
            <a:r>
              <a:rPr lang="en-US" sz="800" dirty="0">
                <a:solidFill>
                  <a:srgbClr val="A0C0D0"/>
                </a:solidFill>
                <a:latin typeface="Calibri" pitchFamily="34" charset="0"/>
                <a:ea typeface="Calibri" pitchFamily="34" charset="-122"/>
                <a:cs typeface="Calibri" pitchFamily="34" charset="-120"/>
              </a:rPr>
              <a:t>Cross-dataset  FACET ±1</a:t>
            </a:r>
            <a:endParaRPr lang="en-US" sz="800" dirty="0"/>
          </a:p>
        </p:txBody>
      </p:sp>
      <p:sp>
        <p:nvSpPr>
          <p:cNvPr id="18" name="Text 15"/>
          <p:cNvSpPr/>
          <p:nvPr/>
        </p:nvSpPr>
        <p:spPr>
          <a:xfrm>
            <a:off x="7680960" y="2185416"/>
            <a:ext cx="1097280" cy="201168"/>
          </a:xfrm>
          <a:prstGeom prst="rect">
            <a:avLst/>
          </a:prstGeom>
          <a:noFill/>
          <a:ln/>
        </p:spPr>
        <p:txBody>
          <a:bodyPr wrap="square" rtlCol="0" anchor="ctr"/>
          <a:lstStyle/>
          <a:p>
            <a:pPr marL="0" indent="0" algn="r">
              <a:buNone/>
            </a:pPr>
            <a:r>
              <a:rPr lang="en-US" sz="1050" b="1" dirty="0">
                <a:solidFill>
                  <a:srgbClr val="C9A84C"/>
                </a:solidFill>
                <a:latin typeface="Calibri" pitchFamily="34" charset="0"/>
                <a:ea typeface="Calibri" pitchFamily="34" charset="-122"/>
                <a:cs typeface="Calibri" pitchFamily="34" charset="-120"/>
              </a:rPr>
              <a:t>0.471</a:t>
            </a:r>
            <a:endParaRPr lang="en-US" sz="1050" dirty="0"/>
          </a:p>
        </p:txBody>
      </p:sp>
      <p:grpSp>
        <p:nvGrpSpPr>
          <p:cNvPr id="26" name="Group 25">
            <a:extLst>
              <a:ext uri="{FF2B5EF4-FFF2-40B4-BE49-F238E27FC236}">
                <a16:creationId xmlns:a16="http://schemas.microsoft.com/office/drawing/2014/main" id="{577C66DA-9A2C-9F56-C230-002137324486}"/>
              </a:ext>
            </a:extLst>
          </p:cNvPr>
          <p:cNvGrpSpPr/>
          <p:nvPr/>
        </p:nvGrpSpPr>
        <p:grpSpPr>
          <a:xfrm>
            <a:off x="274320" y="3104388"/>
            <a:ext cx="8595360" cy="1353312"/>
            <a:chOff x="274320" y="3104388"/>
            <a:chExt cx="8595360" cy="1353312"/>
          </a:xfrm>
        </p:grpSpPr>
        <p:sp>
          <p:nvSpPr>
            <p:cNvPr id="19" name="Shape 16"/>
            <p:cNvSpPr/>
            <p:nvPr/>
          </p:nvSpPr>
          <p:spPr>
            <a:xfrm>
              <a:off x="274320" y="3104388"/>
              <a:ext cx="8595360" cy="1353312"/>
            </a:xfrm>
            <a:prstGeom prst="rect">
              <a:avLst/>
            </a:prstGeom>
            <a:solidFill>
              <a:srgbClr val="FFFFFF"/>
            </a:solidFill>
            <a:ln w="9525">
              <a:solidFill>
                <a:srgbClr val="E8E4DC"/>
              </a:solidFill>
              <a:prstDash val="solid"/>
            </a:ln>
            <a:effectLst>
              <a:outerShdw blurRad="63500" dist="25400" dir="8100000" algn="bl" rotWithShape="0">
                <a:srgbClr val="000000">
                  <a:alpha val="10000"/>
                </a:srgbClr>
              </a:outerShdw>
            </a:effectLst>
          </p:spPr>
          <p:txBody>
            <a:bodyPr/>
            <a:lstStyle/>
            <a:p>
              <a:endParaRPr lang="en-MT"/>
            </a:p>
          </p:txBody>
        </p:sp>
        <p:sp>
          <p:nvSpPr>
            <p:cNvPr id="20" name="Text 17"/>
            <p:cNvSpPr/>
            <p:nvPr/>
          </p:nvSpPr>
          <p:spPr>
            <a:xfrm>
              <a:off x="402336" y="3159252"/>
              <a:ext cx="8339328" cy="201168"/>
            </a:xfrm>
            <a:prstGeom prst="rect">
              <a:avLst/>
            </a:prstGeom>
            <a:noFill/>
            <a:ln/>
          </p:spPr>
          <p:txBody>
            <a:bodyPr wrap="square" rtlCol="0" anchor="ctr"/>
            <a:lstStyle/>
            <a:p>
              <a:pPr marL="0" indent="0">
                <a:buNone/>
              </a:pPr>
              <a:r>
                <a:rPr lang="en-US" sz="900" b="1" dirty="0">
                  <a:solidFill>
                    <a:srgbClr val="2A1A5E"/>
                  </a:solidFill>
                  <a:latin typeface="Calibri" pitchFamily="34" charset="0"/>
                  <a:ea typeface="Calibri" pitchFamily="34" charset="-122"/>
                  <a:cs typeface="Calibri" pitchFamily="34" charset="-120"/>
                </a:rPr>
                <a:t>Interpreting the accuracy values</a:t>
              </a:r>
              <a:endParaRPr lang="en-US" sz="900" dirty="0"/>
            </a:p>
          </p:txBody>
        </p:sp>
        <p:sp>
          <p:nvSpPr>
            <p:cNvPr id="21" name="Text 18"/>
            <p:cNvSpPr/>
            <p:nvPr/>
          </p:nvSpPr>
          <p:spPr>
            <a:xfrm>
              <a:off x="402336" y="3378708"/>
              <a:ext cx="8339328" cy="320040"/>
            </a:xfrm>
            <a:prstGeom prst="rect">
              <a:avLst/>
            </a:prstGeom>
            <a:noFill/>
            <a:ln/>
          </p:spPr>
          <p:txBody>
            <a:bodyPr wrap="square" rtlCol="0" anchor="ctr"/>
            <a:lstStyle/>
            <a:p>
              <a:pPr marL="0" indent="0">
                <a:lnSpc>
                  <a:spcPct val="115000"/>
                </a:lnSpc>
                <a:buNone/>
              </a:pPr>
              <a:r>
                <a:rPr lang="en-US" sz="850" b="1" dirty="0">
                  <a:solidFill>
                    <a:srgbClr val="2A1A5E"/>
                  </a:solidFill>
                  <a:latin typeface="Calibri" pitchFamily="34" charset="0"/>
                  <a:ea typeface="Calibri" pitchFamily="34" charset="-122"/>
                  <a:cs typeface="Calibri" pitchFamily="34" charset="-120"/>
                </a:rPr>
                <a:t>· Exact accuracy is low by design for a 10-class regression task: </a:t>
              </a:r>
              <a:r>
                <a:rPr lang="en-US" sz="850" dirty="0">
                  <a:solidFill>
                    <a:srgbClr val="1C2B3A"/>
                  </a:solidFill>
                  <a:latin typeface="Calibri" pitchFamily="34" charset="0"/>
                  <a:ea typeface="Calibri" pitchFamily="34" charset="-122"/>
                  <a:cs typeface="Calibri" pitchFamily="34" charset="-120"/>
                </a:rPr>
                <a:t>predicting MST 4 when the true label is MST 3 counts as wrong. Within-one (80.4%) and three-bin (77.8%) are the relevant metrics for downstream analysis.</a:t>
              </a:r>
              <a:endParaRPr lang="en-US" sz="850" dirty="0"/>
            </a:p>
          </p:txBody>
        </p:sp>
        <p:sp>
          <p:nvSpPr>
            <p:cNvPr id="7" name="Text 19"/>
            <p:cNvSpPr/>
            <p:nvPr/>
          </p:nvSpPr>
          <p:spPr>
            <a:xfrm>
              <a:off x="402336" y="3717036"/>
              <a:ext cx="8339328" cy="320040"/>
            </a:xfrm>
            <a:prstGeom prst="rect">
              <a:avLst/>
            </a:prstGeom>
            <a:noFill/>
            <a:ln/>
          </p:spPr>
          <p:txBody>
            <a:bodyPr wrap="square" rtlCol="0" anchor="ctr"/>
            <a:lstStyle/>
            <a:p>
              <a:pPr marL="0" indent="0">
                <a:lnSpc>
                  <a:spcPct val="115000"/>
                </a:lnSpc>
                <a:buNone/>
              </a:pPr>
              <a:r>
                <a:rPr lang="en-US" sz="850" b="1" dirty="0">
                  <a:solidFill>
                    <a:srgbClr val="2A1A5E"/>
                  </a:solidFill>
                  <a:latin typeface="Calibri" pitchFamily="34" charset="0"/>
                  <a:ea typeface="Calibri" pitchFamily="34" charset="-122"/>
                  <a:cs typeface="Calibri" pitchFamily="34" charset="-120"/>
                </a:rPr>
                <a:t>· Lower cross-dataset figures (MSTE, FACET) reflect distributional shift: </a:t>
              </a:r>
              <a:r>
                <a:rPr lang="en-US" sz="850" dirty="0">
                  <a:solidFill>
                    <a:srgbClr val="1C2B3A"/>
                  </a:solidFill>
                  <a:latin typeface="Calibri" pitchFamily="34" charset="0"/>
                  <a:ea typeface="Calibri" pitchFamily="34" charset="-122"/>
                  <a:cs typeface="Calibri" pitchFamily="34" charset="-120"/>
                </a:rPr>
                <a:t>the model was trained on CCv2 without explicit lighting augmentation. MSTE is specifically designed to vary illumination while keeping ground truth fixed — the hardest test by design.</a:t>
              </a:r>
              <a:endParaRPr lang="en-US" sz="850" dirty="0"/>
            </a:p>
          </p:txBody>
        </p:sp>
        <p:sp>
          <p:nvSpPr>
            <p:cNvPr id="23" name="Text 20"/>
            <p:cNvSpPr/>
            <p:nvPr/>
          </p:nvSpPr>
          <p:spPr>
            <a:xfrm>
              <a:off x="402336" y="4055364"/>
              <a:ext cx="8339328" cy="320040"/>
            </a:xfrm>
            <a:prstGeom prst="rect">
              <a:avLst/>
            </a:prstGeom>
            <a:noFill/>
            <a:ln/>
          </p:spPr>
          <p:txBody>
            <a:bodyPr wrap="square" rtlCol="0" anchor="ctr"/>
            <a:lstStyle/>
            <a:p>
              <a:pPr marL="0" indent="0">
                <a:lnSpc>
                  <a:spcPct val="115000"/>
                </a:lnSpc>
                <a:buNone/>
              </a:pPr>
              <a:r>
                <a:rPr lang="en-US" sz="850" b="1" dirty="0">
                  <a:solidFill>
                    <a:srgbClr val="2A1A5E"/>
                  </a:solidFill>
                  <a:latin typeface="Calibri" pitchFamily="34" charset="0"/>
                  <a:ea typeface="Calibri" pitchFamily="34" charset="-122"/>
                  <a:cs typeface="Calibri" pitchFamily="34" charset="-120"/>
                </a:rPr>
                <a:t>· Three-bin accuracy is the primary analysis metric: </a:t>
              </a:r>
              <a:r>
                <a:rPr lang="en-US" sz="850" dirty="0">
                  <a:solidFill>
                    <a:srgbClr val="1C2B3A"/>
                  </a:solidFill>
                  <a:latin typeface="Calibri" pitchFamily="34" charset="0"/>
                  <a:ea typeface="Calibri" pitchFamily="34" charset="-122"/>
                  <a:cs typeface="Calibri" pitchFamily="34" charset="-120"/>
                </a:rPr>
                <a:t>the Light/Mid/Dark grouping absorbs within-class prediction variance and is more robust to the imaging conditions present in web-scraped data.</a:t>
              </a:r>
              <a:endParaRPr lang="en-US" sz="850" dirty="0"/>
            </a:p>
          </p:txBody>
        </p:sp>
      </p:grpSp>
      <p:grpSp>
        <p:nvGrpSpPr>
          <p:cNvPr id="27" name="Group 26">
            <a:extLst>
              <a:ext uri="{FF2B5EF4-FFF2-40B4-BE49-F238E27FC236}">
                <a16:creationId xmlns:a16="http://schemas.microsoft.com/office/drawing/2014/main" id="{B2803D7B-565E-0CE3-9E8D-8594BDC5C7CD}"/>
              </a:ext>
            </a:extLst>
          </p:cNvPr>
          <p:cNvGrpSpPr/>
          <p:nvPr/>
        </p:nvGrpSpPr>
        <p:grpSpPr>
          <a:xfrm>
            <a:off x="274320" y="4503420"/>
            <a:ext cx="8595360" cy="475488"/>
            <a:chOff x="274320" y="4503420"/>
            <a:chExt cx="8595360" cy="475488"/>
          </a:xfrm>
        </p:grpSpPr>
        <p:sp>
          <p:nvSpPr>
            <p:cNvPr id="24" name="Shape 21"/>
            <p:cNvSpPr/>
            <p:nvPr/>
          </p:nvSpPr>
          <p:spPr>
            <a:xfrm>
              <a:off x="274320" y="4503420"/>
              <a:ext cx="8595360" cy="475488"/>
            </a:xfrm>
            <a:prstGeom prst="rect">
              <a:avLst/>
            </a:prstGeom>
            <a:solidFill>
              <a:srgbClr val="EAF4F0"/>
            </a:solidFill>
            <a:ln w="9525">
              <a:solidFill>
                <a:srgbClr val="0D7A8A"/>
              </a:solidFill>
              <a:prstDash val="solid"/>
            </a:ln>
          </p:spPr>
          <p:txBody>
            <a:bodyPr/>
            <a:lstStyle/>
            <a:p>
              <a:endParaRPr lang="en-MT"/>
            </a:p>
          </p:txBody>
        </p:sp>
        <p:sp>
          <p:nvSpPr>
            <p:cNvPr id="25" name="Text 22"/>
            <p:cNvSpPr/>
            <p:nvPr/>
          </p:nvSpPr>
          <p:spPr>
            <a:xfrm>
              <a:off x="402336" y="4521708"/>
              <a:ext cx="8339328" cy="438912"/>
            </a:xfrm>
            <a:prstGeom prst="rect">
              <a:avLst/>
            </a:prstGeom>
            <a:noFill/>
            <a:ln/>
          </p:spPr>
          <p:txBody>
            <a:bodyPr wrap="square" rtlCol="0" anchor="ctr"/>
            <a:lstStyle/>
            <a:p>
              <a:pPr marL="0" indent="0">
                <a:lnSpc>
                  <a:spcPct val="120000"/>
                </a:lnSpc>
                <a:buNone/>
              </a:pPr>
              <a:r>
                <a:rPr lang="en-US" sz="880" b="1" dirty="0">
                  <a:solidFill>
                    <a:srgbClr val="0D7A8A"/>
                  </a:solidFill>
                  <a:latin typeface="Calibri" pitchFamily="34" charset="0"/>
                  <a:ea typeface="Calibri" pitchFamily="34" charset="-122"/>
                  <a:cs typeface="Calibri" pitchFamily="34" charset="-120"/>
                </a:rPr>
                <a:t>Decision:  </a:t>
              </a:r>
              <a:r>
                <a:rPr lang="en-US" sz="880" dirty="0">
                  <a:solidFill>
                    <a:srgbClr val="1C2B3A"/>
                  </a:solidFill>
                  <a:latin typeface="Calibri" pitchFamily="34" charset="0"/>
                  <a:ea typeface="Calibri" pitchFamily="34" charset="-122"/>
                  <a:cs typeface="Calibri" pitchFamily="34" charset="-120"/>
                </a:rPr>
                <a:t>VGG-16 MST10 Regression RGB Black-BG — best within-one and three-bin accuracy on CCv2. Selected as the annotation model for all 400,000 images across both datasets.</a:t>
              </a:r>
              <a:endParaRPr lang="en-US" sz="880" dirty="0"/>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2">
    <p:bg>
      <p:bgPr>
        <a:solidFill>
          <a:srgbClr val="F7F4EE"/>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2A1A5E"/>
          </a:solidFill>
          <a:ln w="12700">
            <a:solidFill>
              <a:srgbClr val="2A1A5E"/>
            </a:solidFill>
            <a:prstDash val="solid"/>
          </a:ln>
        </p:spPr>
        <p:txBody>
          <a:bodyPr/>
          <a:lstStyle/>
          <a:p>
            <a:endParaRPr lang="en-MT"/>
          </a:p>
        </p:txBody>
      </p:sp>
      <p:sp>
        <p:nvSpPr>
          <p:cNvPr id="3" name="Shape 1"/>
          <p:cNvSpPr/>
          <p:nvPr/>
        </p:nvSpPr>
        <p:spPr>
          <a:xfrm>
            <a:off x="7132320" y="128016"/>
            <a:ext cx="1737360" cy="457200"/>
          </a:xfrm>
          <a:prstGeom prst="rect">
            <a:avLst/>
          </a:prstGeom>
          <a:solidFill>
            <a:srgbClr val="C9A84C"/>
          </a:solidFill>
          <a:ln w="12700">
            <a:solidFill>
              <a:srgbClr val="C9A84C"/>
            </a:solidFill>
            <a:prstDash val="solid"/>
          </a:ln>
        </p:spPr>
        <p:txBody>
          <a:bodyPr/>
          <a:lstStyle/>
          <a:p>
            <a:endParaRPr lang="en-MT"/>
          </a:p>
        </p:txBody>
      </p:sp>
      <p:sp>
        <p:nvSpPr>
          <p:cNvPr id="4" name="Text 2"/>
          <p:cNvSpPr/>
          <p:nvPr/>
        </p:nvSpPr>
        <p:spPr>
          <a:xfrm>
            <a:off x="7132320" y="128016"/>
            <a:ext cx="1737360" cy="457200"/>
          </a:xfrm>
          <a:prstGeom prst="rect">
            <a:avLst/>
          </a:prstGeom>
          <a:noFill/>
          <a:ln/>
        </p:spPr>
        <p:txBody>
          <a:bodyPr wrap="square" rtlCol="0" anchor="ctr"/>
          <a:lstStyle/>
          <a:p>
            <a:pPr marL="0" indent="0" algn="ctr">
              <a:buNone/>
            </a:pPr>
            <a:r>
              <a:rPr lang="en-US" sz="750" b="1" kern="0" spc="50" dirty="0">
                <a:solidFill>
                  <a:srgbClr val="1B3A5C"/>
                </a:solidFill>
                <a:latin typeface="Calibri" pitchFamily="34" charset="0"/>
                <a:ea typeface="Calibri" pitchFamily="34" charset="-122"/>
                <a:cs typeface="Calibri" pitchFamily="34" charset="-120"/>
              </a:rPr>
              <a:t>SUPPLEMENTARY</a:t>
            </a:r>
            <a:endParaRPr lang="en-US" sz="750" dirty="0"/>
          </a:p>
        </p:txBody>
      </p:sp>
      <p:sp>
        <p:nvSpPr>
          <p:cNvPr id="5" name="Text 3"/>
          <p:cNvSpPr/>
          <p:nvPr/>
        </p:nvSpPr>
        <p:spPr>
          <a:xfrm>
            <a:off x="411480" y="0"/>
            <a:ext cx="6583680" cy="713232"/>
          </a:xfrm>
          <a:prstGeom prst="rect">
            <a:avLst/>
          </a:prstGeom>
          <a:noFill/>
          <a:ln/>
        </p:spPr>
        <p:txBody>
          <a:bodyPr wrap="square"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MODEL SELECTION EVIDENCE  ·  OBJECT DETECTION (1/2)</a:t>
            </a:r>
            <a:endParaRPr lang="en-US" sz="1400" dirty="0"/>
          </a:p>
        </p:txBody>
      </p:sp>
      <p:sp>
        <p:nvSpPr>
          <p:cNvPr id="6" name="Text 4"/>
          <p:cNvSpPr/>
          <p:nvPr/>
        </p:nvSpPr>
        <p:spPr>
          <a:xfrm>
            <a:off x="274320" y="822960"/>
            <a:ext cx="8595360" cy="237744"/>
          </a:xfrm>
          <a:prstGeom prst="rect">
            <a:avLst/>
          </a:prstGeom>
          <a:noFill/>
          <a:ln/>
        </p:spPr>
        <p:txBody>
          <a:bodyPr wrap="square" rtlCol="0" anchor="ctr"/>
          <a:lstStyle/>
          <a:p>
            <a:pPr marL="0" indent="0">
              <a:buNone/>
            </a:pPr>
            <a:r>
              <a:rPr lang="en-US" sz="950" b="1" dirty="0">
                <a:solidFill>
                  <a:srgbClr val="2A1A5E"/>
                </a:solidFill>
                <a:latin typeface="Calibri" pitchFamily="34" charset="0"/>
                <a:ea typeface="Calibri" pitchFamily="34" charset="-122"/>
                <a:cs typeface="Calibri" pitchFamily="34" charset="-120"/>
              </a:rPr>
              <a:t>Step 1 — Throughput Screening on 10,000-image subset at 640×640  (Table 3.9)</a:t>
            </a:r>
            <a:endParaRPr lang="en-US" sz="9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274320" y="1097280"/>
          <a:ext cx="8595360" cy="2560320"/>
        </p:xfrm>
        <a:graphic>
          <a:graphicData uri="http://schemas.openxmlformats.org/drawingml/2006/table">
            <a:tbl>
              <a:tblPr/>
              <a:tblGrid>
                <a:gridCol w="228600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tblGrid>
              <a:tr h="320040">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Model</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Architecture</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Time (10K imgs)</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Viable</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extLst>
                  <a:ext uri="{0D108BD9-81ED-4DB2-BD59-A6C34878D82A}">
                    <a16:rowId xmlns:a16="http://schemas.microsoft.com/office/drawing/2014/main" val="10000"/>
                  </a:ext>
                </a:extLst>
              </a:tr>
              <a:tr h="320040">
                <a:tc>
                  <a:txBody>
                    <a:bodyPr/>
                    <a:lstStyle/>
                    <a:p>
                      <a:pPr marL="0" indent="0" algn="l">
                        <a:buNone/>
                      </a:pPr>
                      <a:r>
                        <a:rPr lang="en-US" sz="900" b="1" dirty="0">
                          <a:solidFill>
                            <a:srgbClr val="0D8A5E"/>
                          </a:solidFill>
                          <a:latin typeface="Calibri" pitchFamily="34" charset="0"/>
                          <a:ea typeface="Calibri" pitchFamily="34" charset="-122"/>
                          <a:cs typeface="Calibri" pitchFamily="34" charset="-120"/>
                        </a:rPr>
                        <a:t>YOLOv8x (OIV7) ★</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l">
                        <a:buNone/>
                      </a:pPr>
                      <a:r>
                        <a:rPr lang="en-US" sz="900" b="1" dirty="0">
                          <a:solidFill>
                            <a:srgbClr val="0D8A5E"/>
                          </a:solidFill>
                          <a:latin typeface="Calibri" pitchFamily="34" charset="0"/>
                          <a:ea typeface="Calibri" pitchFamily="34" charset="-122"/>
                          <a:cs typeface="Calibri" pitchFamily="34" charset="-120"/>
                        </a:rPr>
                        <a:t>CNN, closed-vocabulary</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~7 min 06 s</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Yes ✓</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extLst>
                  <a:ext uri="{0D108BD9-81ED-4DB2-BD59-A6C34878D82A}">
                    <a16:rowId xmlns:a16="http://schemas.microsoft.com/office/drawing/2014/main" val="10001"/>
                  </a:ext>
                </a:extLst>
              </a:tr>
              <a:tr h="320040">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YOLOv8m (OIV7)</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CNN, closed-vocabulary</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~5 min 47 s</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0040">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YOLOv8x-World</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CNN, open-vocabulary</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~8 min 11 s</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extLst>
                  <a:ext uri="{0D108BD9-81ED-4DB2-BD59-A6C34878D82A}">
                    <a16:rowId xmlns:a16="http://schemas.microsoft.com/office/drawing/2014/main" val="10003"/>
                  </a:ext>
                </a:extLst>
              </a:tr>
              <a:tr h="320040">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YOLOv8x-Worldv2</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CNN, open-vocabulary</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~7 min 23 s</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0040">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RT-DETR-X</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Transformer, end-to-end</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~6 min 24 s</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B84A0A"/>
                          </a:solidFill>
                          <a:latin typeface="Calibri" pitchFamily="34" charset="0"/>
                          <a:ea typeface="Calibri" pitchFamily="34" charset="-122"/>
                          <a:cs typeface="Calibri" pitchFamily="34" charset="-120"/>
                        </a:rPr>
                        <a:t>No †</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F0E0"/>
                    </a:solidFill>
                  </a:tcPr>
                </a:tc>
                <a:extLst>
                  <a:ext uri="{0D108BD9-81ED-4DB2-BD59-A6C34878D82A}">
                    <a16:rowId xmlns:a16="http://schemas.microsoft.com/office/drawing/2014/main" val="10005"/>
                  </a:ext>
                </a:extLst>
              </a:tr>
              <a:tr h="320040">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GroundingDINO</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Vision-language model</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AA2200"/>
                          </a:solidFill>
                          <a:latin typeface="Calibri" pitchFamily="34" charset="0"/>
                          <a:ea typeface="Calibri" pitchFamily="34" charset="-122"/>
                          <a:cs typeface="Calibri" pitchFamily="34" charset="-120"/>
                        </a:rPr>
                        <a:t>&gt;60 min</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E0D0"/>
                    </a:solidFill>
                  </a:tcPr>
                </a:tc>
                <a:tc>
                  <a:txBody>
                    <a:bodyPr/>
                    <a:lstStyle/>
                    <a:p>
                      <a:pPr marL="0" indent="0" algn="ctr">
                        <a:buNone/>
                      </a:pPr>
                      <a:r>
                        <a:rPr lang="en-US" sz="900" b="1" dirty="0">
                          <a:solidFill>
                            <a:srgbClr val="AA2200"/>
                          </a:solidFill>
                          <a:latin typeface="Calibri" pitchFamily="34" charset="0"/>
                          <a:ea typeface="Calibri" pitchFamily="34" charset="-122"/>
                          <a:cs typeface="Calibri" pitchFamily="34" charset="-120"/>
                        </a:rPr>
                        <a:t>No ✗</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E0D0"/>
                    </a:solidFill>
                  </a:tcPr>
                </a:tc>
                <a:extLst>
                  <a:ext uri="{0D108BD9-81ED-4DB2-BD59-A6C34878D82A}">
                    <a16:rowId xmlns:a16="http://schemas.microsoft.com/office/drawing/2014/main" val="10006"/>
                  </a:ext>
                </a:extLst>
              </a:tr>
              <a:tr h="320040">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ViTDet-Huge</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Transformer backbone</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b="1" dirty="0">
                          <a:solidFill>
                            <a:srgbClr val="AA2200"/>
                          </a:solidFill>
                          <a:latin typeface="Calibri" pitchFamily="34" charset="0"/>
                          <a:ea typeface="Calibri" pitchFamily="34" charset="-122"/>
                          <a:cs typeface="Calibri" pitchFamily="34" charset="-120"/>
                        </a:rPr>
                        <a:t>&gt;60 min</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E0D0"/>
                    </a:solidFill>
                  </a:tcPr>
                </a:tc>
                <a:tc>
                  <a:txBody>
                    <a:bodyPr/>
                    <a:lstStyle/>
                    <a:p>
                      <a:pPr marL="0" indent="0" algn="ctr">
                        <a:buNone/>
                      </a:pPr>
                      <a:r>
                        <a:rPr lang="en-US" sz="900" b="1" dirty="0">
                          <a:solidFill>
                            <a:srgbClr val="AA2200"/>
                          </a:solidFill>
                          <a:latin typeface="Calibri" pitchFamily="34" charset="0"/>
                          <a:ea typeface="Calibri" pitchFamily="34" charset="-122"/>
                          <a:cs typeface="Calibri" pitchFamily="34" charset="-120"/>
                        </a:rPr>
                        <a:t>No ✗</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E0D0"/>
                    </a:solidFill>
                  </a:tcPr>
                </a:tc>
                <a:extLst>
                  <a:ext uri="{0D108BD9-81ED-4DB2-BD59-A6C34878D82A}">
                    <a16:rowId xmlns:a16="http://schemas.microsoft.com/office/drawing/2014/main" val="10007"/>
                  </a:ext>
                </a:extLst>
              </a:tr>
            </a:tbl>
          </a:graphicData>
        </a:graphic>
      </p:graphicFrame>
      <p:sp>
        <p:nvSpPr>
          <p:cNvPr id="8" name="Text 5"/>
          <p:cNvSpPr/>
          <p:nvPr/>
        </p:nvSpPr>
        <p:spPr>
          <a:xfrm>
            <a:off x="274320" y="3639312"/>
            <a:ext cx="8595360" cy="201168"/>
          </a:xfrm>
          <a:prstGeom prst="rect">
            <a:avLst/>
          </a:prstGeom>
          <a:noFill/>
          <a:ln/>
        </p:spPr>
        <p:txBody>
          <a:bodyPr wrap="square" rtlCol="0" anchor="ctr"/>
          <a:lstStyle/>
          <a:p>
            <a:pPr marL="0" indent="0">
              <a:buNone/>
            </a:pPr>
            <a:r>
              <a:rPr lang="en-US" sz="800" i="1" dirty="0">
                <a:solidFill>
                  <a:srgbClr val="4A6274"/>
                </a:solidFill>
                <a:latin typeface="Calibri" pitchFamily="34" charset="0"/>
                <a:ea typeface="Calibri" pitchFamily="34" charset="-122"/>
                <a:cs typeface="Calibri" pitchFamily="34" charset="-120"/>
              </a:rPr>
              <a:t>† RT-DETR-X: available pretrained weights target COCO / Object365, not OpenImages V7 — incompatible vocabulary.</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a:extLst>
            <a:ext uri="{FF2B5EF4-FFF2-40B4-BE49-F238E27FC236}">
              <a16:creationId xmlns:a16="http://schemas.microsoft.com/office/drawing/2014/main" id="{A74A2C45-D0D7-EA94-D638-CF21D2278899}"/>
            </a:ext>
          </a:extLst>
        </p:cNvPr>
        <p:cNvGrpSpPr/>
        <p:nvPr/>
      </p:nvGrpSpPr>
      <p:grpSpPr>
        <a:xfrm>
          <a:off x="0" y="0"/>
          <a:ext cx="0" cy="0"/>
          <a:chOff x="0" y="0"/>
          <a:chExt cx="0" cy="0"/>
        </a:xfrm>
      </p:grpSpPr>
      <p:sp>
        <p:nvSpPr>
          <p:cNvPr id="10" name="Text 7">
            <a:extLst>
              <a:ext uri="{FF2B5EF4-FFF2-40B4-BE49-F238E27FC236}">
                <a16:creationId xmlns:a16="http://schemas.microsoft.com/office/drawing/2014/main" id="{D3160D33-6865-2AA2-8626-06120393A75C}"/>
              </a:ext>
            </a:extLst>
          </p:cNvPr>
          <p:cNvSpPr/>
          <p:nvPr/>
        </p:nvSpPr>
        <p:spPr>
          <a:xfrm>
            <a:off x="274320" y="822960"/>
            <a:ext cx="8595360" cy="237744"/>
          </a:xfrm>
          <a:prstGeom prst="rect">
            <a:avLst/>
          </a:prstGeom>
          <a:noFill/>
          <a:ln/>
        </p:spPr>
        <p:txBody>
          <a:bodyPr wrap="square" rtlCol="0" anchor="ctr"/>
          <a:lstStyle/>
          <a:p>
            <a:pPr marL="0" indent="0">
              <a:buNone/>
            </a:pPr>
            <a:r>
              <a:rPr lang="en-US" sz="950" b="1" dirty="0">
                <a:solidFill>
                  <a:srgbClr val="2A1A5E"/>
                </a:solidFill>
                <a:latin typeface="Calibri" pitchFamily="34" charset="0"/>
                <a:ea typeface="Calibri" pitchFamily="34" charset="-122"/>
                <a:cs typeface="Calibri" pitchFamily="34" charset="-120"/>
              </a:rPr>
              <a:t>Step 2 — Detection Performance on OpenImages V7 Validation Set  (Table 3.10)  ·  4 viable candidates</a:t>
            </a:r>
            <a:endParaRPr lang="en-US" sz="950" dirty="0"/>
          </a:p>
        </p:txBody>
      </p:sp>
      <p:sp>
        <p:nvSpPr>
          <p:cNvPr id="2" name="Shape 0">
            <a:extLst>
              <a:ext uri="{FF2B5EF4-FFF2-40B4-BE49-F238E27FC236}">
                <a16:creationId xmlns:a16="http://schemas.microsoft.com/office/drawing/2014/main" id="{AB515AEE-62B9-E66E-D814-D69B86E7A3E3}"/>
              </a:ext>
            </a:extLst>
          </p:cNvPr>
          <p:cNvSpPr/>
          <p:nvPr/>
        </p:nvSpPr>
        <p:spPr>
          <a:xfrm>
            <a:off x="0" y="0"/>
            <a:ext cx="9144000" cy="713232"/>
          </a:xfrm>
          <a:prstGeom prst="rect">
            <a:avLst/>
          </a:prstGeom>
          <a:solidFill>
            <a:srgbClr val="2A1A5E"/>
          </a:solidFill>
          <a:ln w="12700">
            <a:solidFill>
              <a:srgbClr val="2A1A5E"/>
            </a:solidFill>
            <a:prstDash val="solid"/>
          </a:ln>
        </p:spPr>
        <p:txBody>
          <a:bodyPr/>
          <a:lstStyle/>
          <a:p>
            <a:endParaRPr lang="en-MT"/>
          </a:p>
        </p:txBody>
      </p:sp>
      <p:sp>
        <p:nvSpPr>
          <p:cNvPr id="3" name="Shape 1">
            <a:extLst>
              <a:ext uri="{FF2B5EF4-FFF2-40B4-BE49-F238E27FC236}">
                <a16:creationId xmlns:a16="http://schemas.microsoft.com/office/drawing/2014/main" id="{74D309F7-5DC9-54F1-9A16-AAFA98B04E8F}"/>
              </a:ext>
            </a:extLst>
          </p:cNvPr>
          <p:cNvSpPr/>
          <p:nvPr/>
        </p:nvSpPr>
        <p:spPr>
          <a:xfrm>
            <a:off x="7132320" y="128016"/>
            <a:ext cx="1737360" cy="457200"/>
          </a:xfrm>
          <a:prstGeom prst="rect">
            <a:avLst/>
          </a:prstGeom>
          <a:solidFill>
            <a:srgbClr val="C9A84C"/>
          </a:solidFill>
          <a:ln w="12700">
            <a:solidFill>
              <a:srgbClr val="C9A84C"/>
            </a:solidFill>
            <a:prstDash val="solid"/>
          </a:ln>
        </p:spPr>
        <p:txBody>
          <a:bodyPr/>
          <a:lstStyle/>
          <a:p>
            <a:endParaRPr lang="en-MT"/>
          </a:p>
        </p:txBody>
      </p:sp>
      <p:sp>
        <p:nvSpPr>
          <p:cNvPr id="4" name="Text 2">
            <a:extLst>
              <a:ext uri="{FF2B5EF4-FFF2-40B4-BE49-F238E27FC236}">
                <a16:creationId xmlns:a16="http://schemas.microsoft.com/office/drawing/2014/main" id="{60C4E9A2-6679-266C-0A95-7050602CE414}"/>
              </a:ext>
            </a:extLst>
          </p:cNvPr>
          <p:cNvSpPr/>
          <p:nvPr/>
        </p:nvSpPr>
        <p:spPr>
          <a:xfrm>
            <a:off x="7132320" y="128016"/>
            <a:ext cx="1737360" cy="457200"/>
          </a:xfrm>
          <a:prstGeom prst="rect">
            <a:avLst/>
          </a:prstGeom>
          <a:noFill/>
          <a:ln/>
        </p:spPr>
        <p:txBody>
          <a:bodyPr wrap="square" rtlCol="0" anchor="ctr"/>
          <a:lstStyle/>
          <a:p>
            <a:pPr marL="0" indent="0" algn="ctr">
              <a:buNone/>
            </a:pPr>
            <a:r>
              <a:rPr lang="en-US" sz="750" b="1" kern="0" spc="50" dirty="0">
                <a:solidFill>
                  <a:srgbClr val="1B3A5C"/>
                </a:solidFill>
                <a:latin typeface="Calibri" pitchFamily="34" charset="0"/>
                <a:ea typeface="Calibri" pitchFamily="34" charset="-122"/>
                <a:cs typeface="Calibri" pitchFamily="34" charset="-120"/>
              </a:rPr>
              <a:t>SUPPLEMENTARY</a:t>
            </a:r>
            <a:endParaRPr lang="en-US" sz="750" dirty="0"/>
          </a:p>
        </p:txBody>
      </p:sp>
      <p:sp>
        <p:nvSpPr>
          <p:cNvPr id="5" name="Text 3">
            <a:extLst>
              <a:ext uri="{FF2B5EF4-FFF2-40B4-BE49-F238E27FC236}">
                <a16:creationId xmlns:a16="http://schemas.microsoft.com/office/drawing/2014/main" id="{B465CBB5-ED44-8566-CB63-314F4415EA92}"/>
              </a:ext>
            </a:extLst>
          </p:cNvPr>
          <p:cNvSpPr/>
          <p:nvPr/>
        </p:nvSpPr>
        <p:spPr>
          <a:xfrm>
            <a:off x="411480" y="0"/>
            <a:ext cx="6583680" cy="713232"/>
          </a:xfrm>
          <a:prstGeom prst="rect">
            <a:avLst/>
          </a:prstGeom>
          <a:noFill/>
          <a:ln/>
        </p:spPr>
        <p:txBody>
          <a:bodyPr wrap="square"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MODEL SELECTION EVIDENCE  ·  OBJECT DETECTION (2/2)</a:t>
            </a:r>
            <a:endParaRPr lang="en-US" sz="1400" dirty="0"/>
          </a:p>
        </p:txBody>
      </p:sp>
      <p:graphicFrame>
        <p:nvGraphicFramePr>
          <p:cNvPr id="45" name="Table 1">
            <a:extLst>
              <a:ext uri="{FF2B5EF4-FFF2-40B4-BE49-F238E27FC236}">
                <a16:creationId xmlns:a16="http://schemas.microsoft.com/office/drawing/2014/main" id="{FD9FE518-772E-5FF0-8490-49DC0D03B413}"/>
              </a:ext>
            </a:extLst>
          </p:cNvPr>
          <p:cNvGraphicFramePr>
            <a:graphicFrameLocks noGrp="1"/>
          </p:cNvGraphicFramePr>
          <p:nvPr>
            <p:extLst>
              <p:ext uri="{D42A27DB-BD31-4B8C-83A1-F6EECF244321}">
                <p14:modId xmlns:p14="http://schemas.microsoft.com/office/powerpoint/2010/main" val="109286079"/>
              </p:ext>
            </p:extLst>
          </p:nvPr>
        </p:nvGraphicFramePr>
        <p:xfrm>
          <a:off x="274320" y="1088136"/>
          <a:ext cx="8595360" cy="1737360"/>
        </p:xfrm>
        <a:graphic>
          <a:graphicData uri="http://schemas.openxmlformats.org/drawingml/2006/table">
            <a:tbl>
              <a:tblPr/>
              <a:tblGrid>
                <a:gridCol w="32004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tblGrid>
              <a:tr h="347472">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Model</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mAP@0.5</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mAP@0.5:0.95</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Precision</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Recall</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extLst>
                  <a:ext uri="{0D108BD9-81ED-4DB2-BD59-A6C34878D82A}">
                    <a16:rowId xmlns:a16="http://schemas.microsoft.com/office/drawing/2014/main" val="10000"/>
                  </a:ext>
                </a:extLst>
              </a:tr>
              <a:tr h="347472">
                <a:tc>
                  <a:txBody>
                    <a:bodyPr/>
                    <a:lstStyle/>
                    <a:p>
                      <a:pPr marL="0" indent="0" algn="l">
                        <a:buNone/>
                      </a:pPr>
                      <a:r>
                        <a:rPr lang="en-US" sz="900" b="1" dirty="0">
                          <a:solidFill>
                            <a:srgbClr val="0D8A5E"/>
                          </a:solidFill>
                          <a:latin typeface="Calibri" pitchFamily="34" charset="0"/>
                          <a:ea typeface="Calibri" pitchFamily="34" charset="-122"/>
                          <a:cs typeface="Calibri" pitchFamily="34" charset="-120"/>
                        </a:rPr>
                        <a:t>YOLOv8x (OIV7) ★</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0.4345</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0.3614</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0.4786</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0.4374</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extLst>
                  <a:ext uri="{0D108BD9-81ED-4DB2-BD59-A6C34878D82A}">
                    <a16:rowId xmlns:a16="http://schemas.microsoft.com/office/drawing/2014/main" val="10001"/>
                  </a:ext>
                </a:extLst>
              </a:tr>
              <a:tr h="347472">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YOLOv8m (OIV7)</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0.4094</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0.3336</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0.4791</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0.4007</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7472">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YOLOv8x-World</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b="1" dirty="0">
                          <a:solidFill>
                            <a:srgbClr val="AA2200"/>
                          </a:solidFill>
                          <a:latin typeface="Calibri" pitchFamily="34" charset="0"/>
                          <a:ea typeface="Calibri" pitchFamily="34" charset="-122"/>
                          <a:cs typeface="Calibri" pitchFamily="34" charset="-120"/>
                        </a:rPr>
                        <a:t>0.1370</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E0D0"/>
                    </a:solidFill>
                  </a:tcPr>
                </a:tc>
                <a:tc>
                  <a:txBody>
                    <a:bodyPr/>
                    <a:lstStyle/>
                    <a:p>
                      <a:pPr marL="0" indent="0" algn="ctr">
                        <a:buNone/>
                      </a:pPr>
                      <a:r>
                        <a:rPr lang="en-US" sz="900" b="1" dirty="0">
                          <a:solidFill>
                            <a:srgbClr val="AA2200"/>
                          </a:solidFill>
                          <a:latin typeface="Calibri" pitchFamily="34" charset="0"/>
                          <a:ea typeface="Calibri" pitchFamily="34" charset="-122"/>
                          <a:cs typeface="Calibri" pitchFamily="34" charset="-120"/>
                        </a:rPr>
                        <a:t>0.1140</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E0D0"/>
                    </a:solidFill>
                  </a:tcPr>
                </a:tc>
                <a:tc>
                  <a:txBody>
                    <a:bodyPr/>
                    <a:lstStyle/>
                    <a:p>
                      <a:pPr marL="0" indent="0" algn="ctr">
                        <a:buNone/>
                      </a:pPr>
                      <a:r>
                        <a:rPr lang="en-US" sz="900" b="1" dirty="0">
                          <a:solidFill>
                            <a:srgbClr val="AA2200"/>
                          </a:solidFill>
                          <a:latin typeface="Calibri" pitchFamily="34" charset="0"/>
                          <a:ea typeface="Calibri" pitchFamily="34" charset="-122"/>
                          <a:cs typeface="Calibri" pitchFamily="34" charset="-120"/>
                        </a:rPr>
                        <a:t>0.2044</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E0D0"/>
                    </a:solidFill>
                  </a:tcPr>
                </a:tc>
                <a:tc>
                  <a:txBody>
                    <a:bodyPr/>
                    <a:lstStyle/>
                    <a:p>
                      <a:pPr marL="0" indent="0" algn="ctr">
                        <a:buNone/>
                      </a:pPr>
                      <a:r>
                        <a:rPr lang="en-US" sz="900" b="1" dirty="0">
                          <a:solidFill>
                            <a:srgbClr val="AA2200"/>
                          </a:solidFill>
                          <a:latin typeface="Calibri" pitchFamily="34" charset="0"/>
                          <a:ea typeface="Calibri" pitchFamily="34" charset="-122"/>
                          <a:cs typeface="Calibri" pitchFamily="34" charset="-120"/>
                        </a:rPr>
                        <a:t>0.2568</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E0D0"/>
                    </a:solidFill>
                  </a:tcPr>
                </a:tc>
                <a:extLst>
                  <a:ext uri="{0D108BD9-81ED-4DB2-BD59-A6C34878D82A}">
                    <a16:rowId xmlns:a16="http://schemas.microsoft.com/office/drawing/2014/main" val="10003"/>
                  </a:ext>
                </a:extLst>
              </a:tr>
              <a:tr h="347472">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YOLOv8x-Worldv2</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AA2200"/>
                          </a:solidFill>
                          <a:latin typeface="Calibri" pitchFamily="34" charset="0"/>
                          <a:ea typeface="Calibri" pitchFamily="34" charset="-122"/>
                          <a:cs typeface="Calibri" pitchFamily="34" charset="-120"/>
                        </a:rPr>
                        <a:t>0.1403</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E0D0"/>
                    </a:solidFill>
                  </a:tcPr>
                </a:tc>
                <a:tc>
                  <a:txBody>
                    <a:bodyPr/>
                    <a:lstStyle/>
                    <a:p>
                      <a:pPr marL="0" indent="0" algn="ctr">
                        <a:buNone/>
                      </a:pPr>
                      <a:r>
                        <a:rPr lang="en-US" sz="900" b="1" dirty="0">
                          <a:solidFill>
                            <a:srgbClr val="AA2200"/>
                          </a:solidFill>
                          <a:latin typeface="Calibri" pitchFamily="34" charset="0"/>
                          <a:ea typeface="Calibri" pitchFamily="34" charset="-122"/>
                          <a:cs typeface="Calibri" pitchFamily="34" charset="-120"/>
                        </a:rPr>
                        <a:t>0.1160</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E0D0"/>
                    </a:solidFill>
                  </a:tcPr>
                </a:tc>
                <a:tc>
                  <a:txBody>
                    <a:bodyPr/>
                    <a:lstStyle/>
                    <a:p>
                      <a:pPr marL="0" indent="0" algn="ctr">
                        <a:buNone/>
                      </a:pPr>
                      <a:r>
                        <a:rPr lang="en-US" sz="900" b="1" dirty="0">
                          <a:solidFill>
                            <a:srgbClr val="AA2200"/>
                          </a:solidFill>
                          <a:latin typeface="Calibri" pitchFamily="34" charset="0"/>
                          <a:ea typeface="Calibri" pitchFamily="34" charset="-122"/>
                          <a:cs typeface="Calibri" pitchFamily="34" charset="-120"/>
                        </a:rPr>
                        <a:t>0.1847</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E0D0"/>
                    </a:solidFill>
                  </a:tcPr>
                </a:tc>
                <a:tc>
                  <a:txBody>
                    <a:bodyPr/>
                    <a:lstStyle/>
                    <a:p>
                      <a:pPr marL="0" indent="0" algn="ctr">
                        <a:buNone/>
                      </a:pPr>
                      <a:r>
                        <a:rPr lang="en-US" sz="900" b="1" dirty="0">
                          <a:solidFill>
                            <a:srgbClr val="AA2200"/>
                          </a:solidFill>
                          <a:latin typeface="Calibri" pitchFamily="34" charset="0"/>
                          <a:ea typeface="Calibri" pitchFamily="34" charset="-122"/>
                          <a:cs typeface="Calibri" pitchFamily="34" charset="-120"/>
                        </a:rPr>
                        <a:t>0.2600</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E0D0"/>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8411142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a:extLst>
            <a:ext uri="{FF2B5EF4-FFF2-40B4-BE49-F238E27FC236}">
              <a16:creationId xmlns:a16="http://schemas.microsoft.com/office/drawing/2014/main" id="{62F5C387-30CB-1B4A-456F-DDD5CF1492D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B3E3584-72FC-A9D7-CD4C-0011B55823D0}"/>
              </a:ext>
            </a:extLst>
          </p:cNvPr>
          <p:cNvSpPr/>
          <p:nvPr/>
        </p:nvSpPr>
        <p:spPr>
          <a:xfrm>
            <a:off x="0" y="0"/>
            <a:ext cx="9144000" cy="713232"/>
          </a:xfrm>
          <a:prstGeom prst="rect">
            <a:avLst/>
          </a:prstGeom>
          <a:solidFill>
            <a:srgbClr val="2A1A5E"/>
          </a:solidFill>
          <a:ln w="12700">
            <a:solidFill>
              <a:srgbClr val="2A1A5E"/>
            </a:solidFill>
            <a:prstDash val="solid"/>
          </a:ln>
        </p:spPr>
        <p:txBody>
          <a:bodyPr/>
          <a:lstStyle/>
          <a:p>
            <a:endParaRPr lang="en-MT"/>
          </a:p>
        </p:txBody>
      </p:sp>
      <p:sp>
        <p:nvSpPr>
          <p:cNvPr id="3" name="Shape 1">
            <a:extLst>
              <a:ext uri="{FF2B5EF4-FFF2-40B4-BE49-F238E27FC236}">
                <a16:creationId xmlns:a16="http://schemas.microsoft.com/office/drawing/2014/main" id="{4A19349D-810F-0CCB-ACF3-5043E0502F46}"/>
              </a:ext>
            </a:extLst>
          </p:cNvPr>
          <p:cNvSpPr/>
          <p:nvPr/>
        </p:nvSpPr>
        <p:spPr>
          <a:xfrm>
            <a:off x="7132320" y="128016"/>
            <a:ext cx="1737360" cy="457200"/>
          </a:xfrm>
          <a:prstGeom prst="rect">
            <a:avLst/>
          </a:prstGeom>
          <a:solidFill>
            <a:srgbClr val="C9A84C"/>
          </a:solidFill>
          <a:ln w="12700">
            <a:solidFill>
              <a:srgbClr val="C9A84C"/>
            </a:solidFill>
            <a:prstDash val="solid"/>
          </a:ln>
        </p:spPr>
        <p:txBody>
          <a:bodyPr/>
          <a:lstStyle/>
          <a:p>
            <a:endParaRPr lang="en-MT"/>
          </a:p>
        </p:txBody>
      </p:sp>
      <p:sp>
        <p:nvSpPr>
          <p:cNvPr id="4" name="Text 2">
            <a:extLst>
              <a:ext uri="{FF2B5EF4-FFF2-40B4-BE49-F238E27FC236}">
                <a16:creationId xmlns:a16="http://schemas.microsoft.com/office/drawing/2014/main" id="{97D2F6DB-7BC7-9BD3-FED4-634685BFEE3E}"/>
              </a:ext>
            </a:extLst>
          </p:cNvPr>
          <p:cNvSpPr/>
          <p:nvPr/>
        </p:nvSpPr>
        <p:spPr>
          <a:xfrm>
            <a:off x="7132320" y="128016"/>
            <a:ext cx="1737360" cy="457200"/>
          </a:xfrm>
          <a:prstGeom prst="rect">
            <a:avLst/>
          </a:prstGeom>
          <a:noFill/>
          <a:ln/>
        </p:spPr>
        <p:txBody>
          <a:bodyPr wrap="square" rtlCol="0" anchor="ctr"/>
          <a:lstStyle/>
          <a:p>
            <a:pPr marL="0" indent="0" algn="ctr">
              <a:buNone/>
            </a:pPr>
            <a:r>
              <a:rPr lang="en-US" sz="750" b="1" kern="0" spc="50" dirty="0">
                <a:solidFill>
                  <a:srgbClr val="1B3A5C"/>
                </a:solidFill>
                <a:latin typeface="Calibri" pitchFamily="34" charset="0"/>
                <a:ea typeface="Calibri" pitchFamily="34" charset="-122"/>
                <a:cs typeface="Calibri" pitchFamily="34" charset="-120"/>
              </a:rPr>
              <a:t>SUPPLEMENTARY</a:t>
            </a:r>
            <a:endParaRPr lang="en-US" sz="750" dirty="0"/>
          </a:p>
        </p:txBody>
      </p:sp>
      <p:sp>
        <p:nvSpPr>
          <p:cNvPr id="5" name="Text 3">
            <a:extLst>
              <a:ext uri="{FF2B5EF4-FFF2-40B4-BE49-F238E27FC236}">
                <a16:creationId xmlns:a16="http://schemas.microsoft.com/office/drawing/2014/main" id="{521B6F6D-4C68-97F5-2A40-7493DBC5BA7E}"/>
              </a:ext>
            </a:extLst>
          </p:cNvPr>
          <p:cNvSpPr/>
          <p:nvPr/>
        </p:nvSpPr>
        <p:spPr>
          <a:xfrm>
            <a:off x="411480" y="0"/>
            <a:ext cx="6583680" cy="713232"/>
          </a:xfrm>
          <a:prstGeom prst="rect">
            <a:avLst/>
          </a:prstGeom>
          <a:noFill/>
          <a:ln/>
        </p:spPr>
        <p:txBody>
          <a:bodyPr wrap="square"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MODEL SELECTION EVIDENCE  ·  IMAGE CAPTIONING (1/2)</a:t>
            </a:r>
            <a:endParaRPr lang="en-US" sz="1400" dirty="0"/>
          </a:p>
        </p:txBody>
      </p:sp>
      <p:sp>
        <p:nvSpPr>
          <p:cNvPr id="6" name="Text 4">
            <a:extLst>
              <a:ext uri="{FF2B5EF4-FFF2-40B4-BE49-F238E27FC236}">
                <a16:creationId xmlns:a16="http://schemas.microsoft.com/office/drawing/2014/main" id="{7F7608A4-1750-05C6-4706-BAF153A062A5}"/>
              </a:ext>
            </a:extLst>
          </p:cNvPr>
          <p:cNvSpPr/>
          <p:nvPr/>
        </p:nvSpPr>
        <p:spPr>
          <a:xfrm>
            <a:off x="274320" y="822960"/>
            <a:ext cx="8595360" cy="237744"/>
          </a:xfrm>
          <a:prstGeom prst="rect">
            <a:avLst/>
          </a:prstGeom>
          <a:noFill/>
          <a:ln/>
        </p:spPr>
        <p:txBody>
          <a:bodyPr wrap="square" rtlCol="0" anchor="ctr"/>
          <a:lstStyle/>
          <a:p>
            <a:pPr marL="0" indent="0">
              <a:buNone/>
            </a:pPr>
            <a:r>
              <a:rPr lang="en-US" sz="950" b="1" dirty="0">
                <a:solidFill>
                  <a:srgbClr val="2A1A5E"/>
                </a:solidFill>
                <a:latin typeface="Calibri" pitchFamily="34" charset="0"/>
                <a:ea typeface="Calibri" pitchFamily="34" charset="-122"/>
                <a:cs typeface="Calibri" pitchFamily="34" charset="-120"/>
              </a:rPr>
              <a:t>Step 1 — Throughput Screening  (Table 3.12)  ·  Batch size 25 target on a single GPU</a:t>
            </a:r>
            <a:endParaRPr lang="en-US" sz="950" dirty="0"/>
          </a:p>
        </p:txBody>
      </p:sp>
      <p:graphicFrame>
        <p:nvGraphicFramePr>
          <p:cNvPr id="24" name="Table 0">
            <a:extLst>
              <a:ext uri="{FF2B5EF4-FFF2-40B4-BE49-F238E27FC236}">
                <a16:creationId xmlns:a16="http://schemas.microsoft.com/office/drawing/2014/main" id="{CC60D7CB-F86F-87D2-01BD-31F23B53A571}"/>
              </a:ext>
            </a:extLst>
          </p:cNvPr>
          <p:cNvGraphicFramePr>
            <a:graphicFrameLocks noGrp="1"/>
          </p:cNvGraphicFramePr>
          <p:nvPr/>
        </p:nvGraphicFramePr>
        <p:xfrm>
          <a:off x="274320" y="1097280"/>
          <a:ext cx="8595360" cy="3119120"/>
        </p:xfrm>
        <a:graphic>
          <a:graphicData uri="http://schemas.openxmlformats.org/drawingml/2006/table">
            <a:tbl>
              <a:tblPr/>
              <a:tblGrid>
                <a:gridCol w="219456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3931920">
                  <a:extLst>
                    <a:ext uri="{9D8B030D-6E8A-4147-A177-3AD203B41FA5}">
                      <a16:colId xmlns:a16="http://schemas.microsoft.com/office/drawing/2014/main" val="20004"/>
                    </a:ext>
                  </a:extLst>
                </a:gridCol>
              </a:tblGrid>
              <a:tr h="274320">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Model</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Batch</a:t>
                      </a:r>
                      <a:endParaRPr lang="en-US" sz="900" dirty="0">
                        <a:latin typeface="Calibri" charset="0"/>
                        <a:ea typeface="Calibri" charset="0"/>
                        <a:cs typeface="Calibri" charset="0"/>
                      </a:endParaRPr>
                    </a:p>
                    <a:p>
                      <a:pPr marL="0" indent="0" algn="ctr">
                        <a:buNone/>
                      </a:pPr>
                      <a:r>
                        <a:rPr lang="en-US" sz="900" b="1" dirty="0">
                          <a:solidFill>
                            <a:srgbClr val="FFFFFF"/>
                          </a:solidFill>
                          <a:latin typeface="Calibri" pitchFamily="34" charset="0"/>
                          <a:ea typeface="Calibri" pitchFamily="34" charset="-122"/>
                          <a:cs typeface="Calibri" pitchFamily="34" charset="-120"/>
                        </a:rPr>
                        <a:t>Size</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Time (25 imgs)</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Viable</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Reason if excluded</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extLst>
                  <a:ext uri="{0D108BD9-81ED-4DB2-BD59-A6C34878D82A}">
                    <a16:rowId xmlns:a16="http://schemas.microsoft.com/office/drawing/2014/main" val="10000"/>
                  </a:ext>
                </a:extLst>
              </a:tr>
              <a:tr h="274320">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LLaVA 1.5 7B</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B84A0A"/>
                          </a:solidFill>
                          <a:latin typeface="Calibri" pitchFamily="34" charset="0"/>
                          <a:ea typeface="Calibri" pitchFamily="34" charset="-122"/>
                          <a:cs typeface="Calibri" pitchFamily="34" charset="-120"/>
                        </a:rPr>
                        <a:t>~27.0 s</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F0E0"/>
                    </a:solidFill>
                  </a:tcPr>
                </a:tc>
                <a:tc>
                  <a:txBody>
                    <a:bodyPr/>
                    <a:lstStyle/>
                    <a:p>
                      <a:pPr marL="0" indent="0" algn="ctr">
                        <a:buNone/>
                      </a:pPr>
                      <a:r>
                        <a:rPr lang="en-US" sz="900" b="1" dirty="0">
                          <a:solidFill>
                            <a:srgbClr val="AA2200"/>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E0D0"/>
                    </a:solidFill>
                  </a:tcPr>
                </a:tc>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Autoregressive — batch size ceiling = 2</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TinyLLaVA-Phi-2-3.1B</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b="1" dirty="0">
                          <a:solidFill>
                            <a:srgbClr val="AA2200"/>
                          </a:solidFill>
                          <a:latin typeface="Calibri" pitchFamily="34" charset="0"/>
                          <a:ea typeface="Calibri" pitchFamily="34" charset="-122"/>
                          <a:cs typeface="Calibri" pitchFamily="34" charset="-120"/>
                        </a:rPr>
                        <a:t>~180 s</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E0D0"/>
                    </a:solidFill>
                  </a:tcPr>
                </a:tc>
                <a:tc>
                  <a:txBody>
                    <a:bodyPr/>
                    <a:lstStyle/>
                    <a:p>
                      <a:pPr marL="0" indent="0" algn="ctr">
                        <a:buNone/>
                      </a:pPr>
                      <a:r>
                        <a:rPr lang="en-US" sz="900" b="1" dirty="0">
                          <a:solidFill>
                            <a:srgbClr val="AA2200"/>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E0D0"/>
                    </a:solidFill>
                  </a:tcPr>
                </a:tc>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Autoregressive — batch size ceiling = 2</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extLst>
                  <a:ext uri="{0D108BD9-81ED-4DB2-BD59-A6C34878D82A}">
                    <a16:rowId xmlns:a16="http://schemas.microsoft.com/office/drawing/2014/main" val="10002"/>
                  </a:ext>
                </a:extLst>
              </a:tr>
              <a:tr h="274320">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LLaVA-OneVision-0.5B</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AA2200"/>
                          </a:solidFill>
                          <a:latin typeface="Calibri" pitchFamily="34" charset="0"/>
                          <a:ea typeface="Calibri" pitchFamily="34" charset="-122"/>
                          <a:cs typeface="Calibri" pitchFamily="34" charset="-120"/>
                        </a:rPr>
                        <a:t>~180 s</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E0D0"/>
                    </a:solidFill>
                  </a:tcPr>
                </a:tc>
                <a:tc>
                  <a:txBody>
                    <a:bodyPr/>
                    <a:lstStyle/>
                    <a:p>
                      <a:pPr marL="0" indent="0" algn="ctr">
                        <a:buNone/>
                      </a:pPr>
                      <a:r>
                        <a:rPr lang="en-US" sz="900" b="1" dirty="0">
                          <a:solidFill>
                            <a:srgbClr val="AA2200"/>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E0D0"/>
                    </a:solidFill>
                  </a:tcPr>
                </a:tc>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Autoregressive — batch size ceiling = 2</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BLIP2-Flan-T5-XL</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25</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~2.3 s</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B84A0A"/>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F0E0"/>
                    </a:solidFill>
                  </a:tcPr>
                </a:tc>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8-bit quantisation constraint — no speed advantage</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extLst>
                  <a:ext uri="{0D108BD9-81ED-4DB2-BD59-A6C34878D82A}">
                    <a16:rowId xmlns:a16="http://schemas.microsoft.com/office/drawing/2014/main" val="10004"/>
                  </a:ext>
                </a:extLst>
              </a:tr>
              <a:tr h="274320">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Moondream2</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N/A</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AA2200"/>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E0D0"/>
                    </a:solidFill>
                  </a:tcPr>
                </a:tc>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No batch inference support</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74320">
                <a:tc>
                  <a:txBody>
                    <a:bodyPr/>
                    <a:lstStyle/>
                    <a:p>
                      <a:pPr marL="0" indent="0" algn="l">
                        <a:buNone/>
                      </a:pPr>
                      <a:r>
                        <a:rPr lang="en-US" sz="900" b="1" dirty="0">
                          <a:solidFill>
                            <a:srgbClr val="0D8A5E"/>
                          </a:solidFill>
                          <a:latin typeface="Calibri" pitchFamily="34" charset="0"/>
                          <a:ea typeface="Calibri" pitchFamily="34" charset="-122"/>
                          <a:cs typeface="Calibri" pitchFamily="34" charset="-120"/>
                        </a:rPr>
                        <a:t>BLIP Large ★</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l">
                        <a:buNone/>
                      </a:pPr>
                      <a:r>
                        <a:rPr lang="en-US" sz="900" b="1" dirty="0">
                          <a:solidFill>
                            <a:srgbClr val="0D8A5E"/>
                          </a:solidFill>
                          <a:latin typeface="Calibri" pitchFamily="34" charset="0"/>
                          <a:ea typeface="Calibri" pitchFamily="34" charset="-122"/>
                          <a:cs typeface="Calibri" pitchFamily="34" charset="-120"/>
                        </a:rPr>
                        <a:t>25</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~2.3 s</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Yes ✓</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l">
                        <a:buNone/>
                      </a:pPr>
                      <a:r>
                        <a:rPr lang="en-US" sz="900" b="1" dirty="0">
                          <a:solidFill>
                            <a:srgbClr val="0D8A5E"/>
                          </a:solidFill>
                          <a:latin typeface="Calibri" pitchFamily="34" charset="0"/>
                          <a:ea typeface="Calibri" pitchFamily="34" charset="-122"/>
                          <a:cs typeface="Calibri" pitchFamily="34" charset="-120"/>
                        </a:rPr>
                        <a:t>Advanced to quality evaluation</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extLst>
                  <a:ext uri="{0D108BD9-81ED-4DB2-BD59-A6C34878D82A}">
                    <a16:rowId xmlns:a16="http://schemas.microsoft.com/office/drawing/2014/main" val="10006"/>
                  </a:ext>
                </a:extLst>
              </a:tr>
              <a:tr h="274320">
                <a:tc>
                  <a:txBody>
                    <a:bodyPr/>
                    <a:lstStyle/>
                    <a:p>
                      <a:pPr marL="0" indent="0" algn="l">
                        <a:buNone/>
                      </a:pPr>
                      <a:r>
                        <a:rPr lang="en-US" sz="900" b="1" dirty="0">
                          <a:solidFill>
                            <a:srgbClr val="0D8A5E"/>
                          </a:solidFill>
                          <a:latin typeface="Calibri" pitchFamily="34" charset="0"/>
                          <a:ea typeface="Calibri" pitchFamily="34" charset="-122"/>
                          <a:cs typeface="Calibri" pitchFamily="34" charset="-120"/>
                        </a:rPr>
                        <a:t>Florence 2 Base ★</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l">
                        <a:buNone/>
                      </a:pPr>
                      <a:r>
                        <a:rPr lang="en-US" sz="900" b="1" dirty="0">
                          <a:solidFill>
                            <a:srgbClr val="0D8A5E"/>
                          </a:solidFill>
                          <a:latin typeface="Calibri" pitchFamily="34" charset="0"/>
                          <a:ea typeface="Calibri" pitchFamily="34" charset="-122"/>
                          <a:cs typeface="Calibri" pitchFamily="34" charset="-120"/>
                        </a:rPr>
                        <a:t>25</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~2.6 s</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Yes ✓</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l">
                        <a:buNone/>
                      </a:pPr>
                      <a:r>
                        <a:rPr lang="en-US" sz="900" b="1" dirty="0">
                          <a:solidFill>
                            <a:srgbClr val="0D8A5E"/>
                          </a:solidFill>
                          <a:latin typeface="Calibri" pitchFamily="34" charset="0"/>
                          <a:ea typeface="Calibri" pitchFamily="34" charset="-122"/>
                          <a:cs typeface="Calibri" pitchFamily="34" charset="-120"/>
                        </a:rPr>
                        <a:t>Advanced to quality evaluation</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extLst>
                  <a:ext uri="{0D108BD9-81ED-4DB2-BD59-A6C34878D82A}">
                    <a16:rowId xmlns:a16="http://schemas.microsoft.com/office/drawing/2014/main" val="10007"/>
                  </a:ext>
                </a:extLst>
              </a:tr>
              <a:tr h="274320">
                <a:tc>
                  <a:txBody>
                    <a:bodyPr/>
                    <a:lstStyle/>
                    <a:p>
                      <a:pPr marL="0" indent="0" algn="l">
                        <a:buNone/>
                      </a:pPr>
                      <a:r>
                        <a:rPr lang="en-US" sz="900" b="1" dirty="0">
                          <a:solidFill>
                            <a:srgbClr val="0D8A5E"/>
                          </a:solidFill>
                          <a:latin typeface="Calibri" pitchFamily="34" charset="0"/>
                          <a:ea typeface="Calibri" pitchFamily="34" charset="-122"/>
                          <a:cs typeface="Calibri" pitchFamily="34" charset="-120"/>
                        </a:rPr>
                        <a:t>Kosmos 2 ★</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l">
                        <a:buNone/>
                      </a:pPr>
                      <a:r>
                        <a:rPr lang="en-US" sz="900" b="1" dirty="0">
                          <a:solidFill>
                            <a:srgbClr val="0D8A5E"/>
                          </a:solidFill>
                          <a:latin typeface="Calibri" pitchFamily="34" charset="0"/>
                          <a:ea typeface="Calibri" pitchFamily="34" charset="-122"/>
                          <a:cs typeface="Calibri" pitchFamily="34" charset="-120"/>
                        </a:rPr>
                        <a:t>25</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~1.9 s</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Yes ✓</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l">
                        <a:buNone/>
                      </a:pPr>
                      <a:r>
                        <a:rPr lang="en-US" sz="900" b="1" dirty="0">
                          <a:solidFill>
                            <a:srgbClr val="0D8A5E"/>
                          </a:solidFill>
                          <a:latin typeface="Calibri" pitchFamily="34" charset="0"/>
                          <a:ea typeface="Calibri" pitchFamily="34" charset="-122"/>
                          <a:cs typeface="Calibri" pitchFamily="34" charset="-120"/>
                        </a:rPr>
                        <a:t>Advanced to quality evaluation</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extLst>
                  <a:ext uri="{0D108BD9-81ED-4DB2-BD59-A6C34878D82A}">
                    <a16:rowId xmlns:a16="http://schemas.microsoft.com/office/drawing/2014/main" val="10008"/>
                  </a:ext>
                </a:extLst>
              </a:tr>
              <a:tr h="274320">
                <a:tc>
                  <a:txBody>
                    <a:bodyPr/>
                    <a:lstStyle/>
                    <a:p>
                      <a:pPr marL="0" indent="0" algn="l">
                        <a:buNone/>
                      </a:pPr>
                      <a:r>
                        <a:rPr lang="en-US" sz="900" b="1" dirty="0">
                          <a:solidFill>
                            <a:srgbClr val="0D8A5E"/>
                          </a:solidFill>
                          <a:latin typeface="Calibri" pitchFamily="34" charset="0"/>
                          <a:ea typeface="Calibri" pitchFamily="34" charset="-122"/>
                          <a:cs typeface="Calibri" pitchFamily="34" charset="-120"/>
                        </a:rPr>
                        <a:t>ViT-GPT2 ★</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l">
                        <a:buNone/>
                      </a:pPr>
                      <a:r>
                        <a:rPr lang="en-US" sz="900" b="1" dirty="0">
                          <a:solidFill>
                            <a:srgbClr val="0D8A5E"/>
                          </a:solidFill>
                          <a:latin typeface="Calibri" pitchFamily="34" charset="0"/>
                          <a:ea typeface="Calibri" pitchFamily="34" charset="-122"/>
                          <a:cs typeface="Calibri" pitchFamily="34" charset="-120"/>
                        </a:rPr>
                        <a:t>25</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~2.1 s</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Yes ✓</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l">
                        <a:buNone/>
                      </a:pPr>
                      <a:r>
                        <a:rPr lang="en-US" sz="900" b="1" dirty="0">
                          <a:solidFill>
                            <a:srgbClr val="0D8A5E"/>
                          </a:solidFill>
                          <a:latin typeface="Calibri" pitchFamily="34" charset="0"/>
                          <a:ea typeface="Calibri" pitchFamily="34" charset="-122"/>
                          <a:cs typeface="Calibri" pitchFamily="34" charset="-120"/>
                        </a:rPr>
                        <a:t>Advanced to quality evaluation</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extLst>
                  <a:ext uri="{0D108BD9-81ED-4DB2-BD59-A6C34878D82A}">
                    <a16:rowId xmlns:a16="http://schemas.microsoft.com/office/drawing/2014/main" val="10009"/>
                  </a:ext>
                </a:extLst>
              </a:tr>
              <a:tr h="274320">
                <a:tc>
                  <a:txBody>
                    <a:bodyPr/>
                    <a:lstStyle/>
                    <a:p>
                      <a:pPr marL="0" indent="0" algn="l">
                        <a:buNone/>
                      </a:pPr>
                      <a:r>
                        <a:rPr lang="en-US" sz="900" b="1" dirty="0">
                          <a:solidFill>
                            <a:srgbClr val="0D8A5E"/>
                          </a:solidFill>
                          <a:latin typeface="Calibri" pitchFamily="34" charset="0"/>
                          <a:ea typeface="Calibri" pitchFamily="34" charset="-122"/>
                          <a:cs typeface="Calibri" pitchFamily="34" charset="-120"/>
                        </a:rPr>
                        <a:t>Tiny ★</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l">
                        <a:buNone/>
                      </a:pPr>
                      <a:r>
                        <a:rPr lang="en-US" sz="900" b="1" dirty="0">
                          <a:solidFill>
                            <a:srgbClr val="0D8A5E"/>
                          </a:solidFill>
                          <a:latin typeface="Calibri" pitchFamily="34" charset="0"/>
                          <a:ea typeface="Calibri" pitchFamily="34" charset="-122"/>
                          <a:cs typeface="Calibri" pitchFamily="34" charset="-120"/>
                        </a:rPr>
                        <a:t>25</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~2.2 s</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Yes ✓</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l">
                        <a:buNone/>
                      </a:pPr>
                      <a:r>
                        <a:rPr lang="en-US" sz="900" b="1" dirty="0">
                          <a:solidFill>
                            <a:srgbClr val="0D8A5E"/>
                          </a:solidFill>
                          <a:latin typeface="Calibri" pitchFamily="34" charset="0"/>
                          <a:ea typeface="Calibri" pitchFamily="34" charset="-122"/>
                          <a:cs typeface="Calibri" pitchFamily="34" charset="-120"/>
                        </a:rPr>
                        <a:t>Advanced — but failed quality gate (see overleaf)</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3744795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3">
    <p:bg>
      <p:bgPr>
        <a:solidFill>
          <a:srgbClr val="F7F4EE"/>
        </a:solidFill>
        <a:effectLst/>
      </p:bgPr>
    </p:bg>
    <p:spTree>
      <p:nvGrpSpPr>
        <p:cNvPr id="1" name=""/>
        <p:cNvGrpSpPr/>
        <p:nvPr/>
      </p:nvGrpSpPr>
      <p:grpSpPr>
        <a:xfrm>
          <a:off x="0" y="0"/>
          <a:ext cx="0" cy="0"/>
          <a:chOff x="0" y="0"/>
          <a:chExt cx="0" cy="0"/>
        </a:xfrm>
      </p:grpSpPr>
      <p:sp>
        <p:nvSpPr>
          <p:cNvPr id="8" name="Text 5"/>
          <p:cNvSpPr/>
          <p:nvPr/>
        </p:nvSpPr>
        <p:spPr>
          <a:xfrm>
            <a:off x="274320" y="818388"/>
            <a:ext cx="8595360" cy="237744"/>
          </a:xfrm>
          <a:prstGeom prst="rect">
            <a:avLst/>
          </a:prstGeom>
          <a:noFill/>
          <a:ln/>
        </p:spPr>
        <p:txBody>
          <a:bodyPr wrap="square" rtlCol="0" anchor="ctr"/>
          <a:lstStyle/>
          <a:p>
            <a:pPr marL="0" indent="0">
              <a:buNone/>
            </a:pPr>
            <a:r>
              <a:rPr lang="en-US" sz="950" b="1" dirty="0">
                <a:solidFill>
                  <a:srgbClr val="2A1A5E"/>
                </a:solidFill>
                <a:latin typeface="Calibri" pitchFamily="34" charset="0"/>
                <a:ea typeface="Calibri" pitchFamily="34" charset="-122"/>
                <a:cs typeface="Calibri" pitchFamily="34" charset="-120"/>
              </a:rPr>
              <a:t>Step 2 — Quality Evaluation  (Tables 3.13 &amp; 3.14)  ·  5 viable models benchmarked on COCO 2014 &amp; Flickr30k Karpathy test splits</a:t>
            </a:r>
            <a:endParaRPr lang="en-US" sz="950" dirty="0"/>
          </a:p>
        </p:txBody>
      </p:sp>
      <p:sp>
        <p:nvSpPr>
          <p:cNvPr id="2" name="Shape 0"/>
          <p:cNvSpPr/>
          <p:nvPr/>
        </p:nvSpPr>
        <p:spPr>
          <a:xfrm>
            <a:off x="0" y="0"/>
            <a:ext cx="9144000" cy="713232"/>
          </a:xfrm>
          <a:prstGeom prst="rect">
            <a:avLst/>
          </a:prstGeom>
          <a:solidFill>
            <a:srgbClr val="2A1A5E"/>
          </a:solidFill>
          <a:ln w="12700">
            <a:solidFill>
              <a:srgbClr val="2A1A5E"/>
            </a:solidFill>
            <a:prstDash val="solid"/>
          </a:ln>
        </p:spPr>
        <p:txBody>
          <a:bodyPr/>
          <a:lstStyle/>
          <a:p>
            <a:endParaRPr lang="en-MT"/>
          </a:p>
        </p:txBody>
      </p:sp>
      <p:sp>
        <p:nvSpPr>
          <p:cNvPr id="3" name="Shape 1"/>
          <p:cNvSpPr/>
          <p:nvPr/>
        </p:nvSpPr>
        <p:spPr>
          <a:xfrm>
            <a:off x="7132320" y="128016"/>
            <a:ext cx="1737360" cy="457200"/>
          </a:xfrm>
          <a:prstGeom prst="rect">
            <a:avLst/>
          </a:prstGeom>
          <a:solidFill>
            <a:srgbClr val="C9A84C"/>
          </a:solidFill>
          <a:ln w="12700">
            <a:solidFill>
              <a:srgbClr val="C9A84C"/>
            </a:solidFill>
            <a:prstDash val="solid"/>
          </a:ln>
        </p:spPr>
        <p:txBody>
          <a:bodyPr/>
          <a:lstStyle/>
          <a:p>
            <a:endParaRPr lang="en-MT"/>
          </a:p>
        </p:txBody>
      </p:sp>
      <p:sp>
        <p:nvSpPr>
          <p:cNvPr id="4" name="Text 2"/>
          <p:cNvSpPr/>
          <p:nvPr/>
        </p:nvSpPr>
        <p:spPr>
          <a:xfrm>
            <a:off x="7132320" y="128016"/>
            <a:ext cx="1737360" cy="457200"/>
          </a:xfrm>
          <a:prstGeom prst="rect">
            <a:avLst/>
          </a:prstGeom>
          <a:noFill/>
          <a:ln/>
        </p:spPr>
        <p:txBody>
          <a:bodyPr wrap="square" rtlCol="0" anchor="ctr"/>
          <a:lstStyle/>
          <a:p>
            <a:pPr marL="0" indent="0" algn="ctr">
              <a:buNone/>
            </a:pPr>
            <a:r>
              <a:rPr lang="en-US" sz="750" b="1" kern="0" spc="50" dirty="0">
                <a:solidFill>
                  <a:srgbClr val="1B3A5C"/>
                </a:solidFill>
                <a:latin typeface="Calibri" pitchFamily="34" charset="0"/>
                <a:ea typeface="Calibri" pitchFamily="34" charset="-122"/>
                <a:cs typeface="Calibri" pitchFamily="34" charset="-120"/>
              </a:rPr>
              <a:t>SUPPLEMENTARY</a:t>
            </a:r>
            <a:endParaRPr lang="en-US" sz="750" dirty="0"/>
          </a:p>
        </p:txBody>
      </p:sp>
      <p:sp>
        <p:nvSpPr>
          <p:cNvPr id="5" name="Text 3"/>
          <p:cNvSpPr/>
          <p:nvPr/>
        </p:nvSpPr>
        <p:spPr>
          <a:xfrm>
            <a:off x="411480" y="0"/>
            <a:ext cx="6583680" cy="713232"/>
          </a:xfrm>
          <a:prstGeom prst="rect">
            <a:avLst/>
          </a:prstGeom>
          <a:noFill/>
          <a:ln/>
        </p:spPr>
        <p:txBody>
          <a:bodyPr wrap="square"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MODEL SELECTION EVIDENCE  ·  IMAGE CAPTIONING (2/2)</a:t>
            </a:r>
            <a:endParaRPr lang="en-US" sz="1400" dirty="0"/>
          </a:p>
        </p:txBody>
      </p:sp>
      <p:graphicFrame>
        <p:nvGraphicFramePr>
          <p:cNvPr id="47" name="Table 1"/>
          <p:cNvGraphicFramePr>
            <a:graphicFrameLocks noGrp="1"/>
          </p:cNvGraphicFramePr>
          <p:nvPr>
            <p:extLst>
              <p:ext uri="{D42A27DB-BD31-4B8C-83A1-F6EECF244321}">
                <p14:modId xmlns:p14="http://schemas.microsoft.com/office/powerpoint/2010/main" val="1109533710"/>
              </p:ext>
            </p:extLst>
          </p:nvPr>
        </p:nvGraphicFramePr>
        <p:xfrm>
          <a:off x="274320" y="1092708"/>
          <a:ext cx="5029200" cy="2626360"/>
        </p:xfrm>
        <a:graphic>
          <a:graphicData uri="http://schemas.openxmlformats.org/drawingml/2006/table">
            <a:tbl>
              <a:tblPr/>
              <a:tblGrid>
                <a:gridCol w="146304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20116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Model</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Dataset</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CLIP-S</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RefCLIP-S</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4-gram Diversity</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extLst>
                  <a:ext uri="{0D108BD9-81ED-4DB2-BD59-A6C34878D82A}">
                    <a16:rowId xmlns:a16="http://schemas.microsoft.com/office/drawing/2014/main" val="10000"/>
                  </a:ext>
                </a:extLst>
              </a:tr>
              <a:tr h="201168">
                <a:tc>
                  <a:txBody>
                    <a:bodyPr/>
                    <a:lstStyle/>
                    <a:p>
                      <a:pPr marL="0" indent="0" algn="l">
                        <a:buNone/>
                      </a:pPr>
                      <a:r>
                        <a:rPr lang="en-US" sz="900" b="1" dirty="0">
                          <a:solidFill>
                            <a:srgbClr val="0D8A5E"/>
                          </a:solidFill>
                          <a:latin typeface="Calibri" pitchFamily="34" charset="0"/>
                          <a:ea typeface="Calibri" pitchFamily="34" charset="-122"/>
                          <a:cs typeface="Calibri" pitchFamily="34" charset="-120"/>
                        </a:rPr>
                        <a:t>BLIP Large ★</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COCO</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0.6646</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0.7279</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0.341</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extLst>
                  <a:ext uri="{0D108BD9-81ED-4DB2-BD59-A6C34878D82A}">
                    <a16:rowId xmlns:a16="http://schemas.microsoft.com/office/drawing/2014/main" val="10001"/>
                  </a:ext>
                </a:extLst>
              </a:tr>
              <a:tr h="201168">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ViT-GPT2</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COCO</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0.6040</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0.6951</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0.325</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01168">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Florence 2</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COCO</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0.5927</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0.6163</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0.298</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extLst>
                  <a:ext uri="{0D108BD9-81ED-4DB2-BD59-A6C34878D82A}">
                    <a16:rowId xmlns:a16="http://schemas.microsoft.com/office/drawing/2014/main" val="10003"/>
                  </a:ext>
                </a:extLst>
              </a:tr>
              <a:tr h="201168">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Kosmos 2</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COCO</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0.5568</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0.5861</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0.333</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01168">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Tiny</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F0E0"/>
                    </a:solidFill>
                  </a:tcPr>
                </a:tc>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COCO</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F0E0"/>
                    </a:solidFill>
                  </a:tcPr>
                </a:tc>
                <a:tc>
                  <a:txBody>
                    <a:bodyPr/>
                    <a:lstStyle/>
                    <a:p>
                      <a:pPr marL="0" indent="0" algn="ctr">
                        <a:buNone/>
                      </a:pPr>
                      <a:r>
                        <a:rPr lang="en-US" sz="900" dirty="0">
                          <a:solidFill>
                            <a:srgbClr val="B84A0A"/>
                          </a:solidFill>
                          <a:latin typeface="Calibri" pitchFamily="34" charset="0"/>
                          <a:ea typeface="Calibri" pitchFamily="34" charset="-122"/>
                          <a:cs typeface="Calibri" pitchFamily="34" charset="-120"/>
                        </a:rPr>
                        <a:t>0.4110</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F0E0"/>
                    </a:solidFill>
                  </a:tcPr>
                </a:tc>
                <a:tc>
                  <a:txBody>
                    <a:bodyPr/>
                    <a:lstStyle/>
                    <a:p>
                      <a:pPr marL="0" indent="0" algn="ctr">
                        <a:buNone/>
                      </a:pPr>
                      <a:r>
                        <a:rPr lang="en-US" sz="900" dirty="0">
                          <a:solidFill>
                            <a:srgbClr val="B84A0A"/>
                          </a:solidFill>
                          <a:latin typeface="Calibri" pitchFamily="34" charset="0"/>
                          <a:ea typeface="Calibri" pitchFamily="34" charset="-122"/>
                          <a:cs typeface="Calibri" pitchFamily="34" charset="-120"/>
                        </a:rPr>
                        <a:t>0.4853</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F0E0"/>
                    </a:solidFill>
                  </a:tcPr>
                </a:tc>
                <a:tc>
                  <a:txBody>
                    <a:bodyPr/>
                    <a:lstStyle/>
                    <a:p>
                      <a:pPr marL="0" indent="0" algn="ctr">
                        <a:buNone/>
                      </a:pPr>
                      <a:r>
                        <a:rPr lang="en-US" sz="900" b="1" dirty="0">
                          <a:solidFill>
                            <a:srgbClr val="AA2200"/>
                          </a:solidFill>
                          <a:latin typeface="Calibri" pitchFamily="34" charset="0"/>
                          <a:ea typeface="Calibri" pitchFamily="34" charset="-122"/>
                          <a:cs typeface="Calibri" pitchFamily="34" charset="-120"/>
                        </a:rPr>
                        <a:t>0.055</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E0D0"/>
                    </a:solidFill>
                  </a:tcPr>
                </a:tc>
                <a:extLst>
                  <a:ext uri="{0D108BD9-81ED-4DB2-BD59-A6C34878D82A}">
                    <a16:rowId xmlns:a16="http://schemas.microsoft.com/office/drawing/2014/main" val="10005"/>
                  </a:ext>
                </a:extLst>
              </a:tr>
              <a:tr h="201168">
                <a:tc>
                  <a:txBody>
                    <a:bodyPr/>
                    <a:lstStyle/>
                    <a:p>
                      <a:pPr marL="0" indent="0" algn="l">
                        <a:buNone/>
                      </a:pPr>
                      <a:r>
                        <a:rPr lang="en-US" sz="900" b="1" dirty="0">
                          <a:solidFill>
                            <a:srgbClr val="0D8A5E"/>
                          </a:solidFill>
                          <a:latin typeface="Calibri" pitchFamily="34" charset="0"/>
                          <a:ea typeface="Calibri" pitchFamily="34" charset="-122"/>
                          <a:cs typeface="Calibri" pitchFamily="34" charset="-120"/>
                        </a:rPr>
                        <a:t>BLIP Large ★</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Flickr30k</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0.6550</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0.6868</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0.455</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extLst>
                  <a:ext uri="{0D108BD9-81ED-4DB2-BD59-A6C34878D82A}">
                    <a16:rowId xmlns:a16="http://schemas.microsoft.com/office/drawing/2014/main" val="10006"/>
                  </a:ext>
                </a:extLst>
              </a:tr>
              <a:tr h="201168">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ViT-GPT2</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Flickr30k</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0.5290</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0.5867</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0.494</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01168">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Florence 2</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Flickr30k</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0.6059</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0.5853</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0.450</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extLst>
                  <a:ext uri="{0D108BD9-81ED-4DB2-BD59-A6C34878D82A}">
                    <a16:rowId xmlns:a16="http://schemas.microsoft.com/office/drawing/2014/main" val="10008"/>
                  </a:ext>
                </a:extLst>
              </a:tr>
              <a:tr h="201168">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Kosmos 2</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Flickr30k</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0.5600</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0.5619</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0.449</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01168">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Tiny</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F0E0"/>
                    </a:solidFill>
                  </a:tcPr>
                </a:tc>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Flickr30k</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F0E0"/>
                    </a:solidFill>
                  </a:tcPr>
                </a:tc>
                <a:tc>
                  <a:txBody>
                    <a:bodyPr/>
                    <a:lstStyle/>
                    <a:p>
                      <a:pPr marL="0" indent="0" algn="ctr">
                        <a:buNone/>
                      </a:pPr>
                      <a:r>
                        <a:rPr lang="en-US" sz="900" dirty="0">
                          <a:solidFill>
                            <a:srgbClr val="B84A0A"/>
                          </a:solidFill>
                          <a:latin typeface="Calibri" pitchFamily="34" charset="0"/>
                          <a:ea typeface="Calibri" pitchFamily="34" charset="-122"/>
                          <a:cs typeface="Calibri" pitchFamily="34" charset="-120"/>
                        </a:rPr>
                        <a:t>0.4777</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F0E0"/>
                    </a:solidFill>
                  </a:tcPr>
                </a:tc>
                <a:tc>
                  <a:txBody>
                    <a:bodyPr/>
                    <a:lstStyle/>
                    <a:p>
                      <a:pPr marL="0" indent="0" algn="ctr">
                        <a:buNone/>
                      </a:pPr>
                      <a:r>
                        <a:rPr lang="en-US" sz="900" dirty="0">
                          <a:solidFill>
                            <a:srgbClr val="B84A0A"/>
                          </a:solidFill>
                          <a:latin typeface="Calibri" pitchFamily="34" charset="0"/>
                          <a:ea typeface="Calibri" pitchFamily="34" charset="-122"/>
                          <a:cs typeface="Calibri" pitchFamily="34" charset="-120"/>
                        </a:rPr>
                        <a:t>0.5409</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F0E0"/>
                    </a:solidFill>
                  </a:tcPr>
                </a:tc>
                <a:tc>
                  <a:txBody>
                    <a:bodyPr/>
                    <a:lstStyle/>
                    <a:p>
                      <a:pPr marL="0" indent="0" algn="ctr">
                        <a:buNone/>
                      </a:pPr>
                      <a:r>
                        <a:rPr lang="en-US" sz="900" b="1" dirty="0">
                          <a:solidFill>
                            <a:srgbClr val="AA2200"/>
                          </a:solidFill>
                          <a:latin typeface="Calibri" pitchFamily="34" charset="0"/>
                          <a:ea typeface="Calibri" pitchFamily="34" charset="-122"/>
                          <a:cs typeface="Calibri" pitchFamily="34" charset="-120"/>
                        </a:rPr>
                        <a:t>0.150</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E0D0"/>
                    </a:solidFill>
                  </a:tcPr>
                </a:tc>
                <a:extLst>
                  <a:ext uri="{0D108BD9-81ED-4DB2-BD59-A6C34878D82A}">
                    <a16:rowId xmlns:a16="http://schemas.microsoft.com/office/drawing/2014/main" val="10010"/>
                  </a:ext>
                </a:extLst>
              </a:tr>
            </a:tbl>
          </a:graphicData>
        </a:graphic>
      </p:graphicFrame>
      <p:grpSp>
        <p:nvGrpSpPr>
          <p:cNvPr id="7" name="Group 6">
            <a:extLst>
              <a:ext uri="{FF2B5EF4-FFF2-40B4-BE49-F238E27FC236}">
                <a16:creationId xmlns:a16="http://schemas.microsoft.com/office/drawing/2014/main" id="{CFB6C3E1-66A5-A7D5-5E9F-909590F5644B}"/>
              </a:ext>
            </a:extLst>
          </p:cNvPr>
          <p:cNvGrpSpPr/>
          <p:nvPr/>
        </p:nvGrpSpPr>
        <p:grpSpPr>
          <a:xfrm>
            <a:off x="5257800" y="1100328"/>
            <a:ext cx="3611880" cy="2615184"/>
            <a:chOff x="5257800" y="1092708"/>
            <a:chExt cx="3611880" cy="2615184"/>
          </a:xfrm>
        </p:grpSpPr>
        <p:sp>
          <p:nvSpPr>
            <p:cNvPr id="10" name="Shape 6"/>
            <p:cNvSpPr/>
            <p:nvPr/>
          </p:nvSpPr>
          <p:spPr>
            <a:xfrm>
              <a:off x="5257800" y="1092708"/>
              <a:ext cx="3611880" cy="2615184"/>
            </a:xfrm>
            <a:prstGeom prst="rect">
              <a:avLst/>
            </a:prstGeom>
            <a:solidFill>
              <a:srgbClr val="2A1A5E"/>
            </a:solidFill>
            <a:ln w="12700">
              <a:solidFill>
                <a:srgbClr val="2A1A5E"/>
              </a:solidFill>
              <a:prstDash val="solid"/>
            </a:ln>
            <a:effectLst>
              <a:outerShdw blurRad="63500" dist="25400" dir="8100000" algn="bl" rotWithShape="0">
                <a:srgbClr val="000000">
                  <a:alpha val="10000"/>
                </a:srgbClr>
              </a:outerShdw>
            </a:effectLst>
          </p:spPr>
          <p:txBody>
            <a:bodyPr/>
            <a:lstStyle/>
            <a:p>
              <a:endParaRPr lang="en-MT"/>
            </a:p>
          </p:txBody>
        </p:sp>
        <p:sp>
          <p:nvSpPr>
            <p:cNvPr id="11" name="Shape 7"/>
            <p:cNvSpPr/>
            <p:nvPr/>
          </p:nvSpPr>
          <p:spPr>
            <a:xfrm>
              <a:off x="5257800" y="1092708"/>
              <a:ext cx="3611880" cy="45720"/>
            </a:xfrm>
            <a:prstGeom prst="rect">
              <a:avLst/>
            </a:prstGeom>
            <a:solidFill>
              <a:srgbClr val="C9A84C"/>
            </a:solidFill>
            <a:ln w="12700">
              <a:solidFill>
                <a:srgbClr val="C9A84C"/>
              </a:solidFill>
              <a:prstDash val="solid"/>
            </a:ln>
          </p:spPr>
          <p:txBody>
            <a:bodyPr/>
            <a:lstStyle/>
            <a:p>
              <a:endParaRPr lang="en-MT"/>
            </a:p>
          </p:txBody>
        </p:sp>
        <p:sp>
          <p:nvSpPr>
            <p:cNvPr id="12" name="Text 8"/>
            <p:cNvSpPr/>
            <p:nvPr/>
          </p:nvSpPr>
          <p:spPr>
            <a:xfrm>
              <a:off x="5257800" y="1165860"/>
              <a:ext cx="3611880" cy="201168"/>
            </a:xfrm>
            <a:prstGeom prst="rect">
              <a:avLst/>
            </a:prstGeom>
            <a:noFill/>
            <a:ln/>
          </p:spPr>
          <p:txBody>
            <a:bodyPr wrap="square"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WHY TINY FAILED</a:t>
              </a:r>
              <a:endParaRPr lang="en-US" sz="800" dirty="0"/>
            </a:p>
          </p:txBody>
        </p:sp>
        <p:sp>
          <p:nvSpPr>
            <p:cNvPr id="13" name="Text 9"/>
            <p:cNvSpPr/>
            <p:nvPr/>
          </p:nvSpPr>
          <p:spPr>
            <a:xfrm>
              <a:off x="5367528" y="1403604"/>
              <a:ext cx="3410712" cy="182880"/>
            </a:xfrm>
            <a:prstGeom prst="rect">
              <a:avLst/>
            </a:prstGeom>
            <a:noFill/>
            <a:ln/>
          </p:spPr>
          <p:txBody>
            <a:bodyPr wrap="square" rtlCol="0" anchor="ctr"/>
            <a:lstStyle/>
            <a:p>
              <a:pPr marL="0" indent="0">
                <a:buNone/>
              </a:pPr>
              <a:r>
                <a:rPr lang="en-US" sz="900" b="1" dirty="0">
                  <a:solidFill>
                    <a:srgbClr val="FF9944"/>
                  </a:solidFill>
                  <a:latin typeface="Calibri" pitchFamily="34" charset="0"/>
                  <a:ea typeface="Calibri" pitchFamily="34" charset="-122"/>
                  <a:cs typeface="Calibri" pitchFamily="34" charset="-120"/>
                </a:rPr>
                <a:t>4-gram diversity: 0.055 on COCO</a:t>
              </a:r>
              <a:endParaRPr lang="en-US" sz="900" dirty="0"/>
            </a:p>
          </p:txBody>
        </p:sp>
        <p:sp>
          <p:nvSpPr>
            <p:cNvPr id="14" name="Text 10"/>
            <p:cNvSpPr/>
            <p:nvPr/>
          </p:nvSpPr>
          <p:spPr>
            <a:xfrm>
              <a:off x="5367528" y="1604772"/>
              <a:ext cx="3410712" cy="749808"/>
            </a:xfrm>
            <a:prstGeom prst="rect">
              <a:avLst/>
            </a:prstGeom>
            <a:noFill/>
            <a:ln/>
          </p:spPr>
          <p:txBody>
            <a:bodyPr wrap="square" rtlCol="0" anchor="ctr"/>
            <a:lstStyle/>
            <a:p>
              <a:pPr marL="0" indent="0">
                <a:lnSpc>
                  <a:spcPct val="120000"/>
                </a:lnSpc>
                <a:buNone/>
              </a:pPr>
              <a:r>
                <a:rPr lang="en-US" sz="800" dirty="0">
                  <a:solidFill>
                    <a:srgbClr val="A0C0D0"/>
                  </a:solidFill>
                  <a:latin typeface="Calibri" pitchFamily="34" charset="0"/>
                  <a:ea typeface="Calibri" pitchFamily="34" charset="-122"/>
                  <a:cs typeface="Calibri" pitchFamily="34" charset="-120"/>
                </a:rPr>
                <a:t>Fewer than 6% of all 4-grams across generated captions were unique. This is template-based degenerate generation — captions collapse to near-identical syntactic patterns, destroying the semantic diversity required for meaningful dataset classification probing.</a:t>
              </a:r>
              <a:endParaRPr lang="en-US" sz="800" dirty="0"/>
            </a:p>
          </p:txBody>
        </p:sp>
        <p:sp>
          <p:nvSpPr>
            <p:cNvPr id="15" name="Text 11"/>
            <p:cNvSpPr/>
            <p:nvPr/>
          </p:nvSpPr>
          <p:spPr>
            <a:xfrm>
              <a:off x="5367528" y="2372868"/>
              <a:ext cx="3410712" cy="201168"/>
            </a:xfrm>
            <a:prstGeom prst="rect">
              <a:avLst/>
            </a:prstGeom>
            <a:noFill/>
            <a:ln/>
          </p:spPr>
          <p:txBody>
            <a:bodyPr wrap="square" rtlCol="0" anchor="ctr"/>
            <a:lstStyle/>
            <a:p>
              <a:pPr marL="0" indent="0">
                <a:buNone/>
              </a:pPr>
              <a:r>
                <a:rPr lang="en-US" sz="850" b="1" dirty="0">
                  <a:solidFill>
                    <a:srgbClr val="C9A84C"/>
                  </a:solidFill>
                  <a:latin typeface="Calibri" pitchFamily="34" charset="0"/>
                  <a:ea typeface="Calibri" pitchFamily="34" charset="-122"/>
                  <a:cs typeface="Calibri" pitchFamily="34" charset="-120"/>
                </a:rPr>
                <a:t>Decision: BLIP Large</a:t>
              </a:r>
              <a:endParaRPr lang="en-US" sz="850" dirty="0"/>
            </a:p>
          </p:txBody>
        </p:sp>
        <p:sp>
          <p:nvSpPr>
            <p:cNvPr id="16" name="Text 12"/>
            <p:cNvSpPr/>
            <p:nvPr/>
          </p:nvSpPr>
          <p:spPr>
            <a:xfrm>
              <a:off x="5367528" y="2555748"/>
              <a:ext cx="3410712" cy="182880"/>
            </a:xfrm>
            <a:prstGeom prst="rect">
              <a:avLst/>
            </a:prstGeom>
            <a:noFill/>
            <a:ln/>
          </p:spPr>
          <p:txBody>
            <a:bodyPr wrap="square" rtlCol="0" anchor="ctr"/>
            <a:lstStyle/>
            <a:p>
              <a:pPr marL="0" indent="0">
                <a:buNone/>
              </a:pPr>
              <a:r>
                <a:rPr lang="en-US" sz="800" dirty="0">
                  <a:solidFill>
                    <a:srgbClr val="A0C0D0"/>
                  </a:solidFill>
                  <a:latin typeface="Calibri" pitchFamily="34" charset="0"/>
                  <a:ea typeface="Calibri" pitchFamily="34" charset="-122"/>
                  <a:cs typeface="Calibri" pitchFamily="34" charset="-120"/>
                </a:rPr>
                <a:t>Highest RefCLIP-S on both benchmarks. No template collapse.</a:t>
              </a:r>
              <a:endParaRPr lang="en-US" sz="800" dirty="0"/>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4">
    <p:bg>
      <p:bgPr>
        <a:solidFill>
          <a:srgbClr val="F7F4EE"/>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2A1A5E"/>
          </a:solidFill>
          <a:ln w="12700">
            <a:solidFill>
              <a:srgbClr val="2A1A5E"/>
            </a:solidFill>
            <a:prstDash val="solid"/>
          </a:ln>
        </p:spPr>
        <p:txBody>
          <a:bodyPr/>
          <a:lstStyle/>
          <a:p>
            <a:endParaRPr lang="en-MT"/>
          </a:p>
        </p:txBody>
      </p:sp>
      <p:sp>
        <p:nvSpPr>
          <p:cNvPr id="3" name="Shape 1"/>
          <p:cNvSpPr/>
          <p:nvPr/>
        </p:nvSpPr>
        <p:spPr>
          <a:xfrm>
            <a:off x="7132320" y="128016"/>
            <a:ext cx="1737360" cy="457200"/>
          </a:xfrm>
          <a:prstGeom prst="rect">
            <a:avLst/>
          </a:prstGeom>
          <a:solidFill>
            <a:srgbClr val="C9A84C"/>
          </a:solidFill>
          <a:ln w="12700">
            <a:solidFill>
              <a:srgbClr val="C9A84C"/>
            </a:solidFill>
            <a:prstDash val="solid"/>
          </a:ln>
        </p:spPr>
        <p:txBody>
          <a:bodyPr/>
          <a:lstStyle/>
          <a:p>
            <a:endParaRPr lang="en-MT"/>
          </a:p>
        </p:txBody>
      </p:sp>
      <p:sp>
        <p:nvSpPr>
          <p:cNvPr id="4" name="Text 2"/>
          <p:cNvSpPr/>
          <p:nvPr/>
        </p:nvSpPr>
        <p:spPr>
          <a:xfrm>
            <a:off x="7132320" y="128016"/>
            <a:ext cx="1737360" cy="457200"/>
          </a:xfrm>
          <a:prstGeom prst="rect">
            <a:avLst/>
          </a:prstGeom>
          <a:noFill/>
          <a:ln/>
        </p:spPr>
        <p:txBody>
          <a:bodyPr wrap="square" rtlCol="0" anchor="ctr"/>
          <a:lstStyle/>
          <a:p>
            <a:pPr marL="0" indent="0" algn="ctr">
              <a:buNone/>
            </a:pPr>
            <a:r>
              <a:rPr lang="en-US" sz="750" b="1" kern="0" spc="50" dirty="0">
                <a:solidFill>
                  <a:srgbClr val="1B3A5C"/>
                </a:solidFill>
                <a:latin typeface="Calibri" pitchFamily="34" charset="0"/>
                <a:ea typeface="Calibri" pitchFamily="34" charset="-122"/>
                <a:cs typeface="Calibri" pitchFamily="34" charset="-120"/>
              </a:rPr>
              <a:t>SUPPLEMENTARY</a:t>
            </a:r>
            <a:endParaRPr lang="en-US" sz="750" dirty="0"/>
          </a:p>
        </p:txBody>
      </p:sp>
      <p:sp>
        <p:nvSpPr>
          <p:cNvPr id="5" name="Text 3"/>
          <p:cNvSpPr/>
          <p:nvPr/>
        </p:nvSpPr>
        <p:spPr>
          <a:xfrm>
            <a:off x="411480" y="0"/>
            <a:ext cx="6583680" cy="713232"/>
          </a:xfrm>
          <a:prstGeom prst="rect">
            <a:avLst/>
          </a:prstGeom>
          <a:noFill/>
          <a:ln/>
        </p:spPr>
        <p:txBody>
          <a:bodyPr wrap="square"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MODEL SELECTION EVIDENCE  ·  POSE ESTIMATION</a:t>
            </a:r>
            <a:endParaRPr lang="en-US" sz="1400" dirty="0"/>
          </a:p>
        </p:txBody>
      </p:sp>
      <p:sp>
        <p:nvSpPr>
          <p:cNvPr id="6" name="Text 4"/>
          <p:cNvSpPr/>
          <p:nvPr/>
        </p:nvSpPr>
        <p:spPr>
          <a:xfrm>
            <a:off x="274320" y="822960"/>
            <a:ext cx="8595360" cy="237744"/>
          </a:xfrm>
          <a:prstGeom prst="rect">
            <a:avLst/>
          </a:prstGeom>
          <a:noFill/>
          <a:ln/>
        </p:spPr>
        <p:txBody>
          <a:bodyPr wrap="square" rtlCol="0" anchor="ctr"/>
          <a:lstStyle/>
          <a:p>
            <a:pPr marL="0" indent="0">
              <a:buNone/>
            </a:pPr>
            <a:r>
              <a:rPr lang="en-US" sz="950" b="1" dirty="0">
                <a:solidFill>
                  <a:srgbClr val="2A1A5E"/>
                </a:solidFill>
                <a:latin typeface="Calibri" pitchFamily="34" charset="0"/>
                <a:ea typeface="Calibri" pitchFamily="34" charset="-122"/>
                <a:cs typeface="Calibri" pitchFamily="34" charset="-120"/>
              </a:rPr>
              <a:t>Pose Estimation — COCO 2017 Validation Set  (Table 3.15)  ·  Standard mode uses integrated detector  ·  FPS = end-to-end on single GPU</a:t>
            </a:r>
            <a:endParaRPr lang="en-US" sz="9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274320" y="1097280"/>
          <a:ext cx="8595360" cy="2468880"/>
        </p:xfrm>
        <a:graphic>
          <a:graphicData uri="http://schemas.openxmlformats.org/drawingml/2006/table">
            <a:tbl>
              <a:tblPr/>
              <a:tblGrid>
                <a:gridCol w="1874520">
                  <a:extLst>
                    <a:ext uri="{9D8B030D-6E8A-4147-A177-3AD203B41FA5}">
                      <a16:colId xmlns:a16="http://schemas.microsoft.com/office/drawing/2014/main" val="20000"/>
                    </a:ext>
                  </a:extLst>
                </a:gridCol>
                <a:gridCol w="50292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548640">
                  <a:extLst>
                    <a:ext uri="{9D8B030D-6E8A-4147-A177-3AD203B41FA5}">
                      <a16:colId xmlns:a16="http://schemas.microsoft.com/office/drawing/2014/main" val="20003"/>
                    </a:ext>
                  </a:extLst>
                </a:gridCol>
                <a:gridCol w="502920">
                  <a:extLst>
                    <a:ext uri="{9D8B030D-6E8A-4147-A177-3AD203B41FA5}">
                      <a16:colId xmlns:a16="http://schemas.microsoft.com/office/drawing/2014/main" val="20004"/>
                    </a:ext>
                  </a:extLst>
                </a:gridCol>
                <a:gridCol w="548640">
                  <a:extLst>
                    <a:ext uri="{9D8B030D-6E8A-4147-A177-3AD203B41FA5}">
                      <a16:colId xmlns:a16="http://schemas.microsoft.com/office/drawing/2014/main" val="20005"/>
                    </a:ext>
                  </a:extLst>
                </a:gridCol>
                <a:gridCol w="4069080">
                  <a:extLst>
                    <a:ext uri="{9D8B030D-6E8A-4147-A177-3AD203B41FA5}">
                      <a16:colId xmlns:a16="http://schemas.microsoft.com/office/drawing/2014/main" val="20006"/>
                    </a:ext>
                  </a:extLst>
                </a:gridCol>
              </a:tblGrid>
              <a:tr h="274320">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Model</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AP</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AP50</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AP75</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AR</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FPS</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Notes</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extLst>
                  <a:ext uri="{0D108BD9-81ED-4DB2-BD59-A6C34878D82A}">
                    <a16:rowId xmlns:a16="http://schemas.microsoft.com/office/drawing/2014/main" val="10000"/>
                  </a:ext>
                </a:extLst>
              </a:tr>
              <a:tr h="274320">
                <a:tc>
                  <a:txBody>
                    <a:bodyPr/>
                    <a:lstStyle/>
                    <a:p>
                      <a:pPr marL="0" indent="0" algn="l">
                        <a:buNone/>
                      </a:pPr>
                      <a:r>
                        <a:rPr lang="en-US" sz="900" b="1" dirty="0">
                          <a:solidFill>
                            <a:srgbClr val="0D8A5E"/>
                          </a:solidFill>
                          <a:latin typeface="Calibri" pitchFamily="34" charset="0"/>
                          <a:ea typeface="Calibri" pitchFamily="34" charset="-122"/>
                          <a:cs typeface="Calibri" pitchFamily="34" charset="-120"/>
                        </a:rPr>
                        <a:t>YOLOv8l-Pose ★</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0.659</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0.871</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0.735</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0.717</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39.7</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l">
                        <a:buNone/>
                      </a:pPr>
                      <a:r>
                        <a:rPr lang="en-US" sz="900" b="1" dirty="0">
                          <a:solidFill>
                            <a:srgbClr val="0D8A5E"/>
                          </a:solidFill>
                          <a:latin typeface="Calibri" pitchFamily="34" charset="0"/>
                          <a:ea typeface="Calibri" pitchFamily="34" charset="-122"/>
                          <a:cs typeface="Calibri" pitchFamily="34" charset="-120"/>
                        </a:rPr>
                        <a:t>Integrated detector — no extra overhead</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extLst>
                  <a:ext uri="{0D108BD9-81ED-4DB2-BD59-A6C34878D82A}">
                    <a16:rowId xmlns:a16="http://schemas.microsoft.com/office/drawing/2014/main" val="10001"/>
                  </a:ext>
                </a:extLst>
              </a:tr>
              <a:tr h="274320">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YOLOv8x-Pose</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0.674</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0.871</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0.747</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0.730</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27.9</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+0.015 AP vs l — not worth 30% FPS reduction</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YOLOv8m-Pose</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0.633</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0.860</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0.704</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0.691</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33.0</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Integrated detector</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extLst>
                  <a:ext uri="{0D108BD9-81ED-4DB2-BD59-A6C34878D82A}">
                    <a16:rowId xmlns:a16="http://schemas.microsoft.com/office/drawing/2014/main" val="10003"/>
                  </a:ext>
                </a:extLst>
              </a:tr>
              <a:tr h="274320">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YOLOv8s-Pose</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0.581</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0.830</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0.642</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0.638</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37.1</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Integrated detector</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74320">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HRNet-W32</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0.714</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0.879</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0.789</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0.769</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B84A0A"/>
                          </a:solidFill>
                          <a:latin typeface="Calibri" pitchFamily="34" charset="0"/>
                          <a:ea typeface="Calibri" pitchFamily="34" charset="-122"/>
                          <a:cs typeface="Calibri" pitchFamily="34" charset="-120"/>
                        </a:rPr>
                        <a:t>8.7</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F0E0"/>
                    </a:solidFill>
                  </a:tcPr>
                </a:tc>
                <a:tc>
                  <a:txBody>
                    <a:bodyPr/>
                    <a:lstStyle/>
                    <a:p>
                      <a:pPr marL="0" indent="0" algn="l">
                        <a:buNone/>
                      </a:pPr>
                      <a:r>
                        <a:rPr lang="en-US" sz="900" i="1" dirty="0">
                          <a:solidFill>
                            <a:srgbClr val="4A6274"/>
                          </a:solidFill>
                          <a:latin typeface="Calibri" pitchFamily="34" charset="0"/>
                          <a:ea typeface="Calibri" pitchFamily="34" charset="-122"/>
                          <a:cs typeface="Calibri" pitchFamily="34" charset="-120"/>
                        </a:rPr>
                        <a:t>Requires external person detector</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extLst>
                  <a:ext uri="{0D108BD9-81ED-4DB2-BD59-A6C34878D82A}">
                    <a16:rowId xmlns:a16="http://schemas.microsoft.com/office/drawing/2014/main" val="10005"/>
                  </a:ext>
                </a:extLst>
              </a:tr>
              <a:tr h="274320">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HRNet-W48</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0.723</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0.880</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0.793</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0.778</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AA2200"/>
                          </a:solidFill>
                          <a:latin typeface="Calibri" pitchFamily="34" charset="0"/>
                          <a:ea typeface="Calibri" pitchFamily="34" charset="-122"/>
                          <a:cs typeface="Calibri" pitchFamily="34" charset="-120"/>
                        </a:rPr>
                        <a:t>7.9</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E0D0"/>
                    </a:solidFill>
                  </a:tcPr>
                </a:tc>
                <a:tc>
                  <a:txBody>
                    <a:bodyPr/>
                    <a:lstStyle/>
                    <a:p>
                      <a:pPr marL="0" indent="0" algn="l">
                        <a:buNone/>
                      </a:pPr>
                      <a:r>
                        <a:rPr lang="en-US" sz="900" i="1" dirty="0">
                          <a:solidFill>
                            <a:srgbClr val="AA2200"/>
                          </a:solidFill>
                          <a:latin typeface="Calibri" pitchFamily="34" charset="0"/>
                          <a:ea typeface="Calibri" pitchFamily="34" charset="-122"/>
                          <a:cs typeface="Calibri" pitchFamily="34" charset="-120"/>
                        </a:rPr>
                        <a:t>Excluded: &lt;9 FPS prohibitive at corpus scale</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74320">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MoveNet-Thunder</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0.548</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0.779</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0.594</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0.584</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4.1</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l">
                        <a:buNone/>
                      </a:pPr>
                      <a:r>
                        <a:rPr lang="en-US" sz="900" i="1" dirty="0">
                          <a:solidFill>
                            <a:srgbClr val="4A6274"/>
                          </a:solidFill>
                          <a:latin typeface="Calibri" pitchFamily="34" charset="0"/>
                          <a:ea typeface="Calibri" pitchFamily="34" charset="-122"/>
                          <a:cs typeface="Calibri" pitchFamily="34" charset="-120"/>
                        </a:rPr>
                        <a:t>Oracle mode only — standard AP 0.419</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extLst>
                  <a:ext uri="{0D108BD9-81ED-4DB2-BD59-A6C34878D82A}">
                    <a16:rowId xmlns:a16="http://schemas.microsoft.com/office/drawing/2014/main" val="10007"/>
                  </a:ext>
                </a:extLst>
              </a:tr>
              <a:tr h="274320">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MediaPipe-C2</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AA2200"/>
                          </a:solidFill>
                          <a:latin typeface="Calibri" pitchFamily="34" charset="0"/>
                          <a:ea typeface="Calibri" pitchFamily="34" charset="-122"/>
                          <a:cs typeface="Calibri" pitchFamily="34" charset="-120"/>
                        </a:rPr>
                        <a:t>0.243</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E0D0"/>
                    </a:solidFill>
                  </a:tcPr>
                </a:tc>
                <a:tc>
                  <a:txBody>
                    <a:bodyPr/>
                    <a:lstStyle/>
                    <a:p>
                      <a:pPr marL="0" indent="0" algn="ctr">
                        <a:buNone/>
                      </a:pPr>
                      <a:r>
                        <a:rPr lang="en-US" sz="900" b="1" dirty="0">
                          <a:solidFill>
                            <a:srgbClr val="AA2200"/>
                          </a:solidFill>
                          <a:latin typeface="Calibri" pitchFamily="34" charset="0"/>
                          <a:ea typeface="Calibri" pitchFamily="34" charset="-122"/>
                          <a:cs typeface="Calibri" pitchFamily="34" charset="-120"/>
                        </a:rPr>
                        <a:t>0.405</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E0D0"/>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0.255</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0.333</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3.6</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900" i="1" dirty="0">
                          <a:solidFill>
                            <a:srgbClr val="AA2200"/>
                          </a:solidFill>
                          <a:latin typeface="Calibri" pitchFamily="34" charset="0"/>
                          <a:ea typeface="Calibri" pitchFamily="34" charset="-122"/>
                          <a:cs typeface="Calibri" pitchFamily="34" charset="-120"/>
                        </a:rPr>
                        <a:t>Excluded on accuracy</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a:extLst>
            <a:ext uri="{FF2B5EF4-FFF2-40B4-BE49-F238E27FC236}">
              <a16:creationId xmlns:a16="http://schemas.microsoft.com/office/drawing/2014/main" id="{428BF40A-5EA2-6298-9A54-68B2D65A789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3767BB9-95D1-4AAA-0327-3F69EC5449CE}"/>
              </a:ext>
            </a:extLst>
          </p:cNvPr>
          <p:cNvSpPr/>
          <p:nvPr/>
        </p:nvSpPr>
        <p:spPr>
          <a:xfrm>
            <a:off x="0" y="0"/>
            <a:ext cx="9144000" cy="713232"/>
          </a:xfrm>
          <a:prstGeom prst="rect">
            <a:avLst/>
          </a:prstGeom>
          <a:solidFill>
            <a:srgbClr val="2A1A5E"/>
          </a:solidFill>
          <a:ln w="12700">
            <a:solidFill>
              <a:srgbClr val="2A1A5E"/>
            </a:solidFill>
            <a:prstDash val="solid"/>
          </a:ln>
        </p:spPr>
        <p:txBody>
          <a:bodyPr/>
          <a:lstStyle/>
          <a:p>
            <a:endParaRPr lang="en-MT"/>
          </a:p>
        </p:txBody>
      </p:sp>
      <p:sp>
        <p:nvSpPr>
          <p:cNvPr id="3" name="Shape 1">
            <a:extLst>
              <a:ext uri="{FF2B5EF4-FFF2-40B4-BE49-F238E27FC236}">
                <a16:creationId xmlns:a16="http://schemas.microsoft.com/office/drawing/2014/main" id="{5A2281CC-6E54-0C19-5E62-F0D2B78FE1C2}"/>
              </a:ext>
            </a:extLst>
          </p:cNvPr>
          <p:cNvSpPr/>
          <p:nvPr/>
        </p:nvSpPr>
        <p:spPr>
          <a:xfrm>
            <a:off x="7132320" y="128016"/>
            <a:ext cx="1737360" cy="457200"/>
          </a:xfrm>
          <a:prstGeom prst="rect">
            <a:avLst/>
          </a:prstGeom>
          <a:solidFill>
            <a:srgbClr val="C9A84C"/>
          </a:solidFill>
          <a:ln w="12700">
            <a:solidFill>
              <a:srgbClr val="C9A84C"/>
            </a:solidFill>
            <a:prstDash val="solid"/>
          </a:ln>
        </p:spPr>
        <p:txBody>
          <a:bodyPr/>
          <a:lstStyle/>
          <a:p>
            <a:endParaRPr lang="en-MT"/>
          </a:p>
        </p:txBody>
      </p:sp>
      <p:sp>
        <p:nvSpPr>
          <p:cNvPr id="4" name="Text 2">
            <a:extLst>
              <a:ext uri="{FF2B5EF4-FFF2-40B4-BE49-F238E27FC236}">
                <a16:creationId xmlns:a16="http://schemas.microsoft.com/office/drawing/2014/main" id="{C6A55ACB-82F4-D651-2243-206B3AE248B9}"/>
              </a:ext>
            </a:extLst>
          </p:cNvPr>
          <p:cNvSpPr/>
          <p:nvPr/>
        </p:nvSpPr>
        <p:spPr>
          <a:xfrm>
            <a:off x="7132320" y="128016"/>
            <a:ext cx="1737360" cy="457200"/>
          </a:xfrm>
          <a:prstGeom prst="rect">
            <a:avLst/>
          </a:prstGeom>
          <a:noFill/>
          <a:ln/>
        </p:spPr>
        <p:txBody>
          <a:bodyPr wrap="square" rtlCol="0" anchor="ctr"/>
          <a:lstStyle/>
          <a:p>
            <a:pPr marL="0" indent="0" algn="ctr">
              <a:buNone/>
            </a:pPr>
            <a:r>
              <a:rPr lang="en-US" sz="750" b="1" kern="0" spc="50" dirty="0">
                <a:solidFill>
                  <a:srgbClr val="1B3A5C"/>
                </a:solidFill>
                <a:latin typeface="Calibri" pitchFamily="34" charset="0"/>
                <a:ea typeface="Calibri" pitchFamily="34" charset="-122"/>
                <a:cs typeface="Calibri" pitchFamily="34" charset="-120"/>
              </a:rPr>
              <a:t>SUPPLEMENTARY</a:t>
            </a:r>
            <a:endParaRPr lang="en-US" sz="750" dirty="0"/>
          </a:p>
        </p:txBody>
      </p:sp>
      <p:sp>
        <p:nvSpPr>
          <p:cNvPr id="5" name="Text 3">
            <a:extLst>
              <a:ext uri="{FF2B5EF4-FFF2-40B4-BE49-F238E27FC236}">
                <a16:creationId xmlns:a16="http://schemas.microsoft.com/office/drawing/2014/main" id="{1F61B3AF-BEF0-7025-C69A-28C7737B884E}"/>
              </a:ext>
            </a:extLst>
          </p:cNvPr>
          <p:cNvSpPr/>
          <p:nvPr/>
        </p:nvSpPr>
        <p:spPr>
          <a:xfrm>
            <a:off x="411480" y="0"/>
            <a:ext cx="6583680" cy="713232"/>
          </a:xfrm>
          <a:prstGeom prst="rect">
            <a:avLst/>
          </a:prstGeom>
          <a:noFill/>
          <a:ln/>
        </p:spPr>
        <p:txBody>
          <a:bodyPr wrap="square"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MODEL SELECTION EVIDENCE  ·  SEGMENTATION</a:t>
            </a:r>
            <a:endParaRPr lang="en-US" sz="1400" dirty="0"/>
          </a:p>
        </p:txBody>
      </p:sp>
      <p:sp>
        <p:nvSpPr>
          <p:cNvPr id="9" name="Text 6">
            <a:extLst>
              <a:ext uri="{FF2B5EF4-FFF2-40B4-BE49-F238E27FC236}">
                <a16:creationId xmlns:a16="http://schemas.microsoft.com/office/drawing/2014/main" id="{08E9EA40-7843-ACB5-A445-95902244B274}"/>
              </a:ext>
            </a:extLst>
          </p:cNvPr>
          <p:cNvSpPr/>
          <p:nvPr/>
        </p:nvSpPr>
        <p:spPr>
          <a:xfrm>
            <a:off x="274320" y="822960"/>
            <a:ext cx="8595360" cy="237744"/>
          </a:xfrm>
          <a:prstGeom prst="rect">
            <a:avLst/>
          </a:prstGeom>
          <a:noFill/>
          <a:ln/>
        </p:spPr>
        <p:txBody>
          <a:bodyPr wrap="square" rtlCol="0" anchor="ctr"/>
          <a:lstStyle/>
          <a:p>
            <a:pPr marL="0" indent="0">
              <a:buNone/>
            </a:pPr>
            <a:r>
              <a:rPr lang="en-US" sz="950" b="1" dirty="0">
                <a:solidFill>
                  <a:srgbClr val="2A1A5E"/>
                </a:solidFill>
                <a:latin typeface="Calibri" pitchFamily="34" charset="0"/>
                <a:ea typeface="Calibri" pitchFamily="34" charset="-122"/>
                <a:cs typeface="Calibri" pitchFamily="34" charset="-120"/>
              </a:rPr>
              <a:t>Segmentation / Occlusion — COCO 2017 Validation Set, single-person images  (Table 3.16)</a:t>
            </a:r>
            <a:endParaRPr lang="en-US" sz="950" dirty="0"/>
          </a:p>
        </p:txBody>
      </p:sp>
      <p:graphicFrame>
        <p:nvGraphicFramePr>
          <p:cNvPr id="49" name="Table 1">
            <a:extLst>
              <a:ext uri="{FF2B5EF4-FFF2-40B4-BE49-F238E27FC236}">
                <a16:creationId xmlns:a16="http://schemas.microsoft.com/office/drawing/2014/main" id="{CFBE6A67-0DCF-98CE-86AB-8385B4FD323D}"/>
              </a:ext>
            </a:extLst>
          </p:cNvPr>
          <p:cNvGraphicFramePr>
            <a:graphicFrameLocks noGrp="1"/>
          </p:cNvGraphicFramePr>
          <p:nvPr>
            <p:extLst>
              <p:ext uri="{D42A27DB-BD31-4B8C-83A1-F6EECF244321}">
                <p14:modId xmlns:p14="http://schemas.microsoft.com/office/powerpoint/2010/main" val="3462657079"/>
              </p:ext>
            </p:extLst>
          </p:nvPr>
        </p:nvGraphicFramePr>
        <p:xfrm>
          <a:off x="274320" y="1088136"/>
          <a:ext cx="8595360" cy="1645920"/>
        </p:xfrm>
        <a:graphic>
          <a:graphicData uri="http://schemas.openxmlformats.org/drawingml/2006/table">
            <a:tbl>
              <a:tblPr/>
              <a:tblGrid>
                <a:gridCol w="210312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77724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gridCol w="3566160">
                  <a:extLst>
                    <a:ext uri="{9D8B030D-6E8A-4147-A177-3AD203B41FA5}">
                      <a16:colId xmlns:a16="http://schemas.microsoft.com/office/drawing/2014/main" val="20005"/>
                    </a:ext>
                  </a:extLst>
                </a:gridCol>
              </a:tblGrid>
              <a:tr h="274320">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Model</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Det. Rate</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IoU</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Precision</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Throughput</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Notes</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1A5E"/>
                    </a:solidFill>
                  </a:tcPr>
                </a:tc>
                <a:extLst>
                  <a:ext uri="{0D108BD9-81ED-4DB2-BD59-A6C34878D82A}">
                    <a16:rowId xmlns:a16="http://schemas.microsoft.com/office/drawing/2014/main" val="10000"/>
                  </a:ext>
                </a:extLst>
              </a:tr>
              <a:tr h="274320">
                <a:tc>
                  <a:txBody>
                    <a:bodyPr/>
                    <a:lstStyle/>
                    <a:p>
                      <a:pPr marL="0" indent="0" algn="l">
                        <a:buNone/>
                      </a:pPr>
                      <a:r>
                        <a:rPr lang="en-US" sz="900" b="1" dirty="0">
                          <a:solidFill>
                            <a:srgbClr val="0D8A5E"/>
                          </a:solidFill>
                          <a:latin typeface="Calibri" pitchFamily="34" charset="0"/>
                          <a:ea typeface="Calibri" pitchFamily="34" charset="-122"/>
                          <a:cs typeface="Calibri" pitchFamily="34" charset="-120"/>
                        </a:rPr>
                        <a:t>Mask2Former COCO ★</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0.965</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0.829</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0.899</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1.28 it/s</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l">
                        <a:buNone/>
                      </a:pPr>
                      <a:r>
                        <a:rPr lang="en-US" sz="900" b="1" dirty="0">
                          <a:solidFill>
                            <a:srgbClr val="0D8A5E"/>
                          </a:solidFill>
                          <a:latin typeface="Calibri" pitchFamily="34" charset="0"/>
                          <a:ea typeface="Calibri" pitchFamily="34" charset="-122"/>
                          <a:cs typeface="Calibri" pitchFamily="34" charset="-120"/>
                        </a:rPr>
                        <a:t>Best detection rate + IoU combination</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extLst>
                  <a:ext uri="{0D108BD9-81ED-4DB2-BD59-A6C34878D82A}">
                    <a16:rowId xmlns:a16="http://schemas.microsoft.com/office/drawing/2014/main" val="10001"/>
                  </a:ext>
                </a:extLst>
              </a:tr>
              <a:tr h="274320">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Mask R-CNN</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0.941</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0.813</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1.63 it/s</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Lower IoU</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Mask2Former ADE20K</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0.946</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0.785</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1.86 it/s</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l">
                        <a:buNone/>
                      </a:pPr>
                      <a:r>
                        <a:rPr lang="en-US" sz="900" i="1" dirty="0">
                          <a:solidFill>
                            <a:srgbClr val="AA2200"/>
                          </a:solidFill>
                          <a:latin typeface="Calibri" pitchFamily="34" charset="0"/>
                          <a:ea typeface="Calibri" pitchFamily="34" charset="-122"/>
                          <a:cs typeface="Calibri" pitchFamily="34" charset="-120"/>
                        </a:rPr>
                        <a:t>Semantic only — conflates all person pixels in multi-person images</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extLst>
                  <a:ext uri="{0D108BD9-81ED-4DB2-BD59-A6C34878D82A}">
                    <a16:rowId xmlns:a16="http://schemas.microsoft.com/office/drawing/2014/main" val="10003"/>
                  </a:ext>
                </a:extLst>
              </a:tr>
              <a:tr h="274320">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Lang-SAM</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0.891</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0D8A5E"/>
                          </a:solidFill>
                          <a:latin typeface="Calibri" pitchFamily="34" charset="0"/>
                          <a:ea typeface="Calibri" pitchFamily="34" charset="-122"/>
                          <a:cs typeface="Calibri" pitchFamily="34" charset="-120"/>
                        </a:rPr>
                        <a:t>0.846</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7F0"/>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0.931</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B84A0A"/>
                          </a:solidFill>
                          <a:latin typeface="Calibri" pitchFamily="34" charset="0"/>
                          <a:ea typeface="Calibri" pitchFamily="34" charset="-122"/>
                          <a:cs typeface="Calibri" pitchFamily="34" charset="-120"/>
                        </a:rPr>
                        <a:t>0.35 it/s</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F0E0"/>
                    </a:solidFill>
                  </a:tcPr>
                </a:tc>
                <a:tc>
                  <a:txBody>
                    <a:bodyPr/>
                    <a:lstStyle/>
                    <a:p>
                      <a:pPr marL="0" indent="0" algn="l">
                        <a:buNone/>
                      </a:pPr>
                      <a:r>
                        <a:rPr lang="en-US" sz="900" i="1" dirty="0">
                          <a:solidFill>
                            <a:srgbClr val="4A6274"/>
                          </a:solidFill>
                          <a:latin typeface="Calibri" pitchFamily="34" charset="0"/>
                          <a:ea typeface="Calibri" pitchFamily="34" charset="-122"/>
                          <a:cs typeface="Calibri" pitchFamily="34" charset="-120"/>
                        </a:rPr>
                        <a:t>Highest IoU (0.846) but 3.7× slower — impractical at scale</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74320">
                <a:tc>
                  <a:txBody>
                    <a:bodyPr/>
                    <a:lstStyle/>
                    <a:p>
                      <a:pPr marL="0" indent="0" algn="l">
                        <a:buNone/>
                      </a:pPr>
                      <a:r>
                        <a:rPr lang="en-US" sz="900" dirty="0">
                          <a:solidFill>
                            <a:srgbClr val="1C2B3A"/>
                          </a:solidFill>
                          <a:latin typeface="Calibri" pitchFamily="34" charset="0"/>
                          <a:ea typeface="Calibri" pitchFamily="34" charset="-122"/>
                          <a:cs typeface="Calibri" pitchFamily="34" charset="-120"/>
                        </a:rPr>
                        <a:t>YOLACT</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B84A0A"/>
                          </a:solidFill>
                          <a:latin typeface="Calibri" pitchFamily="34" charset="0"/>
                          <a:ea typeface="Calibri" pitchFamily="34" charset="-122"/>
                          <a:cs typeface="Calibri" pitchFamily="34" charset="-120"/>
                        </a:rPr>
                        <a:t>0.795</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EF0E0"/>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0.789</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ctr">
                        <a:buNone/>
                      </a:pPr>
                      <a:r>
                        <a:rPr lang="en-US" sz="900" dirty="0">
                          <a:solidFill>
                            <a:srgbClr val="1C2B3A"/>
                          </a:solidFill>
                          <a:latin typeface="Calibri" pitchFamily="34" charset="0"/>
                          <a:ea typeface="Calibri" pitchFamily="34" charset="-122"/>
                          <a:cs typeface="Calibri" pitchFamily="34" charset="-120"/>
                        </a:rPr>
                        <a:t>3.00 it/s</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tc>
                  <a:txBody>
                    <a:bodyPr/>
                    <a:lstStyle/>
                    <a:p>
                      <a:pPr marL="0" indent="0" algn="l">
                        <a:buNone/>
                      </a:pPr>
                      <a:r>
                        <a:rPr lang="en-US" sz="900" i="1" dirty="0">
                          <a:solidFill>
                            <a:srgbClr val="AA2200"/>
                          </a:solidFill>
                          <a:latin typeface="Calibri" pitchFamily="34" charset="0"/>
                          <a:ea typeface="Calibri" pitchFamily="34" charset="-122"/>
                          <a:cs typeface="Calibri" pitchFamily="34" charset="-120"/>
                        </a:rPr>
                        <a:t>~1 in 5 persons missed — unacceptable for occlusion protocol</a:t>
                      </a:r>
                      <a:endParaRPr lang="en-US" sz="900" dirty="0">
                        <a:latin typeface="Calibri" charset="0"/>
                        <a:ea typeface="Calibri" charset="0"/>
                        <a:cs typeface="Calibri" charset="0"/>
                      </a:endParaRPr>
                    </a:p>
                  </a:txBody>
                  <a:tcPr marL="76200" marR="762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2EC"/>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8304580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616</TotalTime>
  <Words>6780</Words>
  <Application>Microsoft Office PowerPoint</Application>
  <PresentationFormat>On-screen Show (16:9)</PresentationFormat>
  <Paragraphs>1323</Paragraphs>
  <Slides>35</Slides>
  <Notes>29</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Evaluating the Quality of Re-LAION-5B</dc:title>
  <dc:subject>PptxGenJS Presentation</dc:subject>
  <dc:creator>Jerome Agius</dc:creator>
  <cp:lastModifiedBy>Jerome Agius</cp:lastModifiedBy>
  <cp:revision>44</cp:revision>
  <dcterms:created xsi:type="dcterms:W3CDTF">2026-04-11T07:52:15Z</dcterms:created>
  <dcterms:modified xsi:type="dcterms:W3CDTF">2026-04-25T11:45:29Z</dcterms:modified>
</cp:coreProperties>
</file>